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Doğruluk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57-441E-8444-51A779372FC3}"/>
              </c:ext>
            </c:extLst>
          </c:dPt>
          <c:dPt>
            <c:idx val="1"/>
            <c:invertIfNegative val="0"/>
            <c:bubble3D val="0"/>
            <c:spPr>
              <a:solidFill>
                <a:srgbClr val="6B7A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57-441E-8444-51A779372FC3}"/>
              </c:ext>
            </c:extLst>
          </c:dPt>
          <c:dPt>
            <c:idx val="2"/>
            <c:invertIfNegative val="0"/>
            <c:bubble3D val="0"/>
            <c:spPr>
              <a:solidFill>
                <a:srgbClr val="1255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57-441E-8444-51A779372FC3}"/>
              </c:ext>
            </c:extLst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57-441E-8444-51A779372F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CNN</c:v>
                </c:pt>
                <c:pt idx="2">
                  <c:v>Random Forest</c:v>
                </c:pt>
                <c:pt idx="3">
                  <c:v>MEET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87.65</c:v>
                </c:pt>
                <c:pt idx="1">
                  <c:v>82.7</c:v>
                </c:pt>
                <c:pt idx="2">
                  <c:v>92.88</c:v>
                </c:pt>
                <c:pt idx="3">
                  <c:v>94.74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B57-441E-8444-51A779372F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16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Giriş: Bu sunumda yüzey EMG sinyallerinden yapay zeka yöntemleriyle el hareketi tanıma çalışmasını anlatacağım. İki veri seti, dört model ve karşılaştırmalı analiz üzerinden ilerleyeceğiz.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Gündem: problemden başlayıp veri, öznitelik ve modelleri detaylandıracağız; sonra sonuçları karşılaştırıp sorunları ve önerileri sunacağız.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Motivasyon: EMG tabanlı tanıma protez ve rehabilitasyonda kullanılıyor. Ana zorluk sinyalin değişkenliği ve benzer hareketlerin karışmasıdır — bu tüm çalışmanın odak noktası.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Boru hattı: ham sinyalden pencereleme, öznitelik çıkarımı, ölçekleme, model ve değerlendirmeye kadar tüm adımlar sabit tutuldu ki modeller adil karşılaştırılsın.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veri seti: NinaPro zengin 8 kanallı açık kaynak; özel veri ise 2 kanallı kendi kaydımız. Bu kontrast, kanal sayısının etkisini görmemizi sağlıyor.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 DB5: 8 kanal, 4 denek, 7 hareket. 200 Hz'den 1000 Hz'e yükseltildi. Standart veri tabanı olması sonuçların literatürle karşılaştırılmasını sağlıyor.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Özel veri: kendi topladığımız 2 kanallı set, 6 hareket, 81 bin pencere. 2 kanal olması ileride silindirik-kapalı karışmasının temel sebebi olacak.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NinaPro'da 7 hareket seçildi: B serisi (thumb up, scissors, open, closed, point) ve C serisi (cylindrical, pinch). Bunlar standart protokolden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Özel veride 6 hareket. Silindirik (cyl) hareketi vurgulandı çünkü sonuçlarda en problemli sınıf o olacak.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 işleme: her iki sette de 150 ms pencere ve %80 örtüşme. NinaPro'da resample var; özel veride kas aktivasyonu başlangıcını bulan onset tespiti kullanıldı.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öznitelik: RMS (güç), MAV (genlik), WL (karmaşıklık), SSC (frekans). Literatürde standart, ucuz ve etkili. Boyut kanal sayısıyla belirleniyor: 32 vs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model: iki klasik (SVM, RF), bir topluluk-uzman yöntemi (MEET) ve bir derin öğrenme (CNN). Amaç klasik öznitelik-tabanlı yaklaşımı derin öğrenmeyle kıyaslamak.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SVM: RBF çekirdek, C=10 — sEMG için iyi çalışan klasik ayar. Random Forest: 100 ağaç, gürültüye dayanıklı ve öznitelik önemi sağlıyor.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MEET: Bire-Bir uzmanlar mimarisi. Her hareket çifti için ayrı Extra Trees uzmanı; bu yüzden zor çiftleri iyi ayırıyor ve en yüksek doğruluğu veriyor.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CNN'in sebebi: NinaPro ham 150x8 zaman serisi alıyor, özel veri ise 8 öznitelik. Girdi şekilleri farklı. Tek eğitilmiş model olmaz ama tek parametreli kod fonksiyonuyla mimari birleştirilebilir.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Değerlendirme: stratified 80/20, ölçekleme sadece eğitimde, denek-içi ve denekler-arası testler, sabit seed=22 ve normalize confusion matrix metrikleri.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 sonuçları: MEET &gt;%94.7 ile en iyi, RF %92.9, SVM %87.7, CNN ~%82.7. MEET matrisinde tüm sınıflar %92 üstü — çok dengeli. Sıralama: MEET &gt; RF &gt; CNN ≈ SVM.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grafik model doğruluklarını gösteriyor. Önemli çıkarım: iyi öznitelikle klasik modeller, bu veri hacminde CNN'i geçiyor. Zorlu çiftler thumb-up/point ve cylindrical/pinch.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Özel veri: hepsi ~%71. Matriste silindirik-kapalı karışması baskın (silindirik yalnız %57). Silindirik çıkınca kapalı %92'ye fırlıyor, genel ~%80. Yani sorun tek sınıfın 2 kanalla ayrılamaması.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ana çıkarım: (1) kanal sayısı performansın ana belirleyicisi, (2) MEET'in uzman mimarisi zor çiftlerde kazandırıyor, (3) iyi öznitelikle klasik modeller bu ölçekte CNN'i geçiyor.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Sorunlar: silindirik-kapalı karışması, kanal sayısı sınırı, tip hareketini çıkarma deneyi, ve kod tarafında seed tutarsızlığı/dağınıklık — bunlar ortak modül ve sabit seed ile giderildi.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Öneriler: en yüksek getiri kanal sayısını artırmak. Ayrıca daha fazla denek, frekans öznitelikleri, k-kat CV, hiperparametre araması ve CNN için veri artırma.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Sonuç: MEET ve iyi özniteliklerle 8 kanalda &gt;%94 doğruluk. Özel verinin sınırı kanal sayısı. En önemli ileri adım daha fazla kanal. Teşekkürler, sorulara açığım.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93853"/>
            <a:ext cx="111732" cy="28701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203149" y="1443973"/>
            <a:ext cx="111732" cy="58677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06298" y="1624530"/>
            <a:ext cx="111732" cy="2256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09448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12597" y="1496053"/>
            <a:ext cx="111732" cy="48261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015746" y="1436597"/>
            <a:ext cx="111732" cy="60152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218895" y="1685297"/>
            <a:ext cx="111732" cy="10412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1422044" y="1668540"/>
            <a:ext cx="111732" cy="13763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1625194" y="1388815"/>
            <a:ext cx="111732" cy="69709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1828343" y="1464699"/>
            <a:ext cx="111732" cy="54532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031492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234641" y="1556936"/>
            <a:ext cx="111732" cy="36084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2437790" y="1295429"/>
            <a:ext cx="111732" cy="88386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640940" y="1532109"/>
            <a:ext cx="111732" cy="41050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844089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047238" y="1398363"/>
            <a:ext cx="111732" cy="67799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250387" y="1250344"/>
            <a:ext cx="111732" cy="97403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3453536" y="1625969"/>
            <a:ext cx="111732" cy="22278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656686" y="1661749"/>
            <a:ext cx="111732" cy="15122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859835" y="1227316"/>
            <a:ext cx="111732" cy="102008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062984" y="1283965"/>
            <a:ext cx="111732" cy="90679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266133" y="1709815"/>
            <a:ext cx="111732" cy="5508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469282" y="1516781"/>
            <a:ext cx="111732" cy="44115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672432" y="1102294"/>
            <a:ext cx="111732" cy="1270131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875581" y="1397956"/>
            <a:ext cx="111732" cy="67880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5078730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5281879" y="1328847"/>
            <a:ext cx="111732" cy="81702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5485028" y="1078919"/>
            <a:ext cx="111732" cy="1316881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5688178" y="1552320"/>
            <a:ext cx="111732" cy="37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5891327" y="1676460"/>
            <a:ext cx="111732" cy="12179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6094476" y="1164879"/>
            <a:ext cx="111732" cy="114496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6297625" y="1173840"/>
            <a:ext cx="111732" cy="112703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6500774" y="1682262"/>
            <a:ext cx="111732" cy="11019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6703924" y="1547133"/>
            <a:ext cx="111732" cy="38045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6907073" y="1091072"/>
            <a:ext cx="111732" cy="129257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7110222" y="1349551"/>
            <a:ext cx="111732" cy="77561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7313371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7516520" y="1403333"/>
            <a:ext cx="111732" cy="66805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7719670" y="1133434"/>
            <a:ext cx="111732" cy="120785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7922819" y="1535962"/>
            <a:ext cx="111732" cy="40279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8125968" y="1708002"/>
            <a:ext cx="111732" cy="5871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8329117" y="1305310"/>
            <a:ext cx="111732" cy="86409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8532266" y="1265398"/>
            <a:ext cx="111732" cy="94392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8735416" y="1671766"/>
            <a:ext cx="111732" cy="13118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8938565" y="1628401"/>
            <a:ext cx="111732" cy="21791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9141714" y="1283701"/>
            <a:ext cx="111732" cy="90731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9344863" y="1430343"/>
            <a:ext cx="111732" cy="61403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9548012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9751162" y="1542587"/>
            <a:ext cx="111732" cy="38954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9954311" y="1330781"/>
            <a:ext cx="111732" cy="81315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10157460" y="1576520"/>
            <a:ext cx="111732" cy="3216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10360609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10563758" y="1481126"/>
            <a:ext cx="111732" cy="51246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10766908" y="1417344"/>
            <a:ext cx="111732" cy="64003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10970057" y="1677069"/>
            <a:ext cx="111732" cy="12058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7" name="Shape 55"/>
          <p:cNvSpPr/>
          <p:nvPr/>
        </p:nvSpPr>
        <p:spPr>
          <a:xfrm>
            <a:off x="11173206" y="1685680"/>
            <a:ext cx="111732" cy="10335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8" name="Shape 56"/>
          <p:cNvSpPr/>
          <p:nvPr/>
        </p:nvSpPr>
        <p:spPr>
          <a:xfrm>
            <a:off x="11376355" y="1453747"/>
            <a:ext cx="111732" cy="56722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9" name="Shape 57"/>
          <p:cNvSpPr/>
          <p:nvPr/>
        </p:nvSpPr>
        <p:spPr>
          <a:xfrm>
            <a:off x="11579504" y="1514557"/>
            <a:ext cx="111732" cy="44560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0" name="Shape 58"/>
          <p:cNvSpPr/>
          <p:nvPr/>
        </p:nvSpPr>
        <p:spPr>
          <a:xfrm>
            <a:off x="11782654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1" name="Shape 59"/>
          <p:cNvSpPr/>
          <p:nvPr/>
        </p:nvSpPr>
        <p:spPr>
          <a:xfrm>
            <a:off x="11985803" y="1626704"/>
            <a:ext cx="111732" cy="221311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2" name="Shape 60"/>
          <p:cNvSpPr/>
          <p:nvPr/>
        </p:nvSpPr>
        <p:spPr>
          <a:xfrm>
            <a:off x="0" y="5078140"/>
            <a:ext cx="111732" cy="267880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3" name="Shape 61"/>
          <p:cNvSpPr/>
          <p:nvPr/>
        </p:nvSpPr>
        <p:spPr>
          <a:xfrm>
            <a:off x="203149" y="4938252"/>
            <a:ext cx="111732" cy="547656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4" name="Shape 62"/>
          <p:cNvSpPr/>
          <p:nvPr/>
        </p:nvSpPr>
        <p:spPr>
          <a:xfrm>
            <a:off x="406298" y="5106772"/>
            <a:ext cx="111732" cy="210616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5" name="Shape 63"/>
          <p:cNvSpPr/>
          <p:nvPr/>
        </p:nvSpPr>
        <p:spPr>
          <a:xfrm>
            <a:off x="609448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6" name="Shape 64"/>
          <p:cNvSpPr/>
          <p:nvPr/>
        </p:nvSpPr>
        <p:spPr>
          <a:xfrm>
            <a:off x="812597" y="4986860"/>
            <a:ext cx="111732" cy="450440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7" name="Shape 65"/>
          <p:cNvSpPr/>
          <p:nvPr/>
        </p:nvSpPr>
        <p:spPr>
          <a:xfrm>
            <a:off x="1015746" y="4931368"/>
            <a:ext cx="111732" cy="561424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8" name="Shape 66"/>
          <p:cNvSpPr/>
          <p:nvPr/>
        </p:nvSpPr>
        <p:spPr>
          <a:xfrm>
            <a:off x="1218895" y="5163488"/>
            <a:ext cx="111732" cy="97184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9" name="Shape 67"/>
          <p:cNvSpPr/>
          <p:nvPr/>
        </p:nvSpPr>
        <p:spPr>
          <a:xfrm>
            <a:off x="1422044" y="5147848"/>
            <a:ext cx="111732" cy="128463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0" name="Shape 68"/>
          <p:cNvSpPr/>
          <p:nvPr/>
        </p:nvSpPr>
        <p:spPr>
          <a:xfrm>
            <a:off x="1625194" y="4886771"/>
            <a:ext cx="111732" cy="650618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1" name="Shape 69"/>
          <p:cNvSpPr/>
          <p:nvPr/>
        </p:nvSpPr>
        <p:spPr>
          <a:xfrm>
            <a:off x="1828343" y="4957597"/>
            <a:ext cx="111732" cy="50896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2" name="Shape 70"/>
          <p:cNvSpPr/>
          <p:nvPr/>
        </p:nvSpPr>
        <p:spPr>
          <a:xfrm>
            <a:off x="2031492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3" name="Shape 71"/>
          <p:cNvSpPr/>
          <p:nvPr/>
        </p:nvSpPr>
        <p:spPr>
          <a:xfrm>
            <a:off x="2234641" y="5043684"/>
            <a:ext cx="111732" cy="33679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4" name="Shape 72"/>
          <p:cNvSpPr/>
          <p:nvPr/>
        </p:nvSpPr>
        <p:spPr>
          <a:xfrm>
            <a:off x="2437790" y="4799611"/>
            <a:ext cx="111732" cy="824938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5" name="Shape 73"/>
          <p:cNvSpPr/>
          <p:nvPr/>
        </p:nvSpPr>
        <p:spPr>
          <a:xfrm>
            <a:off x="2640940" y="5020512"/>
            <a:ext cx="111732" cy="383135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6" name="Shape 74"/>
          <p:cNvSpPr/>
          <p:nvPr/>
        </p:nvSpPr>
        <p:spPr>
          <a:xfrm>
            <a:off x="2844089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7" name="Shape 75"/>
          <p:cNvSpPr/>
          <p:nvPr/>
        </p:nvSpPr>
        <p:spPr>
          <a:xfrm>
            <a:off x="3047238" y="4895683"/>
            <a:ext cx="111732" cy="632794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8" name="Shape 76"/>
          <p:cNvSpPr/>
          <p:nvPr/>
        </p:nvSpPr>
        <p:spPr>
          <a:xfrm>
            <a:off x="3250387" y="4757531"/>
            <a:ext cx="111732" cy="90909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9" name="Shape 77"/>
          <p:cNvSpPr/>
          <p:nvPr/>
        </p:nvSpPr>
        <p:spPr>
          <a:xfrm>
            <a:off x="3453536" y="5108115"/>
            <a:ext cx="111732" cy="207931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0" name="Shape 78"/>
          <p:cNvSpPr/>
          <p:nvPr/>
        </p:nvSpPr>
        <p:spPr>
          <a:xfrm>
            <a:off x="3656686" y="5141509"/>
            <a:ext cx="111732" cy="141141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1" name="Shape 79"/>
          <p:cNvSpPr/>
          <p:nvPr/>
        </p:nvSpPr>
        <p:spPr>
          <a:xfrm>
            <a:off x="3859835" y="4736039"/>
            <a:ext cx="111732" cy="95208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2" name="Shape 80"/>
          <p:cNvSpPr/>
          <p:nvPr/>
        </p:nvSpPr>
        <p:spPr>
          <a:xfrm>
            <a:off x="4062984" y="4788911"/>
            <a:ext cx="111732" cy="846338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3" name="Shape 81"/>
          <p:cNvSpPr/>
          <p:nvPr/>
        </p:nvSpPr>
        <p:spPr>
          <a:xfrm>
            <a:off x="4266133" y="5186372"/>
            <a:ext cx="111732" cy="5141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4" name="Shape 82"/>
          <p:cNvSpPr/>
          <p:nvPr/>
        </p:nvSpPr>
        <p:spPr>
          <a:xfrm>
            <a:off x="4469282" y="5006206"/>
            <a:ext cx="111732" cy="41174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5" name="Shape 83"/>
          <p:cNvSpPr/>
          <p:nvPr/>
        </p:nvSpPr>
        <p:spPr>
          <a:xfrm>
            <a:off x="4672432" y="4619352"/>
            <a:ext cx="111732" cy="1185456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6" name="Shape 84"/>
          <p:cNvSpPr/>
          <p:nvPr/>
        </p:nvSpPr>
        <p:spPr>
          <a:xfrm>
            <a:off x="4875581" y="4895303"/>
            <a:ext cx="111732" cy="633554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7" name="Shape 85"/>
          <p:cNvSpPr/>
          <p:nvPr/>
        </p:nvSpPr>
        <p:spPr>
          <a:xfrm>
            <a:off x="5078730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8" name="Shape 86"/>
          <p:cNvSpPr/>
          <p:nvPr/>
        </p:nvSpPr>
        <p:spPr>
          <a:xfrm>
            <a:off x="5281879" y="4830802"/>
            <a:ext cx="111732" cy="76255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9" name="Shape 87"/>
          <p:cNvSpPr/>
          <p:nvPr/>
        </p:nvSpPr>
        <p:spPr>
          <a:xfrm>
            <a:off x="5485028" y="4597535"/>
            <a:ext cx="111732" cy="122908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0" name="Shape 88"/>
          <p:cNvSpPr/>
          <p:nvPr/>
        </p:nvSpPr>
        <p:spPr>
          <a:xfrm>
            <a:off x="5688178" y="5039376"/>
            <a:ext cx="111732" cy="345408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1" name="Shape 89"/>
          <p:cNvSpPr/>
          <p:nvPr/>
        </p:nvSpPr>
        <p:spPr>
          <a:xfrm>
            <a:off x="5891327" y="5155240"/>
            <a:ext cx="111732" cy="11367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2" name="Shape 90"/>
          <p:cNvSpPr/>
          <p:nvPr/>
        </p:nvSpPr>
        <p:spPr>
          <a:xfrm>
            <a:off x="6094476" y="4677764"/>
            <a:ext cx="111732" cy="1068631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3" name="Shape 91"/>
          <p:cNvSpPr/>
          <p:nvPr/>
        </p:nvSpPr>
        <p:spPr>
          <a:xfrm>
            <a:off x="6297625" y="4686128"/>
            <a:ext cx="111732" cy="1051903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4" name="Shape 92"/>
          <p:cNvSpPr/>
          <p:nvPr/>
        </p:nvSpPr>
        <p:spPr>
          <a:xfrm>
            <a:off x="6500774" y="5160656"/>
            <a:ext cx="111732" cy="10284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5" name="Shape 93"/>
          <p:cNvSpPr/>
          <p:nvPr/>
        </p:nvSpPr>
        <p:spPr>
          <a:xfrm>
            <a:off x="6703924" y="5034535"/>
            <a:ext cx="111732" cy="355091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6" name="Shape 94"/>
          <p:cNvSpPr/>
          <p:nvPr/>
        </p:nvSpPr>
        <p:spPr>
          <a:xfrm>
            <a:off x="6907073" y="4608878"/>
            <a:ext cx="111732" cy="1206404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7" name="Shape 95"/>
          <p:cNvSpPr/>
          <p:nvPr/>
        </p:nvSpPr>
        <p:spPr>
          <a:xfrm>
            <a:off x="7110222" y="4850125"/>
            <a:ext cx="111732" cy="723910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8" name="Shape 96"/>
          <p:cNvSpPr/>
          <p:nvPr/>
        </p:nvSpPr>
        <p:spPr>
          <a:xfrm>
            <a:off x="7313371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9" name="Shape 97"/>
          <p:cNvSpPr/>
          <p:nvPr/>
        </p:nvSpPr>
        <p:spPr>
          <a:xfrm>
            <a:off x="7516520" y="4900321"/>
            <a:ext cx="111732" cy="623518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0" name="Shape 98"/>
          <p:cNvSpPr/>
          <p:nvPr/>
        </p:nvSpPr>
        <p:spPr>
          <a:xfrm>
            <a:off x="7719670" y="4648415"/>
            <a:ext cx="111732" cy="112732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1" name="Shape 99"/>
          <p:cNvSpPr/>
          <p:nvPr/>
        </p:nvSpPr>
        <p:spPr>
          <a:xfrm>
            <a:off x="7922819" y="5024108"/>
            <a:ext cx="111732" cy="375943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2" name="Shape 100"/>
          <p:cNvSpPr/>
          <p:nvPr/>
        </p:nvSpPr>
        <p:spPr>
          <a:xfrm>
            <a:off x="8125968" y="5184679"/>
            <a:ext cx="111732" cy="5480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3" name="Shape 101"/>
          <p:cNvSpPr/>
          <p:nvPr/>
        </p:nvSpPr>
        <p:spPr>
          <a:xfrm>
            <a:off x="8329117" y="4808834"/>
            <a:ext cx="111732" cy="80649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4" name="Shape 102"/>
          <p:cNvSpPr/>
          <p:nvPr/>
        </p:nvSpPr>
        <p:spPr>
          <a:xfrm>
            <a:off x="8532266" y="4771582"/>
            <a:ext cx="111732" cy="880995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5" name="Shape 103"/>
          <p:cNvSpPr/>
          <p:nvPr/>
        </p:nvSpPr>
        <p:spPr>
          <a:xfrm>
            <a:off x="8735416" y="5150859"/>
            <a:ext cx="111732" cy="122443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6" name="Shape 104"/>
          <p:cNvSpPr/>
          <p:nvPr/>
        </p:nvSpPr>
        <p:spPr>
          <a:xfrm>
            <a:off x="8938565" y="5110385"/>
            <a:ext cx="111732" cy="203391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7" name="Shape 105"/>
          <p:cNvSpPr/>
          <p:nvPr/>
        </p:nvSpPr>
        <p:spPr>
          <a:xfrm>
            <a:off x="9141714" y="4788665"/>
            <a:ext cx="111732" cy="846830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8" name="Shape 106"/>
          <p:cNvSpPr/>
          <p:nvPr/>
        </p:nvSpPr>
        <p:spPr>
          <a:xfrm>
            <a:off x="9344863" y="4925530"/>
            <a:ext cx="111732" cy="57309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9" name="Shape 107"/>
          <p:cNvSpPr/>
          <p:nvPr/>
        </p:nvSpPr>
        <p:spPr>
          <a:xfrm>
            <a:off x="9548012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0" name="Shape 108"/>
          <p:cNvSpPr/>
          <p:nvPr/>
        </p:nvSpPr>
        <p:spPr>
          <a:xfrm>
            <a:off x="9751162" y="5030291"/>
            <a:ext cx="111732" cy="36357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1" name="Shape 109"/>
          <p:cNvSpPr/>
          <p:nvPr/>
        </p:nvSpPr>
        <p:spPr>
          <a:xfrm>
            <a:off x="9954311" y="4832607"/>
            <a:ext cx="111732" cy="75894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2" name="Shape 110"/>
          <p:cNvSpPr/>
          <p:nvPr/>
        </p:nvSpPr>
        <p:spPr>
          <a:xfrm>
            <a:off x="10157460" y="5061963"/>
            <a:ext cx="111732" cy="300235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3" name="Shape 111"/>
          <p:cNvSpPr/>
          <p:nvPr/>
        </p:nvSpPr>
        <p:spPr>
          <a:xfrm>
            <a:off x="10360609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4" name="Shape 112"/>
          <p:cNvSpPr/>
          <p:nvPr/>
        </p:nvSpPr>
        <p:spPr>
          <a:xfrm>
            <a:off x="10563758" y="4972929"/>
            <a:ext cx="111732" cy="478303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5" name="Shape 113"/>
          <p:cNvSpPr/>
          <p:nvPr/>
        </p:nvSpPr>
        <p:spPr>
          <a:xfrm>
            <a:off x="10766908" y="4913398"/>
            <a:ext cx="111732" cy="597364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6" name="Shape 114"/>
          <p:cNvSpPr/>
          <p:nvPr/>
        </p:nvSpPr>
        <p:spPr>
          <a:xfrm>
            <a:off x="10970057" y="5155808"/>
            <a:ext cx="111732" cy="112544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7" name="Shape 115"/>
          <p:cNvSpPr/>
          <p:nvPr/>
        </p:nvSpPr>
        <p:spPr>
          <a:xfrm>
            <a:off x="11173206" y="5163846"/>
            <a:ext cx="111732" cy="9646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8" name="Shape 116"/>
          <p:cNvSpPr/>
          <p:nvPr/>
        </p:nvSpPr>
        <p:spPr>
          <a:xfrm>
            <a:off x="11376355" y="4947375"/>
            <a:ext cx="111732" cy="529410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9" name="Shape 117"/>
          <p:cNvSpPr/>
          <p:nvPr/>
        </p:nvSpPr>
        <p:spPr>
          <a:xfrm>
            <a:off x="11579504" y="5004130"/>
            <a:ext cx="111732" cy="415900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0" name="Shape 118"/>
          <p:cNvSpPr/>
          <p:nvPr/>
        </p:nvSpPr>
        <p:spPr>
          <a:xfrm>
            <a:off x="11782654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1" name="Shape 119"/>
          <p:cNvSpPr/>
          <p:nvPr/>
        </p:nvSpPr>
        <p:spPr>
          <a:xfrm>
            <a:off x="11985803" y="5108801"/>
            <a:ext cx="111732" cy="20655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3" name="Text 121"/>
          <p:cNvSpPr/>
          <p:nvPr/>
        </p:nvSpPr>
        <p:spPr>
          <a:xfrm>
            <a:off x="401357" y="2315710"/>
            <a:ext cx="11091672" cy="2309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kern="0" spc="3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YAPAY ZEK</a:t>
            </a:r>
            <a:r>
              <a:rPr lang="tr-TR" sz="4000" b="1" kern="0" spc="3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</a:t>
            </a:r>
            <a:r>
              <a:rPr lang="en-US" sz="4000" b="1" kern="0" spc="3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TABANLI EMG SİNYALLERİ İL</a:t>
            </a:r>
            <a:r>
              <a:rPr lang="tr-TR" sz="4000" b="1" kern="0" spc="3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</a:t>
            </a:r>
            <a:endParaRPr lang="tr-TR" sz="40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El Hareketi Sınıflandırma Analizi</a:t>
            </a: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Talha Güçlü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Sunum Akışı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85800" y="1815084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85800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Motivasyon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414516" y="1815084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14516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54596" y="16916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Setleri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685800" y="27294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85800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6060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Hareketleri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77356" y="26060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414516" y="27294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414516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54596" y="26060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Ön İşleme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85800" y="36438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85800" y="3643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5204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Öznitelikler (RMS/MAV/WL/SSC)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77356" y="35204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414516" y="36438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414516" y="3643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54596" y="35204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SVM · RF · MEET · CNN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685800" y="45582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85800" y="4558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44348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Yöntemi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77356" y="44348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6414516" y="45582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6414516" y="4558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54596" y="44348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&amp; Karşılaştırma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685800" y="54726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685800" y="5472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53492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Karşılaşılan Sorunlar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77356" y="53492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6414516" y="54726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6414516" y="5472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54596" y="53492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 Önerileri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MOTİVASYON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EMG ile El Hareketi Tanıma?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2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(elektromiyografi)</a:t>
            </a: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kaslardan üretilen elektriksel aktiviteyi ölçer. Ön koldaki kas sinyallerinden hangi el hareketinin yapıldığını çözmek; protez kontrolü, rehabilitasyon ve insan–makine arayüzleri için kritiktir.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852160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713232" y="337413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280160" y="32735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Protez el kontrolü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5844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Ampute bireyler için doğal kontrol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5852160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713232" y="424281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280160" y="41422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Rehabilitasyon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44531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aktivasyonu takibi ve terapi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5852160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13232" y="511149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280160" y="50109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İnsan–makine arayüzü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5321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Dokunmadan komut/etkileşim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4754880" cy="4206240"/>
          </a:xfrm>
          <a:prstGeom prst="roundRect">
            <a:avLst>
              <a:gd name="adj" fmla="val 1957"/>
            </a:avLst>
          </a:prstGeom>
          <a:solidFill>
            <a:srgbClr val="0B254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13232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ZORLUK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2860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sinyali kişiden kişiye, hatta denemeden denemeye değişir. 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 kavrama hareketleri (silindirik ↔ kapalı) çok yakın kas aktivasyonu üretir.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Ayırt edici özniteliklerin ve doğru modelin seçimi bu yüzden belirleyicidir.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Çalışmanın Amacı ve İşlem Hattı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iki farklı EMG veri setinde, klasik makine öğrenmesi ile derin öğrenme yaklaşımlarını aynı boru hattında karşılaştırmak.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083564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083564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3504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EMG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.mat sinyalleri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21408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452421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987345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987345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07285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Pencereleme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07285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ms pencereler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5189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356202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891126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89112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11066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11066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RMS·MAV·WL·SSC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28970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259982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6794906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79490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14846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14846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32750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8163763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12557A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8698687" y="2542032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8698687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18627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18627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SVM·RF·MEET·CNN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36531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10067544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10602468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10602468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122408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122408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+ matris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boru hattı her iki veri setine ve dört modele de uygulanır → adil karşılaştırma.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SETLERİ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Tamamlayıcı Veri Seti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DB5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 kıyaslama veri tabanı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(Myo kol bandı)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2324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32324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S2, S5, S10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sınıf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3022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3022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Hz → 1000 Hz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4837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boyut/pencere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3721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53721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19.591 pencere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36792" y="160020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336792" y="1600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611112" y="1673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Özel Veri 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11112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maliyetli 2 kanallı kayıt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05672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11112" y="32324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05672" y="32324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Ecem, Selman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1112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05672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sınıf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11112" y="43022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Örnekleme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05672" y="43022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Hz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11112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05672" y="4837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boyut/pencere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11112" y="53721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05672" y="53721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81.275 pencere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SETİ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DB5 — Ayrıntılar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bir sEMG kıyaslama veri tabanı. Ön kola takılan Myo kol bandının ilk 8 kanalı kullanıldı. Ham sinyal 200 Hz olduğundan zaman çözünürlüğünü artırmak için 1000 Hz'e yükseltildi (resample).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kanalı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301752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267712" y="32004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267712" y="38404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86784" y="301752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986784" y="32004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986784" y="38404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05856" y="301752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705856" y="32004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19.591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705856" y="38404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6675120" cy="1051560"/>
          </a:xfrm>
          <a:prstGeom prst="roundRect">
            <a:avLst>
              <a:gd name="adj" fmla="val 7826"/>
            </a:avLst>
          </a:prstGeom>
          <a:solidFill>
            <a:srgbClr val="0B254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NinaPro? </a:t>
            </a:r>
            <a:r>
              <a:rPr lang="en-US" sz="14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Literatürde standart, tekrarlanabilir ve çok deneklidir; sonuçların karşılaştırılabilir olmasını sağlar.</a:t>
            </a:r>
            <a:endParaRPr lang="en-US" sz="1400" dirty="0"/>
          </a:p>
        </p:txBody>
      </p:sp>
      <p:pic>
        <p:nvPicPr>
          <p:cNvPr id="19" name="Image 0" descr="/sessions/relaxed-adoring-bohr/mnt/btalhaguclu_master_works/docs/images/hand_mov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78624" y="-16568"/>
            <a:ext cx="4206240" cy="411480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7A41523A-CB87-BD7D-6A7B-2FAFDEA79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346" y="4098232"/>
            <a:ext cx="2743472" cy="2683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SETİ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Özel Veri Set</a:t>
            </a:r>
            <a:r>
              <a:rPr lang="tr-TR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denekten, düşük maliyetli 2 kanallı bir kurulumla toplandı. Her hareket için sinyaller kanal bazında (ch1, ch2) saklanır. Dört ham .mat dosyası içerir.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kanalı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29260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267712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67712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86784" y="29260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986784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86784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05856" y="292608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705856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81.275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705856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6675120" cy="1188720"/>
          </a:xfrm>
          <a:prstGeom prst="roundRect">
            <a:avLst>
              <a:gd name="adj" fmla="val 6923"/>
            </a:avLst>
          </a:prstGeom>
          <a:solidFill>
            <a:srgbClr val="DCE7EE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Sınırlama: 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2 kanal → benzer kavramaları ayırmak için uzamsal bilgi kısıtlı. Bu, ilerideki sonuç farklarının ana nedeni olacak.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HAREKETLERİ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Seçilen El Hareketleri — NinaPro (7)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up — Başparmak yukarı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126480" y="17373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78040" y="17373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 — Makas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48640" y="2395728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23957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Açık el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2395728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126480" y="2395728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126480" y="23957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23957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— Kapalı el / yumruk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054096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548640" y="3054096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48640" y="305409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30540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— İşaret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3054096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126480" y="3054096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126480" y="305409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8040" y="30540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— Silindirik kavrama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37560" y="3712464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3337560" y="3712464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3337560" y="37124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0" y="371246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— Çimdik / ince kavrama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HAREKETLERİ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Seçilen El Hareketleri — Özel Veri (6)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94944" y="190195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94944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— işaret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72784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694944" y="268833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94944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56946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— rock işareti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2569464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272784" y="268833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272784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256946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— kapalı / yumruk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355848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94944" y="3474720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94944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35584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 — silindirik kavrama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3355848"/>
            <a:ext cx="534924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272784" y="347472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272784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0" y="335584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açık el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DCE7EE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</a:t>
            </a: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'cyl' (silindirik) hareketi bu 2 kanallı sette en çok karışan sınıf olacak — sonuç analizinde ayrıntılandıracağız.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Sinyal Ön İşleme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İlgili hareketin tekrarları (repetition) seçilir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Hz → 1000 Hz'e yükseltme (×5 resample)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örnek (150 ms) kayan pencere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örnek adım → %80 örtüşme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Çıktı: 32-boyut öznitelik CSV + ham (150×8) CNN tensörü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36792" y="164592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611112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Özel Veri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1112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(başlangıç) tespiti: 40 ms pencerede ortalama |genlik| &gt; 435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Başlangıçtan itibaren 150 ms pencereler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ms adım → %80 örtüşme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pencerede 2 kanal × 4 öznitelik = 8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Çıktı: custom_dataset.csv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ÖZNİTELİKLER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Öznitelik Çıkarımı — Zaman Uzayı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kanal için 4 klasik zaman-uzayı özniteliği. Düşük hesap maliyetiyle kas aktivasyonunun genlik ve frekans karakteristiğini birlikte özetlerler.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32888" cy="2286000"/>
          </a:xfrm>
          <a:prstGeom prst="roundRect">
            <a:avLst>
              <a:gd name="adj" fmla="val 36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2532888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kas gücü / enerji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1568" y="2377440"/>
            <a:ext cx="2532888" cy="2286000"/>
          </a:xfrm>
          <a:prstGeom prst="roundRect">
            <a:avLst>
              <a:gd name="adj" fmla="val 36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401568" y="2377440"/>
            <a:ext cx="2532888" cy="777240"/>
          </a:xfrm>
          <a:prstGeom prst="roundRect">
            <a:avLst>
              <a:gd name="adj" fmla="val 10588"/>
            </a:avLst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401568" y="237744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38728" y="32918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Value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38728" y="38862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genliği / yoğunluk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4496" y="2377440"/>
            <a:ext cx="2532888" cy="2286000"/>
          </a:xfrm>
          <a:prstGeom prst="roundRect">
            <a:avLst>
              <a:gd name="adj" fmla="val 36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6254496" y="2377440"/>
            <a:ext cx="2532888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254496" y="237744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91656" y="32918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Length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91656" y="38862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karmaşıklığı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07424" y="2377440"/>
            <a:ext cx="2532888" cy="2286000"/>
          </a:xfrm>
          <a:prstGeom prst="roundRect">
            <a:avLst>
              <a:gd name="adj" fmla="val 36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9107424" y="2377440"/>
            <a:ext cx="2532888" cy="777240"/>
          </a:xfrm>
          <a:prstGeom prst="roundRect">
            <a:avLst>
              <a:gd name="adj" fmla="val 10588"/>
            </a:avLst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9107424" y="237744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SSC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244584" y="32918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Sign Changes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44584" y="388620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Frekans içeriği tahmini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0B254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48640" y="4937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 boyutu = kanal × 4  →  </a:t>
            </a: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NinaPro 8×4 = 32</a:t>
            </a:r>
            <a:r>
              <a:rPr lang="en-US" sz="16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veri 2×4 = 8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Karşılaştırılan Dört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3172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 Vektör Makinesi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3172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çekirdek; yüksek boyutlu uzayda güçlü sınır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6355080" y="201168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355080" y="20116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09560" y="2057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09560" y="2651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ağaçlık topluluk; gürültüye dayanıklı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77240" y="402336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331720" y="4069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of Experts Extra Trees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31720" y="4663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Bire-Bir uzmanlar; benzer çiftleri ayırır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355080" y="402336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355080" y="40233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09560" y="4069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Evrişimli Ağ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09560" y="4663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sinyalden otomatik örüntü öğrenir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DETAYI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ve Random Forest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(Destek Vektör Makinesi)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(radyal tabanlı) çekirdek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10, gamma = 'scale'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boyutlu öznitelik uzayında etkili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olmayan sınırları modeller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36792" y="169164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336792" y="169164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611112" y="16916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11112" y="25603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karar ağacı (n_estimators=100)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sınırsız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 ve aşırı-öğrenmeye dayanıklı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 önemini de verir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DETAYI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— Mixture of Experts Extra Trees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Fikir: </a:t>
            </a: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sınıflı problem, Bire-Bir (One-vs-One) stratejisiyle ikili alt problemlere bölünür. Her hareket çifti için ayrı bir Extra Trees ‘uzmanı’ eğitilir.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öğrenici: Extra Trees (100 ağaç)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Strateji: OneVsOne — her çift için bir uzman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 hareket çiftlerini (B1↔B7, C5↔C14) daha keskin ayırır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Xiong ve ark. (2024) makalesinden uyarlandı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45920"/>
            <a:ext cx="4297680" cy="41148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58952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GÜÇLÜ?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0" y="237744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sınıfları aynı anda ele alan tek bir model yerine, her ikili için özelleşmiş uzmanlar kullanır. Böylece en çok karışan çiftler daha net ayrılır — sonuçta en dengeli ve en yüksek doğruluk.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DETAYI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 CNN — ve Neden İki Mimari?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640080"/>
          </a:xfrm>
          <a:prstGeom prst="roundRect">
            <a:avLst>
              <a:gd name="adj" fmla="val 128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NinaPro CNN (ham 150×8)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Girdi: ham zaman serisi (150 adım × 8 kanal)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Conv1D (64/128) + BatchNorm + MaxPool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çekirdekler (10, 5) → zamansal örüntü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36792" y="1691640"/>
            <a:ext cx="52120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336792" y="1691640"/>
            <a:ext cx="5212080" cy="640080"/>
          </a:xfrm>
          <a:prstGeom prst="roundRect">
            <a:avLst>
              <a:gd name="adj" fmla="val 12857"/>
            </a:avLst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611112" y="1691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Veri CNN (8 öznitelik)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11112" y="24688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Girdi: 8 öznitelik değeri (8 × 1)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Conv1D(32,3) + Dense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ekseni yok → minik ağ yeterli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DCE7EE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model olur mu?  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eğitilmiş ağ ikisini alamaz (girdi şekli/kanal farklı). Ama tek parametreli fonksiyon — build_cnn(girdi_şekli, sınıf) — ile TEK kod, iki şekle uyarlanabilir.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Değerlendirme Yöntemi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DCE7EE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31520" y="186080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31520" y="18608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 / %20 bölme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179222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dağılımını koruyan (stratified) ayrım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731520" y="27020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31520" y="27020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6334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 yalnız eğitimde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263347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sadece eğitimde ‘fit’ → veri sızıntısı yok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DCE7EE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31520" y="35433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3152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474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Denek-içi vs denekler-arası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94960" y="34747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denekler / hiç görülmemiş denekler (S1,S10)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731520" y="43845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31520" y="43845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tohum (seed = 22)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43159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modellerde tekrarlanabilirlik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102352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DCE7EE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731520" y="52257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31520" y="52257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51572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94960" y="515721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Doğruluk, precision/recall/F1, normalize confusion matrix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Sonuçlar — NinaPro DB5 (8 kanal)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0B254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(Extra Trees + OvO)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178308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%94,74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715768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%92,88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22960" y="3648456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3648456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%87,65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581144"/>
            <a:ext cx="5486400" cy="841248"/>
          </a:xfrm>
          <a:prstGeom prst="roundRect">
            <a:avLst>
              <a:gd name="adj" fmla="val 9783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22960" y="458114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CNN (ham)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4581144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6B7A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%82,7</a:t>
            </a:r>
            <a:endParaRPr lang="en-US" sz="2000" dirty="0"/>
          </a:p>
        </p:txBody>
      </p:sp>
      <p:pic>
        <p:nvPicPr>
          <p:cNvPr id="16" name="Image 0" descr="/sessions/relaxed-adoring-bohr/mnt/btalhaguclu_master_works/outputs/ninapro/MEET_4sbj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600200"/>
            <a:ext cx="5303520" cy="42062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355080" y="5806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karmaşıklık matrisi — neredeyse tüm sınıflarda &gt; %92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— Model Karşılaştırması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035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737360"/>
            <a:ext cx="4389120" cy="3931920"/>
          </a:xfrm>
          <a:prstGeom prst="roundRect">
            <a:avLst>
              <a:gd name="adj" fmla="val 2093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749808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0" y="237744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ve RF, öznitelik-tabanlı klasik yöntemler, en yüksek skoru verdi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ham sinyalden öğrenmesine rağmen geride kaldı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veri hacminde el yapımı öznitelikler (RMS/MAV/WL/SSC) ham sinyalden daha ayırt edici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zorlu çiftler: B1↔B7 ve C5↔C14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Sonuçlar — Özel Veri (2 kanal)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2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klasik model de ~%71'de kaldı. </a:t>
            </a: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 matrisi sebebi net gösteriyor: </a:t>
            </a: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silindirik ↔ kapalı</a:t>
            </a: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yoğun karışması.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86400" cy="640080"/>
          </a:xfrm>
          <a:prstGeom prst="roundRect">
            <a:avLst>
              <a:gd name="adj" fmla="val 12857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2514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%71,19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486400" cy="640080"/>
          </a:xfrm>
          <a:prstGeom prst="roundRect">
            <a:avLst>
              <a:gd name="adj" fmla="val 12857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%71,63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86400" cy="640080"/>
          </a:xfrm>
          <a:prstGeom prst="roundRect">
            <a:avLst>
              <a:gd name="adj" fmla="val 12857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%70,93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5486400" cy="914400"/>
          </a:xfrm>
          <a:prstGeom prst="roundRect">
            <a:avLst>
              <a:gd name="adj" fmla="val 9000"/>
            </a:avLst>
          </a:prstGeom>
          <a:solidFill>
            <a:srgbClr val="0B254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Silindirik çıkarılınca: </a:t>
            </a:r>
            <a:r>
              <a:rPr lang="en-US" sz="13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‘kapalı’ doğruluğu %73,6 → %91,8, genel ~%80'e çıkıyor. Sorun modelde değil, tek ayırt edilemeyen sınıfta.</a:t>
            </a:r>
            <a:endParaRPr lang="en-US" sz="1350" dirty="0"/>
          </a:p>
        </p:txBody>
      </p:sp>
      <p:pic>
        <p:nvPicPr>
          <p:cNvPr id="16" name="Image 0" descr="/sessions/relaxed-adoring-bohr/mnt/btalhaguclu_master_works/outputs/custom/sv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645920"/>
            <a:ext cx="5303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Karşılaştırmalı Analiz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64592" cy="1234440"/>
          </a:xfrm>
          <a:prstGeom prst="roundRect">
            <a:avLst>
              <a:gd name="adj" fmla="val 22222"/>
            </a:avLst>
          </a:prstGeom>
          <a:solidFill>
            <a:srgbClr val="F4A3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NinaPro ≫ Özel veri?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kanal, benzer kavramaları ayırmak için gereken uzamsal çözünürlüğü sağlar; 2 kanal sağlayamaz. ~%24 fark büyük ölçüde kanal sayısından.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64592" cy="1234440"/>
          </a:xfrm>
          <a:prstGeom prst="roundRect">
            <a:avLst>
              <a:gd name="adj" fmla="val 2222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960120" y="32918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MEET en iyi?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70332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Bire-Bir uzmanlar zor çiftleri (B1↔B7, C5↔C14) keskin ayırır; Extra Trees varyansı azaltır → dengeli, yüksek doğruluk.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64592" cy="1234440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960120" y="46634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CNN geride?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507492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veri hacminde el yapımı öznitelikler kas aktivasyonunu zaten sıkı özetliyor; CNN'in ham sinyalden çıkaracağı avantaj sınırlı kalıyor.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DENEYİM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Karşılaşılan Sorunlar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3911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Silindirik ↔ kapalı karışması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kanalla ayrılamayan benzer güç kavramaları; doğruluğu aşağı çeken ana faktör.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6355080" y="2011680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355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95160" y="203911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sayısı sınırı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743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veride uzamsal bilgi kısıtlı → düşük tavan.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0050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‘tip’ deneyi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hareketi çıkarıp etkisini ölçmek için ayrı bir dal (branch) kuruldu.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355080" y="3977640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355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95160" y="40050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Tekrarlanabilirlik &amp; kod düzeni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seed'ler (42/22), tekrarlı kod ve dağınık depo → ortak modül + sabit seed ile düzeltildi.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İLERİ ADIMLAR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Geliştirme Önerileri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DCE7EE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sayısını artır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23042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veride 4–8 kanal → silindirik/kapalı ayrımı için en yüksek getiri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6309360" y="2057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3093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fazla denek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49440" y="23042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Genelleme ve denekler-arası performansı iyileştirir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DCE7EE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31520" y="335584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3152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1729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Frekans-uzayı öznitelikleri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6027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Ortalama/medyan frekans, güç spektrumu → benzer kavramaları ayırır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035808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309360" y="335584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30936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1729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k-kat çapraz doğrulama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49440" y="36027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bölme yerine → daha güvenilir, savunulabilir doğruluk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34256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DCE7EE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731520" y="465429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3152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44714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Hiperparametre araması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490118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(C, gamma) ve ağaç sayıları için ince ayar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4334256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/>
          <a:effectLst>
            <a:outerShdw blurRad="76200" dist="25400" dir="5400000" algn="bl" rotWithShape="0">
              <a:srgbClr val="B8C6D0">
                <a:alpha val="5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6309360" y="465429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30936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44714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için veri artırma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49440" y="490118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Jitter/ölçekleme + daha derin mimari → ham veriden öğrenmeyi güçlendirir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20642"/>
            <a:ext cx="111732" cy="21047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203149" y="1110729"/>
            <a:ext cx="111732" cy="430301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06298" y="1243138"/>
            <a:ext cx="111732" cy="165484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09448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12597" y="1148921"/>
            <a:ext cx="111732" cy="35391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015746" y="1105321"/>
            <a:ext cx="111732" cy="44111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218895" y="1287701"/>
            <a:ext cx="111732" cy="7635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1422044" y="1275412"/>
            <a:ext cx="111732" cy="100935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1625194" y="1070280"/>
            <a:ext cx="111732" cy="511200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1828343" y="1125929"/>
            <a:ext cx="111732" cy="399903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031492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234641" y="1193569"/>
            <a:ext cx="111732" cy="26462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2437790" y="1001797"/>
            <a:ext cx="111732" cy="648166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640940" y="1175363"/>
            <a:ext cx="111732" cy="301035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844089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047238" y="1077283"/>
            <a:ext cx="111732" cy="497195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250387" y="968735"/>
            <a:ext cx="111732" cy="714291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3453536" y="1244193"/>
            <a:ext cx="111732" cy="163374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656686" y="1270432"/>
            <a:ext cx="111732" cy="11089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859835" y="951848"/>
            <a:ext cx="111732" cy="748065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062984" y="993390"/>
            <a:ext cx="111732" cy="664980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4266133" y="1305681"/>
            <a:ext cx="111732" cy="4039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4469282" y="1164122"/>
            <a:ext cx="111732" cy="323516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672432" y="860165"/>
            <a:ext cx="111732" cy="931430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875581" y="1076984"/>
            <a:ext cx="111732" cy="49779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5078730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5281879" y="1026304"/>
            <a:ext cx="111732" cy="59915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5485028" y="843024"/>
            <a:ext cx="111732" cy="965713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5688178" y="1190184"/>
            <a:ext cx="111732" cy="27139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5891327" y="1281220"/>
            <a:ext cx="111732" cy="89320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6094476" y="906061"/>
            <a:ext cx="111732" cy="83963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6297625" y="912632"/>
            <a:ext cx="111732" cy="826495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6500774" y="1285475"/>
            <a:ext cx="111732" cy="80810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6703924" y="1186380"/>
            <a:ext cx="111732" cy="279000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6907073" y="851936"/>
            <a:ext cx="111732" cy="94788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7110222" y="1041487"/>
            <a:ext cx="111732" cy="568786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7313371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7516520" y="1080927"/>
            <a:ext cx="111732" cy="48990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7719670" y="883001"/>
            <a:ext cx="111732" cy="88575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7922819" y="1178188"/>
            <a:ext cx="111732" cy="295384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8125968" y="1304351"/>
            <a:ext cx="111732" cy="43058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8329117" y="1009044"/>
            <a:ext cx="111732" cy="633673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8532266" y="979775"/>
            <a:ext cx="111732" cy="692211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8735416" y="1277777"/>
            <a:ext cx="111732" cy="96205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8938565" y="1245977"/>
            <a:ext cx="111732" cy="15980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9141714" y="993197"/>
            <a:ext cx="111732" cy="66536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9344863" y="1100734"/>
            <a:ext cx="111732" cy="45029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9548012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9751162" y="1183046"/>
            <a:ext cx="111732" cy="285668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9954311" y="1027722"/>
            <a:ext cx="111732" cy="596315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2" name="Shape 50"/>
          <p:cNvSpPr/>
          <p:nvPr/>
        </p:nvSpPr>
        <p:spPr>
          <a:xfrm>
            <a:off x="10157460" y="1207931"/>
            <a:ext cx="111732" cy="23589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3" name="Shape 51"/>
          <p:cNvSpPr/>
          <p:nvPr/>
        </p:nvSpPr>
        <p:spPr>
          <a:xfrm>
            <a:off x="10360609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10563758" y="1137975"/>
            <a:ext cx="111732" cy="375809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5" name="Shape 53"/>
          <p:cNvSpPr/>
          <p:nvPr/>
        </p:nvSpPr>
        <p:spPr>
          <a:xfrm>
            <a:off x="10766908" y="1091201"/>
            <a:ext cx="111732" cy="46935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6" name="Shape 54"/>
          <p:cNvSpPr/>
          <p:nvPr/>
        </p:nvSpPr>
        <p:spPr>
          <a:xfrm>
            <a:off x="10970057" y="1281666"/>
            <a:ext cx="111732" cy="8842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7" name="Shape 55"/>
          <p:cNvSpPr/>
          <p:nvPr/>
        </p:nvSpPr>
        <p:spPr>
          <a:xfrm>
            <a:off x="11173206" y="1287982"/>
            <a:ext cx="111732" cy="75797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8" name="Shape 56"/>
          <p:cNvSpPr/>
          <p:nvPr/>
        </p:nvSpPr>
        <p:spPr>
          <a:xfrm>
            <a:off x="11376355" y="1117897"/>
            <a:ext cx="111732" cy="415965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9" name="Shape 57"/>
          <p:cNvSpPr/>
          <p:nvPr/>
        </p:nvSpPr>
        <p:spPr>
          <a:xfrm>
            <a:off x="11579504" y="1162491"/>
            <a:ext cx="111732" cy="326778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0" name="Shape 58"/>
          <p:cNvSpPr/>
          <p:nvPr/>
        </p:nvSpPr>
        <p:spPr>
          <a:xfrm>
            <a:off x="11782654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1" name="Shape 59"/>
          <p:cNvSpPr/>
          <p:nvPr/>
        </p:nvSpPr>
        <p:spPr>
          <a:xfrm>
            <a:off x="11985803" y="1244732"/>
            <a:ext cx="111732" cy="162295"/>
          </a:xfrm>
          <a:prstGeom prst="rect">
            <a:avLst/>
          </a:prstGeom>
          <a:solidFill>
            <a:srgbClr val="12557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2" name="Shape 60"/>
          <p:cNvSpPr/>
          <p:nvPr/>
        </p:nvSpPr>
        <p:spPr>
          <a:xfrm>
            <a:off x="0" y="5482169"/>
            <a:ext cx="111732" cy="19134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3" name="Shape 61"/>
          <p:cNvSpPr/>
          <p:nvPr/>
        </p:nvSpPr>
        <p:spPr>
          <a:xfrm>
            <a:off x="203149" y="5382249"/>
            <a:ext cx="111732" cy="39118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4" name="Shape 62"/>
          <p:cNvSpPr/>
          <p:nvPr/>
        </p:nvSpPr>
        <p:spPr>
          <a:xfrm>
            <a:off x="406298" y="5502620"/>
            <a:ext cx="111732" cy="1504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5" name="Shape 63"/>
          <p:cNvSpPr/>
          <p:nvPr/>
        </p:nvSpPr>
        <p:spPr>
          <a:xfrm>
            <a:off x="609448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6" name="Shape 64"/>
          <p:cNvSpPr/>
          <p:nvPr/>
        </p:nvSpPr>
        <p:spPr>
          <a:xfrm>
            <a:off x="812597" y="5416969"/>
            <a:ext cx="111732" cy="32174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7" name="Shape 65"/>
          <p:cNvSpPr/>
          <p:nvPr/>
        </p:nvSpPr>
        <p:spPr>
          <a:xfrm>
            <a:off x="1015746" y="5377332"/>
            <a:ext cx="111732" cy="40101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8" name="Shape 66"/>
          <p:cNvSpPr/>
          <p:nvPr/>
        </p:nvSpPr>
        <p:spPr>
          <a:xfrm>
            <a:off x="1218895" y="5543132"/>
            <a:ext cx="111732" cy="6941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9" name="Shape 67"/>
          <p:cNvSpPr/>
          <p:nvPr/>
        </p:nvSpPr>
        <p:spPr>
          <a:xfrm>
            <a:off x="1422044" y="5531960"/>
            <a:ext cx="111732" cy="9175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0" name="Shape 68"/>
          <p:cNvSpPr/>
          <p:nvPr/>
        </p:nvSpPr>
        <p:spPr>
          <a:xfrm>
            <a:off x="1625194" y="5345477"/>
            <a:ext cx="111732" cy="46472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1" name="Shape 69"/>
          <p:cNvSpPr/>
          <p:nvPr/>
        </p:nvSpPr>
        <p:spPr>
          <a:xfrm>
            <a:off x="1828343" y="5396066"/>
            <a:ext cx="111732" cy="3635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2" name="Shape 70"/>
          <p:cNvSpPr/>
          <p:nvPr/>
        </p:nvSpPr>
        <p:spPr>
          <a:xfrm>
            <a:off x="2031492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3" name="Shape 71"/>
          <p:cNvSpPr/>
          <p:nvPr/>
        </p:nvSpPr>
        <p:spPr>
          <a:xfrm>
            <a:off x="2234641" y="5457557"/>
            <a:ext cx="111732" cy="24056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4" name="Shape 72"/>
          <p:cNvSpPr/>
          <p:nvPr/>
        </p:nvSpPr>
        <p:spPr>
          <a:xfrm>
            <a:off x="2437790" y="5283219"/>
            <a:ext cx="111732" cy="58924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5" name="Shape 73"/>
          <p:cNvSpPr/>
          <p:nvPr/>
        </p:nvSpPr>
        <p:spPr>
          <a:xfrm>
            <a:off x="2640940" y="5441006"/>
            <a:ext cx="111732" cy="27366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6" name="Shape 74"/>
          <p:cNvSpPr/>
          <p:nvPr/>
        </p:nvSpPr>
        <p:spPr>
          <a:xfrm>
            <a:off x="2844089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7" name="Shape 75"/>
          <p:cNvSpPr/>
          <p:nvPr/>
        </p:nvSpPr>
        <p:spPr>
          <a:xfrm>
            <a:off x="3047238" y="5351842"/>
            <a:ext cx="111732" cy="45199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8" name="Shape 76"/>
          <p:cNvSpPr/>
          <p:nvPr/>
        </p:nvSpPr>
        <p:spPr>
          <a:xfrm>
            <a:off x="3250387" y="5253162"/>
            <a:ext cx="111732" cy="64935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9" name="Shape 77"/>
          <p:cNvSpPr/>
          <p:nvPr/>
        </p:nvSpPr>
        <p:spPr>
          <a:xfrm>
            <a:off x="3453536" y="5503579"/>
            <a:ext cx="111732" cy="14852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0" name="Shape 78"/>
          <p:cNvSpPr/>
          <p:nvPr/>
        </p:nvSpPr>
        <p:spPr>
          <a:xfrm>
            <a:off x="3656686" y="5527432"/>
            <a:ext cx="111732" cy="10081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1" name="Shape 79"/>
          <p:cNvSpPr/>
          <p:nvPr/>
        </p:nvSpPr>
        <p:spPr>
          <a:xfrm>
            <a:off x="3859835" y="5237811"/>
            <a:ext cx="111732" cy="68005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2" name="Shape 80"/>
          <p:cNvSpPr/>
          <p:nvPr/>
        </p:nvSpPr>
        <p:spPr>
          <a:xfrm>
            <a:off x="4062984" y="5275577"/>
            <a:ext cx="111732" cy="60452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3" name="Shape 81"/>
          <p:cNvSpPr/>
          <p:nvPr/>
        </p:nvSpPr>
        <p:spPr>
          <a:xfrm>
            <a:off x="4266133" y="5559477"/>
            <a:ext cx="111732" cy="3672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4" name="Shape 82"/>
          <p:cNvSpPr/>
          <p:nvPr/>
        </p:nvSpPr>
        <p:spPr>
          <a:xfrm>
            <a:off x="4469282" y="5430787"/>
            <a:ext cx="111732" cy="29410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5" name="Shape 83"/>
          <p:cNvSpPr/>
          <p:nvPr/>
        </p:nvSpPr>
        <p:spPr>
          <a:xfrm>
            <a:off x="4672432" y="5154463"/>
            <a:ext cx="111732" cy="84675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6" name="Shape 84"/>
          <p:cNvSpPr/>
          <p:nvPr/>
        </p:nvSpPr>
        <p:spPr>
          <a:xfrm>
            <a:off x="4875581" y="5351571"/>
            <a:ext cx="111732" cy="45253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7" name="Shape 85"/>
          <p:cNvSpPr/>
          <p:nvPr/>
        </p:nvSpPr>
        <p:spPr>
          <a:xfrm>
            <a:off x="5078730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8" name="Shape 86"/>
          <p:cNvSpPr/>
          <p:nvPr/>
        </p:nvSpPr>
        <p:spPr>
          <a:xfrm>
            <a:off x="5281879" y="5305498"/>
            <a:ext cx="111732" cy="54468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9" name="Shape 87"/>
          <p:cNvSpPr/>
          <p:nvPr/>
        </p:nvSpPr>
        <p:spPr>
          <a:xfrm>
            <a:off x="5485028" y="5138880"/>
            <a:ext cx="111732" cy="877921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0" name="Shape 88"/>
          <p:cNvSpPr/>
          <p:nvPr/>
        </p:nvSpPr>
        <p:spPr>
          <a:xfrm>
            <a:off x="5688178" y="5454480"/>
            <a:ext cx="111732" cy="246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1" name="Shape 89"/>
          <p:cNvSpPr/>
          <p:nvPr/>
        </p:nvSpPr>
        <p:spPr>
          <a:xfrm>
            <a:off x="5891327" y="5537240"/>
            <a:ext cx="111732" cy="81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2" name="Shape 90"/>
          <p:cNvSpPr/>
          <p:nvPr/>
        </p:nvSpPr>
        <p:spPr>
          <a:xfrm>
            <a:off x="6094476" y="5196186"/>
            <a:ext cx="111732" cy="7633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3" name="Shape 91"/>
          <p:cNvSpPr/>
          <p:nvPr/>
        </p:nvSpPr>
        <p:spPr>
          <a:xfrm>
            <a:off x="6297625" y="5202160"/>
            <a:ext cx="111732" cy="75135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4" name="Shape 92"/>
          <p:cNvSpPr/>
          <p:nvPr/>
        </p:nvSpPr>
        <p:spPr>
          <a:xfrm>
            <a:off x="6500774" y="5541108"/>
            <a:ext cx="111732" cy="73463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5" name="Shape 93"/>
          <p:cNvSpPr/>
          <p:nvPr/>
        </p:nvSpPr>
        <p:spPr>
          <a:xfrm>
            <a:off x="6703924" y="5451022"/>
            <a:ext cx="111732" cy="25363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6" name="Shape 94"/>
          <p:cNvSpPr/>
          <p:nvPr/>
        </p:nvSpPr>
        <p:spPr>
          <a:xfrm>
            <a:off x="6907073" y="5146982"/>
            <a:ext cx="111732" cy="86171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7" name="Shape 95"/>
          <p:cNvSpPr/>
          <p:nvPr/>
        </p:nvSpPr>
        <p:spPr>
          <a:xfrm>
            <a:off x="7110222" y="5319301"/>
            <a:ext cx="111732" cy="51707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8" name="Shape 96"/>
          <p:cNvSpPr/>
          <p:nvPr/>
        </p:nvSpPr>
        <p:spPr>
          <a:xfrm>
            <a:off x="7313371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9" name="Shape 97"/>
          <p:cNvSpPr/>
          <p:nvPr/>
        </p:nvSpPr>
        <p:spPr>
          <a:xfrm>
            <a:off x="7516520" y="5355155"/>
            <a:ext cx="111732" cy="44537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0" name="Shape 98"/>
          <p:cNvSpPr/>
          <p:nvPr/>
        </p:nvSpPr>
        <p:spPr>
          <a:xfrm>
            <a:off x="7719670" y="5175222"/>
            <a:ext cx="111732" cy="80523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1" name="Shape 99"/>
          <p:cNvSpPr/>
          <p:nvPr/>
        </p:nvSpPr>
        <p:spPr>
          <a:xfrm>
            <a:off x="7922819" y="5443575"/>
            <a:ext cx="111732" cy="268531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2" name="Shape 100"/>
          <p:cNvSpPr/>
          <p:nvPr/>
        </p:nvSpPr>
        <p:spPr>
          <a:xfrm>
            <a:off x="8125968" y="5558268"/>
            <a:ext cx="111732" cy="3914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3" name="Shape 101"/>
          <p:cNvSpPr/>
          <p:nvPr/>
        </p:nvSpPr>
        <p:spPr>
          <a:xfrm>
            <a:off x="8329117" y="5289807"/>
            <a:ext cx="111732" cy="57606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4" name="Shape 102"/>
          <p:cNvSpPr/>
          <p:nvPr/>
        </p:nvSpPr>
        <p:spPr>
          <a:xfrm>
            <a:off x="8532266" y="5263199"/>
            <a:ext cx="111732" cy="62928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5" name="Shape 103"/>
          <p:cNvSpPr/>
          <p:nvPr/>
        </p:nvSpPr>
        <p:spPr>
          <a:xfrm>
            <a:off x="8735416" y="5534110"/>
            <a:ext cx="111732" cy="8745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6" name="Shape 104"/>
          <p:cNvSpPr/>
          <p:nvPr/>
        </p:nvSpPr>
        <p:spPr>
          <a:xfrm>
            <a:off x="8938565" y="5505200"/>
            <a:ext cx="111732" cy="14527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7" name="Shape 105"/>
          <p:cNvSpPr/>
          <p:nvPr/>
        </p:nvSpPr>
        <p:spPr>
          <a:xfrm>
            <a:off x="9141714" y="5275401"/>
            <a:ext cx="111732" cy="60487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8" name="Shape 106"/>
          <p:cNvSpPr/>
          <p:nvPr/>
        </p:nvSpPr>
        <p:spPr>
          <a:xfrm>
            <a:off x="9344863" y="5373162"/>
            <a:ext cx="111732" cy="409357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9" name="Shape 107"/>
          <p:cNvSpPr/>
          <p:nvPr/>
        </p:nvSpPr>
        <p:spPr>
          <a:xfrm>
            <a:off x="9548012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0" name="Shape 108"/>
          <p:cNvSpPr/>
          <p:nvPr/>
        </p:nvSpPr>
        <p:spPr>
          <a:xfrm>
            <a:off x="9751162" y="5447991"/>
            <a:ext cx="111732" cy="25969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1" name="Shape 109"/>
          <p:cNvSpPr/>
          <p:nvPr/>
        </p:nvSpPr>
        <p:spPr>
          <a:xfrm>
            <a:off x="9954311" y="5306788"/>
            <a:ext cx="111732" cy="54210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2" name="Shape 110"/>
          <p:cNvSpPr/>
          <p:nvPr/>
        </p:nvSpPr>
        <p:spPr>
          <a:xfrm>
            <a:off x="10157460" y="5470613"/>
            <a:ext cx="111732" cy="21445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3" name="Shape 111"/>
          <p:cNvSpPr/>
          <p:nvPr/>
        </p:nvSpPr>
        <p:spPr>
          <a:xfrm>
            <a:off x="10360609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4" name="Shape 112"/>
          <p:cNvSpPr/>
          <p:nvPr/>
        </p:nvSpPr>
        <p:spPr>
          <a:xfrm>
            <a:off x="10563758" y="5407018"/>
            <a:ext cx="111732" cy="34164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5" name="Shape 113"/>
          <p:cNvSpPr/>
          <p:nvPr/>
        </p:nvSpPr>
        <p:spPr>
          <a:xfrm>
            <a:off x="10766908" y="5364496"/>
            <a:ext cx="111732" cy="426689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6" name="Shape 114"/>
          <p:cNvSpPr/>
          <p:nvPr/>
        </p:nvSpPr>
        <p:spPr>
          <a:xfrm>
            <a:off x="10970057" y="5537646"/>
            <a:ext cx="111732" cy="8038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7" name="Shape 115"/>
          <p:cNvSpPr/>
          <p:nvPr/>
        </p:nvSpPr>
        <p:spPr>
          <a:xfrm>
            <a:off x="11173206" y="5543387"/>
            <a:ext cx="111732" cy="6890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8" name="Shape 116"/>
          <p:cNvSpPr/>
          <p:nvPr/>
        </p:nvSpPr>
        <p:spPr>
          <a:xfrm>
            <a:off x="11376355" y="5388765"/>
            <a:ext cx="111732" cy="37815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9" name="Shape 117"/>
          <p:cNvSpPr/>
          <p:nvPr/>
        </p:nvSpPr>
        <p:spPr>
          <a:xfrm>
            <a:off x="11579504" y="5429304"/>
            <a:ext cx="111732" cy="297071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0" name="Shape 118"/>
          <p:cNvSpPr/>
          <p:nvPr/>
        </p:nvSpPr>
        <p:spPr>
          <a:xfrm>
            <a:off x="11782654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1" name="Shape 119"/>
          <p:cNvSpPr/>
          <p:nvPr/>
        </p:nvSpPr>
        <p:spPr>
          <a:xfrm>
            <a:off x="11985803" y="5504070"/>
            <a:ext cx="111732" cy="147541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2" name="Text 120"/>
          <p:cNvSpPr/>
          <p:nvPr/>
        </p:nvSpPr>
        <p:spPr>
          <a:xfrm>
            <a:off x="548640" y="2148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500" dirty="0"/>
          </a:p>
        </p:txBody>
      </p:sp>
      <p:sp>
        <p:nvSpPr>
          <p:cNvPr id="123" name="Text 121"/>
          <p:cNvSpPr/>
          <p:nvPr/>
        </p:nvSpPr>
        <p:spPr>
          <a:xfrm>
            <a:off x="548640" y="260604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İyi tasarlanmış zaman-uzayı öznitelikleri + MEET ile</a:t>
            </a:r>
            <a:endParaRPr lang="en-US" sz="2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kanallı sEMG'de &gt; %94 doğrulukla el hareketi tanıma</a:t>
            </a:r>
            <a:endParaRPr lang="en-US" sz="2600" dirty="0"/>
          </a:p>
        </p:txBody>
      </p:sp>
      <p:sp>
        <p:nvSpPr>
          <p:cNvPr id="124" name="Text 122"/>
          <p:cNvSpPr/>
          <p:nvPr/>
        </p:nvSpPr>
        <p:spPr>
          <a:xfrm>
            <a:off x="2011680" y="3931920"/>
            <a:ext cx="8165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verideki düşük skor model zayıflığı değil, 2 kanalın fiziksel sınırıdır — silindirik çıkınca doğruluğun artması bunu kanıtlar. En yüksek getirili adım: kanal sayısını artırmak.</a:t>
            </a:r>
            <a:endParaRPr lang="en-US" sz="1400" dirty="0"/>
          </a:p>
        </p:txBody>
      </p:sp>
      <p:sp>
        <p:nvSpPr>
          <p:cNvPr id="125" name="Text 123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  •  Sorular?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2313</Words>
  <Application>Microsoft Office PowerPoint</Application>
  <PresentationFormat>Özel</PresentationFormat>
  <Paragraphs>363</Paragraphs>
  <Slides>23</Slides>
  <Notes>23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Burak Talha Güçlü</dc:creator>
  <cp:lastModifiedBy>axecilyshop gamesatıs</cp:lastModifiedBy>
  <cp:revision>9</cp:revision>
  <dcterms:created xsi:type="dcterms:W3CDTF">2026-07-11T17:09:17Z</dcterms:created>
  <dcterms:modified xsi:type="dcterms:W3CDTF">2026-07-13T20:17:23Z</dcterms:modified>
</cp:coreProperties>
</file>