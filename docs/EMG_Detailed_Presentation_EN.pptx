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4" r:id="rId45"/>
    <p:sldId id="295" r:id="rId46"/>
    <p:sldId id="299" r:id="rId50"/>
    <p:sldId id="300" r:id="rId51"/>
    <p:sldId id="296" r:id="rId47"/>
    <p:sldId id="297" r:id="rId48"/>
    <p:sldId id="298" r:id="rId49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02" r:id="rId53"/>
    <p:sldId id="289" r:id="rId35"/>
    <p:sldId id="290" r:id="rId36"/>
    <p:sldId id="291" r:id="rId37"/>
    <p:sldId id="292" r:id="rId38"/>
    <p:sldId id="293" r:id="rId39"/>
    <p:sldId id="301" r:id="rId52"/>
  </p:sldIdLst>
  <p:notesMasterIdLst>
    <p:notesMasterId r:id="rId4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25.xml"/><Relationship Id="rId20" Type="http://schemas.openxmlformats.org/officeDocument/2006/relationships/slide" Target="slides/slide26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29.xml"/><Relationship Id="rId24" Type="http://schemas.openxmlformats.org/officeDocument/2006/relationships/slide" Target="slides/slide30.xml"/><Relationship Id="rId25" Type="http://schemas.openxmlformats.org/officeDocument/2006/relationships/slide" Target="slides/slide31.xml"/><Relationship Id="rId26" Type="http://schemas.openxmlformats.org/officeDocument/2006/relationships/slide" Target="slides/slide32.xml"/><Relationship Id="rId27" Type="http://schemas.openxmlformats.org/officeDocument/2006/relationships/slide" Target="slides/slide33.xml"/><Relationship Id="rId28" Type="http://schemas.openxmlformats.org/officeDocument/2006/relationships/slide" Target="slides/slide34.xml"/><Relationship Id="rId29" Type="http://schemas.openxmlformats.org/officeDocument/2006/relationships/slide" Target="slides/slide35.xml"/><Relationship Id="rId30" Type="http://schemas.openxmlformats.org/officeDocument/2006/relationships/slide" Target="slides/slide36.xml"/><Relationship Id="rId31" Type="http://schemas.openxmlformats.org/officeDocument/2006/relationships/slide" Target="slides/slide37.xml"/><Relationship Id="rId32" Type="http://schemas.openxmlformats.org/officeDocument/2006/relationships/slide" Target="slides/slide38.xml"/><Relationship Id="rId33" Type="http://schemas.openxmlformats.org/officeDocument/2006/relationships/slide" Target="slides/slide39.xml"/><Relationship Id="rId34" Type="http://schemas.openxmlformats.org/officeDocument/2006/relationships/slide" Target="slides/slide40.xml"/><Relationship Id="rId35" Type="http://schemas.openxmlformats.org/officeDocument/2006/relationships/slide" Target="slides/slide42.xml"/><Relationship Id="rId36" Type="http://schemas.openxmlformats.org/officeDocument/2006/relationships/slide" Target="slides/slide43.xml"/><Relationship Id="rId37" Type="http://schemas.openxmlformats.org/officeDocument/2006/relationships/slide" Target="slides/slide44.xml"/><Relationship Id="rId38" Type="http://schemas.openxmlformats.org/officeDocument/2006/relationships/slide" Target="slides/slide45.xml"/><Relationship Id="rId39" Type="http://schemas.openxmlformats.org/officeDocument/2006/relationships/slide" Target="slides/slide46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46" Type="http://schemas.openxmlformats.org/officeDocument/2006/relationships/slide" Target="slides/slide19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0" Type="http://schemas.openxmlformats.org/officeDocument/2006/relationships/slide" Target="slides/slide20.xml"/><Relationship Id="rId51" Type="http://schemas.openxmlformats.org/officeDocument/2006/relationships/slide" Target="slides/slide21.xml"/><Relationship Id="rId52" Type="http://schemas.openxmlformats.org/officeDocument/2006/relationships/slide" Target="slides/slide47.xml"/><Relationship Id="rId53" Type="http://schemas.openxmlformats.org/officeDocument/2006/relationships/slide" Target="slides/slide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7873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4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873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56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84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670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4E5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7F6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CNN</c:v>
                  </c:pt>
                  <c:pt idx="1">
                    <c:v>KNN</c:v>
                  </c:pt>
                  <c:pt idx="2">
                    <c:v>MLP</c:v>
                  </c:pt>
                  <c:pt idx="3">
                    <c:v>SVM</c:v>
                  </c:pt>
                  <c:pt idx="4">
                    <c:v>Random Forest</c:v>
                  </c:pt>
                  <c:pt idx="5">
                    <c:v>MEET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82.7</c:v>
                </c:pt>
                <c:pt idx="1">
                  <c:v>86.06</c:v>
                </c:pt>
                <c:pt idx="2">
                  <c:v>86.35</c:v>
                </c:pt>
                <c:pt idx="3">
                  <c:v>87.65</c:v>
                </c:pt>
                <c:pt idx="4">
                  <c:v>92.88</c:v>
                </c:pt>
                <c:pt idx="5">
                  <c:v>94.74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34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3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E56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4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56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7F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8736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4E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84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6707E"/>
              </a:solidFill>
              <a:effectLst/>
            </c:spPr>
          </c:dPt>
          <c:cat>
            <c:strRef>
              <c:f>Sheet1!$A$2:$A$7</c:f>
              <c:strCache>
                <c:ptCount val="6"/>
                <c:pt idx="0">
                  <c:v>1D CNN (raw)</c:v>
                </c:pt>
                <c:pt idx="1">
                  <c:v>Random Forest</c:v>
                </c:pt>
                <c:pt idx="2">
                  <c:v>MLP</c:v>
                </c:pt>
                <c:pt idx="3">
                  <c:v>SVM</c:v>
                </c:pt>
                <c:pt idx="4">
                  <c:v>MEET</c:v>
                </c:pt>
                <c:pt idx="5">
                  <c:v>KNN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92.5</c:v>
                </c:pt>
                <c:pt idx="1">
                  <c:v>72.98</c:v>
                </c:pt>
                <c:pt idx="2">
                  <c:v>72.92</c:v>
                </c:pt>
                <c:pt idx="3">
                  <c:v>72.75</c:v>
                </c:pt>
                <c:pt idx="4">
                  <c:v>72.46</c:v>
                </c:pt>
                <c:pt idx="5">
                  <c:v>69.68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34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6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3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cyl (5 classes)</c:v>
                </c:pt>
              </c:strCache>
            </c:strRef>
          </c:tx>
          <c:spPr>
            <a:solidFill>
              <a:srgbClr val="6E56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4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MLP</c:v>
                </c:pt>
                <c:pt idx="2">
                  <c:v>1D CNN (raw)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69.68</c:v>
                </c:pt>
                <c:pt idx="1">
                  <c:v>72.92</c:v>
                </c:pt>
                <c:pt idx="2">
                  <c:v>92.5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cyl (4 classes)</c:v>
                </c:pt>
              </c:strCache>
            </c:strRef>
          </c:tx>
          <c:spPr>
            <a:solidFill>
              <a:srgbClr val="5B7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4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MLP</c:v>
                </c:pt>
                <c:pt idx="2">
                  <c:v>1D CNN (raw)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81.5</c:v>
                </c:pt>
                <c:pt idx="1">
                  <c:v>83.21</c:v>
                </c:pt>
                <c:pt idx="2">
                  <c:v>92.6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34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6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3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deck presents the whole study in detail: problem, data, features and their meaning, the six models with their parameters, and a detailed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Agenda: problem, data, features (detailed), the six models' parameters, evaluation, comparison, the cylindrical effect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Problem: gesture recognition from EMG for prosthetics/rehab/interfaces. Main difficulty: signal variability and confusion of similar gestures.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EMG basics: surface electrodes read muscle electrical activity. As it is noisy and variable, we window it and extract features instead of using the raw waveform.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Pipeline: raw signal → windowing → features → scaling → model → evaluation. Held fixed so the models are compared fairly.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NinaPro: 8 channels, 4 subjects, 7 gestures, open-source. Custom: 2 channels, 2 subjects, 5 gestures. The channel difference is the main driver of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NinaPro DB5 detail: 8 channels, S1/S2/S5/S10, E2-E3 exercises, 200→1000 Hz. Being standard makes results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Custom data: 2 channels, 2 subjects, 5 gestures, ~68k windows. The 2-channel limit is the source of the later cylindrical–closed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NinaPro 7, custom 5 gestures (tip not included). Cylindrical is the most-confused class in the custom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Window 150 ms, 80% overlap. Resampling for NinaPro; onset detection (threshold 435) for the custom set. These parameters capture the stable region of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Window: a 150 ms segment cut from the continuous signal. The model classifies each window; one feature vector per window. The sliding window advances with 80% overlap. The figure shows overlapping windows P1/P2/P3.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200→1000 Hz upsampling for three reasons: (1) 30→150 samples per window, so WL/SSC are more stable; (2) the same pipeline as the custom set; (3) a length-150 input for the CNN. Important: this is interpolation and adds no new information/frequency (Nyquist 100 Hz).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Time-domain features were chosen because they are cheap, robust, standard in the literature and work with small data. The four features carry complementary information with little redundancy.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RMS: root mean square → muscle power/energy. MAV: mean absolute value → amplitude/intensity. Both carry amplitude information but are complementary.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WL: sum of consecutive differences → complexity. SSC: number of slope-sign changes → frequency-content estimate. WL and SSC add frequency/shape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Size = channels × 4: NinaPro 32, custom 8. Columns are RMS_ch1... This difference is the root of the later performance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models are compared. The next slides give each model's parameters and selection rationale.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SVM: RBF kernel because the data is not linearly separable; C=10 balances margin vs. error; gamma=scale is automatic. Scaling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RF: 100 trees is enough and stable; full depth + ensemble averaging offsets overfitting; robust to noise, gives feature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MEET: One-vs-One experts (an Extra Trees per pair). Separates hard pairs well; gives the most balanced and highest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KNN: k=5 (odd), Euclidean distance, lazy learner. Simple but sensitive to overlap. Scaling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MLP: single hidden layer of 128 ReLU, softmax, Adam lr=0.001. Learns non-linear boundaries, competitive with small data. Input standardization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CNNs: NinaPro raw 150×8 time series (2 conv blocks), custom 8 features (tiny net). Shared: Adam, early stopping, LR reduction, class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Evaluation: stratified 80/20, scaling on training only, within- and cross-subject, fixed seed 22, normalized confusion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NinaPro: MEET 94.7% and RF 92.9% lead; SVM/MLP/KNN mid (86-88%); CNN last. The MEET matrix is very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Ranking: MEET &gt; RF &gt; SVM &gt; MLP &gt; KNN &gt; CNN. Ensemble/expert methods lead; with good features the classical models beat the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Per-class accuracies of the six models. MEET is best on every class. KNN is weak on Point (B1↔B7). Detailed comparison in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 is weak on Point in NinaPro (B1↔B7). MLP is more balanced; beats KNN on the hard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Custom data (no tip, 5 classes, 6 models): all ~70-73%, KNN 70%. The CNN (72.6%) is on par with the classical models. Cylindrical–closed is the common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Removing cylindrical (4 classes): KNN +11.8, MLP +10.3 points; the closed class jumps to ~89-91%. SVM/RF/MEET similar (~83%). The issue is the physical limit of 2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 the custom data (no tip) all five models are ~70-73%; the difference is small. The ceiling is ~73% due to the channel limit. Common problem: cylindrical–closed.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Per-class (with cyl, no tip): all six models (incl. CNN). Cylindrical is lowest in every model (~51-61%). This bottleneck lowers overall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 cyl (5) vs without (4): KNN +11.8, MLP +10.3 points. The closed class jumps to ~90%. SVM/RF/MEET similar. The issue is the single inseparable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KNN/MLP matrices with cyl: the cylindrical row is low and mixes with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KNN/MLP matrices without cyl: the closed class rises to ~89-90%, the confusion is largely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Analysis: channel count is the main factor; ensemble/expert best; MLP competitive, KNN fragile to overlap; with good features the classical models beat the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Challenges: cylindrical confusion, channel limit, reproducibility/code organization (fixed). Recommendations: more channels, more subjects, frequency features, k-fold CV, hyperparameters.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Conclusion: MEET/RF lead (&gt;92%), good features make the classical models strong, MLP competitive, KNN basic. The custom-data limit is channel count.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SVM: the RBF kernel maps data to a higher dimension and finds the maximum-margin plane separating the two classes; the samples nearest the boundary are the support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Forest: majority vote of 100 decision trees, each trained on a random subset of data+features; the ensemble average lowers variance and is robust to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KNN: no training. For a new sample the nearest k=5 neighbors are found; the majority vote gives the prediction. Scaling essential; sensitive to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MLP: input → hidden layer (weighted sum + ReLU) → softmax output. Weights learned via backprop. Standardized input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1D CNN: convolution filters capture local patterns, pooling reduces size, a dense layer classifies. Filters are learned automatically during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MEET: splits the multi-class problem into binary sub-problems via One-vs-One; trains an Extra Trees expert per pair. Each expert separates only two classes → very sharp boundaries on hard pairs. Votes are combined. Good for: separating similar pairs like cylindrical–closed best; most balanced and highest accuracy (&gt;94%).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detail: core idea = multiple Extra-Trees experts, each on a class subset. Paper (Gehlot 2024): ~N/2 pair-experts + 1 gate classifier, weighted combination. This study: sklearn OneVsOne + ExtraTrees (expert per pair, majority vote) — an adaptation. Why strong: separates hard pairs sharply, highest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 MEET (Gehlot 2024), NinaPro (Atzori 2014 / DB5 Pizzolato 2017), time-domain features (Hudgins 1993), Random Forest (Breiman 2001), Extra Trees (Geurts 2006), scikit-learn (Pedregosa 2011).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5840"/>
            <a:ext cx="12188952" cy="1371600"/>
          </a:xfrm>
          <a:prstGeom prst="rect">
            <a:avLst/>
          </a:prstGeom>
        </p:spPr>
      </p:pic>
      <p:pic>
        <p:nvPicPr>
          <p:cNvPr id="3" name="Image 1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7720"/>
            <a:ext cx="12188952" cy="12344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286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CLASSIFICATION OF EMG SIGNALS FOR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Hand Gesture Classification Analysis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· Features · Parameters · Comparison of Six Models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Burak Talha Güçlü  |  MSc Thesis Work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Presentation Outline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8150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EMG and motivation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14516" y="18150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4516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54596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and hand gestures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27294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preprocessing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7356" y="26060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14516" y="27294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14516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54596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and meanings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5800" y="36438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models: parameters &amp; rationale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77356" y="35204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14516" y="36438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14516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4596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methodology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5800" y="45582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5800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detailed comparison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77356" y="44348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14516" y="45582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14516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54596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effect &amp; per-class analysis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85800" y="54726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85800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recommendations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277356" y="53492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14516" y="54726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14516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54596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EMG Hand-Gesture Recognition?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 (electromyography)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measures the electrical activity produced when a muscle contracts. Decoding which gesture is performed from forearm surface signals is a critical problem for prosthetics, rehabilitation and human–machine interfaces.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852160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13232" y="3374136"/>
            <a:ext cx="402336" cy="402336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80160" y="32735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Prosthetic hand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584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control for amputees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852160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13232" y="4242816"/>
            <a:ext cx="402336" cy="402336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80160" y="41422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Rehabilitation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453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Muscle-activation tracking and therapy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852160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13232" y="5111496"/>
            <a:ext cx="402336" cy="402336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80160" y="5010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Human–machine interface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321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Touchless commands / interaction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475488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CHALLENGE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2860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varies from person to person, even from trial to trial. 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grips (cylindrical ↔ closed) produce very close muscle activation.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choice of features and model is decisive.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a Surface EMG Signal?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EMG (sEMG)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electrodes measure the electrical activity produced when the forearm muscles contract. Different gestures activate different muscle groups → distinguishable signal patterns.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Non-invasive, real-time, low-cost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Noisy; varies by person and trial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waveform is high-dimensional → summarized by features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Time-domain features are cheap and effective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4754880" cy="2926080"/>
          </a:xfrm>
          <a:prstGeom prst="roundRect">
            <a:avLst>
              <a:gd name="adj" fmla="val 125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23317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Instead of feeding the raw waveform to the model, we split it into short windows and extract compact descriptors of muscle activity. The classifier maps these descriptors to a gesture.</a:t>
            </a:r>
            <a:endParaRPr lang="en-US" sz="1500" dirty="0"/>
          </a:p>
        </p:txBody>
      </p:sp>
      <p:pic>
        <p:nvPicPr>
          <p:cNvPr id="9" name="Image 0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709160"/>
            <a:ext cx="420624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Study's Pipeline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compare six models on two datasets fairly, using one and the same pipeline.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3564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83564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EMG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21408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452421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87345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87345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07285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07285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5189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356202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891126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9112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1106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11066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RMS·MAV·WL·SSC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2897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59982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794906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9490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1484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14846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3275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163763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3D4E5A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698687" y="2542032"/>
            <a:ext cx="502920" cy="502920"/>
          </a:xfrm>
          <a:prstGeom prst="ellipse">
            <a:avLst/>
          </a:prstGeom>
          <a:solidFill>
            <a:srgbClr val="A9843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98687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18627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Models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18627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DD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SVM·RF·MEET·CNN·KNN·MLP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36531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10067544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602468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60246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22408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122408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+ matrix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70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is fixed for all models → the only source of differences is the model itself.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Complementary Datasets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DB5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benchmark 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(Myo armband)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S1, S2, S5, S10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classes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→ 1000 Hz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dims/window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19,591 windows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6792" y="1600200"/>
            <a:ext cx="521208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36792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11112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(Ecem &amp; Selman)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1112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2-channel recording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05672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1112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05672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Ecem, Selman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1112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05672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classes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05672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Hz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11112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05672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dims/window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11112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05672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67,885 windows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DB5 — Details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standard sEMG benchmark. The first 8 channels of the Myo armband are used. The 200 Hz raw signal is upsampled to 1000 Hz for temporal resolution. B- and C-series gestures are taken from the E2 and E3 exercise files.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 channels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67712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67712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86784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86784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05856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19.591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705856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6675120" cy="1005840"/>
          </a:xfrm>
          <a:prstGeom prst="roundRect">
            <a:avLst>
              <a:gd name="adj" fmla="val 3636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7548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NinaPro?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Standard, multi-subject and reproducible; results are comparable with the literature.</a:t>
            </a:r>
            <a:endParaRPr lang="en-US" sz="1400" dirty="0"/>
          </a:p>
        </p:txBody>
      </p:sp>
      <p:pic>
        <p:nvPicPr>
          <p:cNvPr id="19" name="Image 0" descr="/sessions/relaxed-adoring-bohr/mnt/btalhaguclu_master_works/docs/images/hand_mo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6002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Ecem &amp; Selman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Collected from two subjects with a low-cost 2-channel setup. Signals are stored per channel (ch1, ch2) for each gesture across four .mat files.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 channels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67712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67712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86784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86784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05856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67.885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05856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6675120" cy="1188720"/>
          </a:xfrm>
          <a:prstGeom prst="roundRect">
            <a:avLst>
              <a:gd name="adj" fmla="val 3077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5720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pPr indent="0" marL="0">
              <a:lnSpc>
                <a:spcPct val="110000"/>
              </a:lnSpc>
              <a:buNone/>
            </a:pPr>
            <a:r>
              <a:rPr sz="1400" b="1">
                <a:solidFill>
                  <a:srgbClr val="3D4E5A"/>
                </a:solidFill>
                <a:latin typeface="Cambria"/>
              </a:rPr>
              <a:t>Limitation: only 2 channels → limited spatial information for hand-crafted features. But a raw-signal CNN recovers most of it (custom CNN ≈ 92.5%).</a:t>
            </a:r>
            <a:endParaRPr lang="en-US" sz="1400" dirty="0"/>
          </a:p>
        </p:txBody>
      </p:sp>
      <p:pic>
        <p:nvPicPr>
          <p:cNvPr id="19" name="Image 0" descr="/sessions/relaxed-adoring-bohr/mnt/btalhaguclu_master_works/docs/images/mo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6002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Selected Hand Gestures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70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(7)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 up (B1)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43230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Scissors (B2)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9443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(B5)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4564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(B6)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9684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(B7)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4805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(C5)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9262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99262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 (C14)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Data (5)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37960" y="19202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243230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243230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2944368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37960" y="29443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456432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FDF0D8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37960" y="34564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 — most-confused class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968496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37960" y="39684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Signal Preprocessing — Parameters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Repetitions are selected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Upsampling 200 → 1000 Hz (×5)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Window: 150 samples (150 ms)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Step: 30 samples → 80% overlap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32-dim CSV + raw (150×8) tensor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521208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11112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1112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Onset: mean |amplitude| &gt; 435 over a 40 ms window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ms windows from the onset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Step: 30 ms → 80% overlap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channels × 4 features = 8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custom_dataset.csv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Exactly Is a 'Window'?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a short, fixed-length segment cut from the continuous EMG signal (150 ms here). The smallest unit the model classifies is not the whole signal but a single window.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feature vector (RMS/MAV/WL/SSC) is extracted per window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predicts each window separately → one gesture yields many windows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window: the window advances by a fixed step (30 ms)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overlap: consecutive windows largely coincide → more samples, temporal continuity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2286000"/>
            <a:ext cx="4892040" cy="2057400"/>
          </a:xfrm>
          <a:prstGeom prst="roundRect">
            <a:avLst>
              <a:gd name="adj" fmla="val 1778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49440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283464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window = 1 feature vector = 1 prediction. Classification is done on these small pieces; the final gesture decision comes from combining the windows.</a:t>
            </a:r>
            <a:endParaRPr lang="en-US" sz="1400" dirty="0"/>
          </a:p>
        </p:txBody>
      </p:sp>
      <p:pic>
        <p:nvPicPr>
          <p:cNvPr id="9" name="Image 0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74920"/>
            <a:ext cx="10332720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48920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6E5670">
              <a:alpha val="18000"/>
            </a:srgbClr>
          </a:solidFill>
          <a:ln w="22225">
            <a:solidFill>
              <a:srgbClr val="6E567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24128" y="4956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5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86000" y="48920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A9843F">
              <a:alpha val="18000"/>
            </a:srgbClr>
          </a:solidFill>
          <a:ln w="22225">
            <a:solidFill>
              <a:srgbClr val="A9843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395728" y="4956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0" y="48920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5B7F6E">
              <a:alpha val="18000"/>
            </a:srgbClr>
          </a:solidFill>
          <a:ln w="22225">
            <a:solidFill>
              <a:srgbClr val="5B7F6E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767328" y="4956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width 150 ms  ·  step 30 ms  ·  overlap 80%  (sliding, overlapping windows)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Do We Upsample 200 Hz → 1000 Hz?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is recorded at 200 Hz; in preprocessing it is upsampled 5× (to 1000 Hz). The goal is NOT to add new signal information — there are three practical reasons: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286000"/>
          </a:xfrm>
          <a:prstGeom prst="roundRect">
            <a:avLst>
              <a:gd name="adj" fmla="val 16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487168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Enough samples / window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200 Hz, 150 ms = 30 samples; at 1000 Hz, 150 samples. Difference-based WL and SSC become far more stable.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0248" y="2286000"/>
            <a:ext cx="3520440" cy="2286000"/>
          </a:xfrm>
          <a:prstGeom prst="roundRect">
            <a:avLst>
              <a:gd name="adj" fmla="val 16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98848" y="2487168"/>
            <a:ext cx="502920" cy="502920"/>
          </a:xfrm>
          <a:prstGeom prst="ellipse">
            <a:avLst/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9884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38928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3200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 set is already 1000 Hz with 150-sample windows. Upsampling lets the same window + feature code apply to both.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91856" y="2286000"/>
            <a:ext cx="3520440" cy="2286000"/>
          </a:xfrm>
          <a:prstGeom prst="roundRect">
            <a:avLst>
              <a:gd name="adj" fmla="val 16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0456" y="2487168"/>
            <a:ext cx="502920" cy="502920"/>
          </a:xfrm>
          <a:prstGeom prst="ellipse">
            <a:avLst/>
          </a:prstGeom>
          <a:solidFill>
            <a:srgbClr val="6E567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0456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0536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input length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0456" y="3200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1D CNN expects a length-150 raw input; 30 samples are too few for large kernels (10, 5).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2667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NOTE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Upsampling is interpolation — it adds no real new information or frequency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(the Nyquist limit of 200 Hz is 100 Hz; anything above is already lost).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Gain: more stable features + consistency across both datasets + a suitable input length for the CNN.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 Selection — Why the Time Domain?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low compute cost → suitable for real-time / embedded prosthetics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the small shifts and noise of surface EMG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Well-established and proven for gesture recognition in the sEMG literature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Reduces a 150-sample window to 4 numbers per channel with little information loss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Lets simple, data-efficient classifiers reach high accuracy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737360"/>
            <a:ext cx="4389120" cy="3931920"/>
          </a:xfrm>
          <a:prstGeom prst="roundRect">
            <a:avLst>
              <a:gd name="adj" fmla="val 93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PRINCIPLE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23774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features complement each other: amplitude (RMS, MAV), complexity (WL) and frequency (SSC) — four distinct pieces of information with little redundancy. Frequency-domain features are costlier and were deemed unnecessary here.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MEANINGS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Features I — RMS and MAV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Mean Square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 = √( (1/N) Σ xᵢ² 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root-mean-square value of the signal. Represents the total power/energy the muscle produces; the stronger the contraction, the higher it 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36792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36792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11112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91272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Absolute Value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1112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2552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 = (1/N) Σ |xᵢ|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1112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absolute amplitude. The most classic sEMG amplitude estimator; reflects the signal's intensity and is slightly more robust to noise than RMS.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MEANINGS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Features II — WL and SSC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Waveform Length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 = Σ |xᵢ₊₁ − xᵢ|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of absolute differences between consecutive samples — the cumulative waveform length. Indirectly measures signal complexity (amplitude + frequency combined).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36792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36792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11112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SSC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91272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Sign Changes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1112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2552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SSC = Σ [ (xᵢ−xᵢ₋₁)(xᵢ−xᵢ₊₁) &lt; 0 ]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11112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 how many times the slope sign changes (number of peaks/valleys). Estimates the signal's frequency content; higher frequency → more sign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 Vector and Dimensionality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window is represented by 4 features per channel. The vector size depends directly on the channel count: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2377440"/>
          </a:xfrm>
          <a:prstGeom prst="roundRect">
            <a:avLst>
              <a:gd name="adj" fmla="val 153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channels × 4 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= 32 dims / window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45352" y="2377440"/>
            <a:ext cx="5394960" cy="2377440"/>
          </a:xfrm>
          <a:prstGeom prst="roundRect">
            <a:avLst>
              <a:gd name="adj" fmla="val 153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19672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channels × 4 features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9672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= 8 dims / window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822960"/>
          </a:xfrm>
          <a:prstGeom prst="roundRect">
            <a:avLst>
              <a:gd name="adj" fmla="val 4444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9377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names: RMS_ch1, MAV_ch1, WL_ch1, SSC_ch1, … + Label. Feature computations are defined in a single shared module (emg_common.py).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Six Compared Models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4884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kernel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2628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2628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9788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of 100 trees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7532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7532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4692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OvO + Extra Trees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33404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CNN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4884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convolutional network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2628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6E567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2628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89788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k=5 neighbors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7532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A9843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7532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4692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1×128 neural network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classical (SVM, RF), one ensemble-expert (MEET), one deep (CNN) and two baseline models (KNN, MLP).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How Does SVM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85216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500" b="0" i="0">
                <a:solidFill>
                  <a:srgbClr val="2B2B2B"/>
                </a:solidFill>
                <a:latin typeface="Cambria"/>
              </a:rPr>
              <a:t>SVM looks for the decision boundary that separates two classes with the widest gap (margin).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Maps non-linearly-separable data to a higher dimension via the RBF kernel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There it finds the maximum-margin plane separating the two classes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The samples nearest the boundary are the 'support vectors'; they define the boundary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A new sample is assigned to whichever side of the plane it falls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00200"/>
            <a:ext cx="5029200" cy="41148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06640" y="228600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265176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23760" y="283464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79" y="228600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0" y="301752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448056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0" y="411480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0" y="402336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48056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0" y="475488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6949440" y="2468880"/>
            <a:ext cx="4297680" cy="2011680"/>
          </a:xfrm>
          <a:prstGeom prst="line">
            <a:avLst/>
          </a:prstGeom>
          <a:ln w="31750">
            <a:solidFill>
              <a:srgbClr val="33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949440" y="2148840"/>
            <a:ext cx="3931920" cy="1874520"/>
          </a:xfrm>
          <a:prstGeom prst="line">
            <a:avLst/>
          </a:prstGeom>
          <a:ln w="12700">
            <a:solidFill>
              <a:srgbClr val="567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15200" y="2788920"/>
            <a:ext cx="4206240" cy="2148840"/>
          </a:xfrm>
          <a:prstGeom prst="line">
            <a:avLst/>
          </a:prstGeom>
          <a:ln w="12700">
            <a:solidFill>
              <a:srgbClr val="567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0" y="5349240"/>
            <a:ext cx="4663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Maximum-margin separating plane (— — margin boundaries)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How Does Random Forest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852160" cy="4023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Decision tree: splits the data with successive yes/no questions on the features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Random Forest: trains 100 different trees (each on a random subset of data + features)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Each tree casts an independent vote → the majority decides the final class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Because the trees differ, the ensemble average lowers variance and is robust to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91640"/>
            <a:ext cx="5029200" cy="402336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69479" y="2057400"/>
            <a:ext cx="457200" cy="457200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>
            <a:off x="7223759" y="2514600"/>
            <a:ext cx="274320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2514600"/>
            <a:ext cx="274321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05916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0780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86600" y="3657600"/>
            <a:ext cx="82296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 i="0">
                <a:solidFill>
                  <a:srgbClr val="2B2B2B"/>
                </a:solidFill>
                <a:latin typeface="Cambria"/>
              </a:rPr>
              <a:t>Tree 1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2057400"/>
            <a:ext cx="457200" cy="457200"/>
          </a:xfrm>
          <a:prstGeom prst="ellipse">
            <a:avLst/>
          </a:prstGeom>
          <a:solidFill>
            <a:srgbClr val="3D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8641080" y="2514600"/>
            <a:ext cx="274320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15400" y="2514600"/>
            <a:ext cx="274320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7648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2512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0" y="3657600"/>
            <a:ext cx="82296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 i="0">
                <a:solidFill>
                  <a:srgbClr val="2B2B2B"/>
                </a:solidFill>
                <a:latin typeface="Cambria"/>
              </a:rPr>
              <a:t>Tree 2</a:t>
            </a:r>
          </a:p>
        </p:txBody>
      </p:sp>
      <p:sp>
        <p:nvSpPr>
          <p:cNvPr id="18" name="Oval 17"/>
          <p:cNvSpPr/>
          <p:nvPr/>
        </p:nvSpPr>
        <p:spPr>
          <a:xfrm>
            <a:off x="10104119" y="2057400"/>
            <a:ext cx="457200" cy="457200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0058400" y="2514600"/>
            <a:ext cx="274319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32719" y="2514600"/>
            <a:ext cx="274321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893807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4244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21240" y="3657600"/>
            <a:ext cx="82296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 i="0">
                <a:solidFill>
                  <a:srgbClr val="2B2B2B"/>
                </a:solidFill>
                <a:latin typeface="Cambria"/>
              </a:rPr>
              <a:t>Tree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4297680"/>
            <a:ext cx="3017520" cy="548640"/>
          </a:xfrm>
          <a:prstGeom prst="roundRect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Majority vote → Class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How Does MEET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400" b="0" i="0">
                <a:solidFill>
                  <a:srgbClr val="2B2B2B"/>
                </a:solidFill>
                <a:latin typeface="Cambria"/>
              </a:rPr>
              <a:t>MEET = Mixture of Experts Extra Trees. It splits the multi-class problem into binary sub-problems and trains a specialized 'expert' for each class 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806440" cy="2468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One-vs-One: a binary classifier per class pair → n(n−1)/2 experts (5 classes = 10 experts)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Each expert focuses only on separating two classes → a very sharp boundary for that pair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The experts are built from Extra Trees (extremely randomized trees) → low variance, fast training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Prediction: the sample is asked to all experts; votes are tallied; the class with the most votes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148840"/>
            <a:ext cx="5074920" cy="246888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286000"/>
            <a:ext cx="452628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200" b="1" i="0">
                <a:solidFill>
                  <a:srgbClr val="5B7F6E"/>
                </a:solidFill>
                <a:latin typeface="Cambria"/>
              </a:rPr>
              <a:t>WHAT IS IT GOOD FOR?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670048"/>
            <a:ext cx="4526280" cy="1828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150" b="0" i="0">
                <a:solidFill>
                  <a:srgbClr val="2B2B2B"/>
                </a:solidFill>
                <a:latin typeface="Cambria"/>
              </a:rPr>
              <a:t>Separates similar, hard pairs (cylindrical↔closed, B1↔B7) far better than a single model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150" b="0" i="0">
                <a:solidFill>
                  <a:srgbClr val="2B2B2B"/>
                </a:solidFill>
                <a:latin typeface="Cambria"/>
              </a:rPr>
              <a:t>Gave the most balanced and highest accuracy in this study (&gt; 94% on NinaPro)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150" b="0" i="0">
                <a:solidFill>
                  <a:srgbClr val="2B2B2B"/>
                </a:solidFill>
                <a:latin typeface="Cambria"/>
              </a:rPr>
              <a:t>Specialization + randomness = sharp boundary + low variance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46320"/>
            <a:ext cx="2286000" cy="1051560"/>
          </a:xfrm>
          <a:prstGeom prst="roundRect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5 classes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(gestures)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846320"/>
            <a:ext cx="548640" cy="1051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846320"/>
            <a:ext cx="3657600" cy="1051560"/>
          </a:xfrm>
          <a:prstGeom prst="roundRect">
            <a:avLst/>
          </a:prstGeom>
          <a:solidFill>
            <a:srgbClr val="3D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Binary experts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(1–2, 1–3, 2–3, …)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each Extra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846320"/>
            <a:ext cx="548640" cy="1051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846320"/>
            <a:ext cx="3474720" cy="1051560"/>
          </a:xfrm>
          <a:prstGeom prst="roundRect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Combine votes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→ Class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700" b="1" i="0">
                <a:solidFill>
                  <a:srgbClr val="33404A"/>
                </a:solidFill>
                <a:latin typeface="Bookman Old Style"/>
              </a:rPr>
              <a:t>MEET — Detail: Idea, Architecture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50" b="0" i="0">
                <a:solidFill>
                  <a:srgbClr val="2B2B2B"/>
                </a:solidFill>
                <a:latin typeface="Cambria"/>
              </a:rPr>
              <a:t>Core idea (Gehlot et al., 2024): instead of one model for all classes, use several Extra-Trees 'experts', each specialized on a small subset of classes.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486400" cy="25146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249424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200" b="1" i="0">
                <a:solidFill>
                  <a:srgbClr val="5B7F6E"/>
                </a:solidFill>
                <a:latin typeface="Cambria"/>
              </a:rPr>
              <a:t>PAPER ARCHITECTURE (Gehlot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15184"/>
            <a:ext cx="4983480" cy="1874519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~N/2 experts + 1 'gate' classifier for N classes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Each expert learns one class pair (E1: classes 1–2, E2: 3–4, …)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The gate is trained on all data and weights the experts' outputs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Final output = weighted combination of the experts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03120"/>
            <a:ext cx="5486400" cy="25146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2249424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200" b="1" i="0">
                <a:solidFill>
                  <a:srgbClr val="5B7F6E"/>
                </a:solidFill>
                <a:latin typeface="Cambria"/>
              </a:rPr>
              <a:t>IMPLEMENTATION IN THIS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615184"/>
            <a:ext cx="4983480" cy="1874519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scikit-learn OneVsOne + Extra Trees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A binary Extra Trees expert per class pair (5 classes = 10 experts)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Prediction: majority vote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A practical adaptation of the paper's 'specialization'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091672" cy="868680"/>
          </a:xfrm>
          <a:prstGeom prst="round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873752"/>
            <a:ext cx="10543032" cy="63093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WHY STRONG? </a:t>
            </a:r>
            <a:r>
              <a:rPr sz="1250" b="0" i="0">
                <a:solidFill>
                  <a:srgbClr val="2B2B2B"/>
                </a:solidFill>
                <a:latin typeface="Cambria"/>
              </a:rPr>
              <a:t>Because each expert focuses on only a few classes, it separates hard pairs like cylindrical↔closed sharply → the most balanced and highest accuracy (&gt; 94% on NinaPro).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000" b="0" i="1">
                <a:solidFill>
                  <a:srgbClr val="78736C"/>
                </a:solidFill>
                <a:latin typeface="Cambria"/>
              </a:rPr>
              <a:t>Source: Gehlot, Jena, Kumar, Bukya (2024). MEET: Mixture of Experts Extra Tree-Based sEMG Hand Gesture Identification. arXiv:2405.09562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How Does KNN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There is no training; all samples are kept in memory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When a new sample arrives, distances to all samples are computed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The nearest k = 5 neighbors are selected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The majority vote of these 5 neighbors gives the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00200"/>
            <a:ext cx="5029200" cy="41148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3383280"/>
            <a:ext cx="502920" cy="502920"/>
          </a:xfrm>
          <a:prstGeom prst="ellipse">
            <a:avLst/>
          </a:prstGeom>
          <a:solidFill>
            <a:srgbClr val="33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7" name="Oval 6"/>
          <p:cNvSpPr/>
          <p:nvPr/>
        </p:nvSpPr>
        <p:spPr>
          <a:xfrm>
            <a:off x="8138160" y="283464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0" y="292608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0" y="402336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0" y="393192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0" y="429768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0" y="219456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0" y="2286000"/>
            <a:ext cx="237744" cy="237744"/>
          </a:xfrm>
          <a:prstGeom prst="ellipse">
            <a:avLst/>
          </a:prstGeom>
          <a:solidFill>
            <a:srgbClr val="6E5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4937760"/>
            <a:ext cx="237744" cy="237744"/>
          </a:xfrm>
          <a:prstGeom prst="ellipse">
            <a:avLst/>
          </a:prstGeom>
          <a:solidFill>
            <a:srgbClr val="6E5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64240" y="493776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20" y="2514600"/>
            <a:ext cx="2468880" cy="2286000"/>
          </a:xfrm>
          <a:prstGeom prst="ellipse">
            <a:avLst/>
          </a:prstGeom>
          <a:noFill/>
          <a:ln w="19050">
            <a:solidFill>
              <a:srgbClr val="567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5257800"/>
            <a:ext cx="4663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Nearest 5 neighbors → majority vote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How Does the MLP (Neural Network)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486400" cy="3474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Input: feature values (8 for the custom set)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Hidden layer: each neuron is a weighted sum + ReLU activation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Output layer: class probabilities via softmax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Learning: weights are updated via backpropagation (backprop)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00200"/>
            <a:ext cx="5212080" cy="41148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7168896" y="2121408"/>
            <a:ext cx="1609344" cy="1828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68896" y="2304288"/>
            <a:ext cx="1609344" cy="5486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68896" y="2304288"/>
            <a:ext cx="1609344" cy="12801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68896" y="2304288"/>
            <a:ext cx="1609344" cy="20116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68896" y="2304288"/>
            <a:ext cx="1609344" cy="27432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68896" y="2121408"/>
            <a:ext cx="1609344" cy="9144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168896" y="2852928"/>
            <a:ext cx="1609344" cy="1828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68896" y="3035808"/>
            <a:ext cx="1609344" cy="5486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68896" y="3035808"/>
            <a:ext cx="1609344" cy="12801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68896" y="3035808"/>
            <a:ext cx="1609344" cy="20116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68896" y="2121408"/>
            <a:ext cx="1609344" cy="164592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168896" y="2852928"/>
            <a:ext cx="1609344" cy="9144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168896" y="3584448"/>
            <a:ext cx="1609344" cy="1828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68896" y="3767328"/>
            <a:ext cx="1609344" cy="5486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68896" y="3767328"/>
            <a:ext cx="1609344" cy="12801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168896" y="2121408"/>
            <a:ext cx="1609344" cy="23774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168896" y="2852928"/>
            <a:ext cx="1609344" cy="164592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168896" y="3584448"/>
            <a:ext cx="1609344" cy="9144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168896" y="4315968"/>
            <a:ext cx="1609344" cy="1828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68896" y="4498848"/>
            <a:ext cx="1609344" cy="5486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97696" y="2121408"/>
            <a:ext cx="1700784" cy="6400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97696" y="2121408"/>
            <a:ext cx="1700784" cy="13716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97696" y="2121408"/>
            <a:ext cx="1700784" cy="210312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997696" y="2761488"/>
            <a:ext cx="1700784" cy="914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97696" y="2852928"/>
            <a:ext cx="1700784" cy="6400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97696" y="2852928"/>
            <a:ext cx="1700784" cy="13716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997696" y="2761488"/>
            <a:ext cx="1700784" cy="8229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997696" y="3493008"/>
            <a:ext cx="1700784" cy="914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97696" y="3584448"/>
            <a:ext cx="1700784" cy="6400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997696" y="2761488"/>
            <a:ext cx="1700784" cy="15544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997696" y="3493008"/>
            <a:ext cx="1700784" cy="8229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997696" y="4224528"/>
            <a:ext cx="1700784" cy="914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997696" y="2761488"/>
            <a:ext cx="1700784" cy="22860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997696" y="3493008"/>
            <a:ext cx="1700784" cy="15544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997696" y="4224528"/>
            <a:ext cx="1700784" cy="8229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949440" y="2194560"/>
            <a:ext cx="237744" cy="237744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49440" y="2926080"/>
            <a:ext cx="237744" cy="237744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49440" y="3657600"/>
            <a:ext cx="237744" cy="237744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49440" y="4389120"/>
            <a:ext cx="237744" cy="237744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78240" y="201168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78240" y="274320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78240" y="347472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778240" y="420624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78240" y="493776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80" y="265176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698480" y="338328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98480" y="411480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5257800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Input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257800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Hidden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5257800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Output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How Does the 1D CNN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Convolution (conv) filters slide over the input and capture local patterns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ReLU + pooling: reduces size while keeping the important signal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After flattening, a fully-connected (Dense) layer classifies; filters are learned during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657600"/>
            <a:ext cx="1572768" cy="1188720"/>
          </a:xfrm>
          <a:prstGeom prst="roundRect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568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8608" y="3657600"/>
            <a:ext cx="1572768" cy="1188720"/>
          </a:xfrm>
          <a:prstGeom prst="roundRect">
            <a:avLst/>
          </a:prstGeom>
          <a:solidFill>
            <a:srgbClr val="3D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Convolution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1376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3657600"/>
            <a:ext cx="1572768" cy="1188720"/>
          </a:xfrm>
          <a:prstGeom prst="roundRect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Features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4183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3" y="3657600"/>
            <a:ext cx="1572768" cy="1188720"/>
          </a:xfrm>
          <a:prstGeom prst="roundRect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7031" y="3657600"/>
            <a:ext cx="1572768" cy="1188720"/>
          </a:xfrm>
          <a:prstGeom prst="roundRect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Dense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3657600"/>
            <a:ext cx="1572768" cy="1188720"/>
          </a:xfrm>
          <a:prstGeom prst="roundRect">
            <a:avLst/>
          </a:prstGeom>
          <a:solidFill>
            <a:srgbClr val="6E5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Output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(softmax)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0" i="1">
                <a:solidFill>
                  <a:srgbClr val="78736C"/>
                </a:solidFill>
                <a:latin typeface="Cambria"/>
              </a:rPr>
              <a:t>Raw/feature input → local pattern extraction → dimensionality reduction → classification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 — Support Vector Machine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 (RBF)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(radial)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'scale'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kernel: the EMG feature space is not linearly separable → a non-linear boundary is needed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C=10: balances margin width vs. error penalty; a mid-high value that works well for sEMG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gamma='scale': auto-scales the kernel width by feature variance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is essential: SVM is distance-based and sensitive to standardization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Forest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n_jobs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trees: enough for a stable ensemble; more adds marginal gain at higher cost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max_depth=None: trees grow fully; the ensemble average offsets overfitting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+ random features → low variance, robust to noise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provides feature importance; an interpretability advantage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— Mixture of Experts Extra Trees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(OvO + Extra Trees)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OneVsOne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learner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ExtraTrees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OvO: a separate 'expert' per gesture pair → n(n−1)/2 binary classifiers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Separates hard pairs (B1↔B7, C5↔C14) more sharply than a single model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Trees: extremely randomized trees → lower variance, fast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Adapted from Gehlot et al. (2024)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 — k-Nearest Neighbors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6E567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 (k=5)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n_neighbors (k)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Euclidean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(lazy)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k=5: odd (no ties), small enough to capture local structure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Euclidean distance: the vote of the 5 nearest neighbors on standardized features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training — all computation at prediction time; simple and interpretable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Downside: sensitive to class overlap and noise; high memory/prediction cost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MLP — Multi-Layer Perceptron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A9843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MLP (1×128)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(128,) ReLU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Adam, lr=0.001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· seed 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hidden layer, 128 neurons: enough capacity for a small feature space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 activation + softmax output → multi-class probability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optimizer: adaptive learning rate, fast convergence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non-linear decision boundaries; standardized input is essential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1D CNN — One Shared Raw Architecture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CNN (raw 150×8)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 Conv1D (64/128) + BatchNorm + MaxPool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kernels (10, 5) → temporal patterns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Dense(256/128)+Dropout, output softmax(7)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212080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336792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11112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 (raw 150×2)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1112" y="2468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350">
                <a:solidFill>
                  <a:srgbClr val="2B2B2B"/>
                </a:solidFill>
                <a:latin typeface="Cambria"/>
              </a:rPr>
              <a:t>Same network as NinaPro — only the input channel count differs (2 vs 8).</a:t>
            </a:r>
            <a:endParaRPr lang="en-US" sz="1350" dirty="0"/>
          </a:p>
          <a:p>
            <a:r>
              <a:rPr sz="1350">
                <a:solidFill>
                  <a:srgbClr val="2B2B2B"/>
                </a:solidFill>
                <a:latin typeface="Cambria"/>
              </a:rPr>
              <a:t>2× Conv1D (64/128) + BatchNorm + MaxPool</a:t>
            </a:r>
          </a:p>
          <a:p>
            <a:r>
              <a:rPr sz="1350">
                <a:solidFill>
                  <a:srgbClr val="2B2B2B"/>
                </a:solidFill>
                <a:latin typeface="Cambria"/>
              </a:rPr>
              <a:t>Dense(256/128) + Dropout → softmax(5)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91672" cy="1051560"/>
          </a:xfrm>
          <a:prstGeom prst="roundRect">
            <a:avLst>
              <a:gd name="adj" fmla="val 34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470916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training: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(lr=0.001), sparse categorical crossentropy, early stopping (best-weight restore), ReduceLROnPlateau, balanced class weights, seed 22.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 Methodology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860804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8608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/ 20% split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79222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split preserving class balance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702052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7020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633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on training only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63347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 is 'fit' on training only → no data leakage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543300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74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Within- &amp; cross-subject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4747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subjects / entirely unseen subjects (S1, S10)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4384548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43845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seed (22)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43159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across all models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02352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5225796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52257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1572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51572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Accuracy, precision/recall/F1, normalized confusion matrix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— NinaPro (6 Models)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DBE7E0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373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737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7F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94.74%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4505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4505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92.88%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1638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16382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87.65%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8770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(1×128)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8770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86.35%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5902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(k=5)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45902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E56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86.06%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3035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(raw)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5303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8736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 82.7%</a:t>
            </a:r>
            <a:endParaRPr lang="en-US" sz="1800" dirty="0"/>
          </a:p>
        </p:txBody>
      </p:sp>
      <p:pic>
        <p:nvPicPr>
          <p:cNvPr id="22" name="Image 0" descr="/sessions/relaxed-adoring-bohr/mnt/btalhaguclu_master_works/outputs/ninapro/MEET_4s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00200"/>
            <a:ext cx="5303520" cy="42062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355080" y="5806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— above 92% on almost every class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Detailed Comparison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93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and MEET (ensemble/expert) are best by far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≈ MLP ≈ KNN mid-group (~86-88%)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is last (~83%)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features make the classical models strong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Per-Class Accuracy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78308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3832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264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980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95144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29514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 up (B1)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832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264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980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8696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807208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280720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Scissors (B2)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832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548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264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066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4980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782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8696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319272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0080" y="331927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(B5)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918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3832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7548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350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1264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94.8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4066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4980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7782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8696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3831336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0080" y="383133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(B6)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918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3832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634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7548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0350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1264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92.6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066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4980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86.3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7782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8696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8640" y="4343400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40080" y="434340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(B7)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2918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3832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634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7548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92.0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0350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1264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95.1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4066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4980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77.0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7782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8696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80.8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485546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40080" y="485546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(C5)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2918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33832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634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47548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0350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61264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93.1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4066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74980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82.0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7782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88696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85.4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48640" y="5367528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640080" y="536752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 (C14)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32918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33832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634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47548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0350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61264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97.4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74066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74980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86.4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7782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88696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89.3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are % accuracy (recall). MEET leads on every class; KNN's weakest is Point (77%).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KNN and MLP Matrices</a:t>
            </a:r>
            <a:endParaRPr lang="en-US" sz="2900" dirty="0"/>
          </a:p>
        </p:txBody>
      </p:sp>
      <p:pic>
        <p:nvPicPr>
          <p:cNvPr id="4" name="Image 0" descr="/sessions/relaxed-adoring-bohr/mnt/btalhaguclu_master_works/outputs/ninapro/KNN_4s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5577840" cy="429768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ninapro/MLP_4sbj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57784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Point/B7 is weakest (77%)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— more balanced profile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— Custom Data (5 classes · no tip)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sz="1500" b="1">
                <a:solidFill>
                  <a:srgbClr val="3D4E5A"/>
                </a:solidFill>
                <a:latin typeface="Cambria"/>
              </a:rPr>
              <a:t>Five feature-based models sit in a narrow ~70–73% band. The 1D CNN — retrained on the raw 2-channel signal instead of the 8 hand-crafted features — breaks out to ~92.5% and even resolves the cylindrical↔closed confusion that limits every feature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3317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(raw)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33172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92.5%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935224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93522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93522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72.98%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5387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(1×128)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53872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72.92%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142232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414223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414223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8736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72.75%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745736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7457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474573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7F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72.46%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3492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(k=5)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53492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E56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69.68%</a:t>
            </a:r>
            <a:endParaRPr lang="en-US" sz="1700" dirty="0"/>
          </a:p>
        </p:txBody>
      </p:sp>
      <p:pic>
        <p:nvPicPr>
          <p:cNvPr id="23" name="Image 0" descr="/sessions/relaxed-adoring-bohr/mnt/btalhaguclu_master_works/outputs/custom/sv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00200"/>
            <a:ext cx="5303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Effect of Removing Cylindrical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sz="1500">
                <a:solidFill>
                  <a:srgbClr val="2B2B2B"/>
                </a:solidFill>
                <a:latin typeface="Cambria"/>
              </a:rPr>
              <a:t>Removing cylindrical lifts every FEATURE-BASED model by ~+10 points (they cannot separate cylindrical↔closed). The raw-signal CNN is the exception: it already separates cylindrical (94%), so dropping it changes almost nothing.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10896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76656" y="233172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0" y="2331720"/>
            <a:ext cx="274320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785616" y="23317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classes (with cyl)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274320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28816" y="23317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classes (without cyl)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0" y="2331720"/>
            <a:ext cx="155448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272016" y="23317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98648"/>
            <a:ext cx="31089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6656" y="289864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(k=5)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0" y="2898648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85616" y="28986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69.68%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2898648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28816" y="28986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81.50%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0" y="2898648"/>
            <a:ext cx="155448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72016" y="289864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+11.8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6557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6656" y="3465576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(1×128)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0" y="346557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85616" y="346557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72.92%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346557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28816" y="346557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83.21%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0" y="346557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272016" y="3465576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+10.3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032504"/>
            <a:ext cx="31089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6656" y="403250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(raw)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57600" y="4032504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85616" y="40325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92.5%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4032504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28816" y="40325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92.6%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44000" y="4032504"/>
            <a:ext cx="155448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272016" y="403250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599432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76656" y="459943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/ RF / MEET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657600" y="459943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785616" y="45994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73%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0" y="459943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528816" y="45994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83%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144000" y="459943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272016" y="459943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~+10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48640" y="5303520"/>
            <a:ext cx="11091672" cy="914400"/>
          </a:xfrm>
          <a:prstGeom prst="roundRect">
            <a:avLst>
              <a:gd name="adj" fmla="val 4000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22960" y="530352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pPr indent="0" marL="0">
              <a:lnSpc>
                <a:spcPct val="110000"/>
              </a:lnSpc>
              <a:buNone/>
            </a:pPr>
            <a:r>
              <a:rPr sz="1300" b="1">
                <a:solidFill>
                  <a:srgbClr val="3D4E5A"/>
                </a:solidFill>
                <a:latin typeface="Cambria"/>
              </a:rPr>
              <a:t>'closed' recall: KNN 72.5% → 89.4% · MLP 74.4% → 91.4% (feature models need cyl removed).</a:t>
            </a:r>
            <a:endParaRPr lang="en-US" sz="1300" dirty="0"/>
          </a:p>
          <a:p>
            <a:r>
              <a:rPr sz="1300" b="1">
                <a:solidFill>
                  <a:srgbClr val="3D4E5A"/>
                </a:solidFill>
                <a:latin typeface="Cambria"/>
              </a:rPr>
              <a:t>Raw CNN already reaches closed 90.4% → 97.7% and cylindrical 94% with cyl still 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6-Model Comparison (with cyl)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93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Cambria"/>
              </a:rPr>
              <a:t>Five feature-based models cluster at ~70–73%</a:t>
            </a:r>
            <a:endParaRPr lang="en-US" sz="1500" dirty="0"/>
          </a:p>
          <a:p>
            <a:r>
              <a:rPr sz="1500">
                <a:solidFill>
                  <a:srgbClr val="2B2B2B"/>
                </a:solidFill>
                <a:latin typeface="Cambria"/>
              </a:rPr>
              <a:t>The raw-signal 1D CNN stands apart at ~92.5%</a:t>
            </a:r>
          </a:p>
          <a:p>
            <a:r>
              <a:rPr sz="1500">
                <a:solidFill>
                  <a:srgbClr val="2B2B2B"/>
                </a:solidFill>
                <a:latin typeface="Cambria"/>
              </a:rPr>
              <a:t>Same 2-channel data — the raw representation, not more channels, unlocks the gain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Per-Class Accuracy (with cyl)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76656" y="182880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871216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24528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52544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05856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33872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87184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0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68512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96528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49840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277856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395728"/>
            <a:ext cx="21945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6656" y="23957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871216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24528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52544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05856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33872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87184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15200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68512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96528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149840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277856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2962656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76656" y="2962656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0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871216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24528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352544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705856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833872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87184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315200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68512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796528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149840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0277856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3529584"/>
            <a:ext cx="21945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76656" y="3529584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0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71216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73.9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24528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352544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05856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833872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75.6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187184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315200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668512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796528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149840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0277856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096512"/>
            <a:ext cx="2194560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76656" y="409651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743200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871216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59.2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224528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352544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57.4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705856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833872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55.2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187184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315200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668512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796528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58.2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0149840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10277856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48640" y="4663440"/>
            <a:ext cx="21945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676656" y="466344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743200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2871216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81.4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224528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352544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705856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833872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81.1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187184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7315200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668512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8796528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82.1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0149840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10277856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96.2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48640" y="535838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50">
                <a:solidFill>
                  <a:srgbClr val="78736C"/>
                </a:solidFill>
                <a:latin typeface="Cambria"/>
              </a:rPr>
              <a:t>For the five feature models the cylindrical row is lowest (~51–61%) — their bottleneck. The raw CNN lifts cylindrical to 94.1% — the opposite pattern.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With vs Without cyl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126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3931920"/>
          </a:xfrm>
          <a:prstGeom prst="roundRect">
            <a:avLst>
              <a:gd name="adj" fmla="val 93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58952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CYLINDRICAL IS REMOVED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89520" y="242316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250">
                <a:solidFill>
                  <a:srgbClr val="2B2B2B"/>
                </a:solidFill>
                <a:latin typeface="Cambria"/>
              </a:rPr>
              <a:t>KNN: 69.7% → 81.5%  (+11.8)</a:t>
            </a:r>
            <a:endParaRPr lang="en-US" sz="1250" dirty="0"/>
          </a:p>
          <a:p>
            <a:r>
              <a:rPr sz="1250">
                <a:solidFill>
                  <a:srgbClr val="2B2B2B"/>
                </a:solidFill>
                <a:latin typeface="Cambria"/>
              </a:rPr>
              <a:t>MLP: 72.9% → 83.2%  (+10.3)</a:t>
            </a:r>
          </a:p>
          <a:p>
            <a:r>
              <a:rPr sz="1250">
                <a:solidFill>
                  <a:srgbClr val="2B2B2B"/>
                </a:solidFill>
                <a:latin typeface="Cambria"/>
              </a:rPr>
              <a:t>CNN (raw): 92.5% → 92.6%  (≈ 0)</a:t>
            </a:r>
          </a:p>
          <a:p>
            <a:r>
              <a:rPr sz="1250">
                <a:solidFill>
                  <a:srgbClr val="2B2B2B"/>
                </a:solidFill>
                <a:latin typeface="Cambria"/>
              </a:rPr>
              <a:t>Feature models need cyl removed to reach ~83%; the raw CNN is already ~92.5% with cyl in.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7F6E"/>
                </a:solidFill>
                <a:latin typeface="Cambria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33404A"/>
                </a:solidFill>
                <a:latin typeface="Bookman Old Style"/>
              </a:rPr>
              <a:t>Custom Raw CNN — The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36C"/>
                </a:solidFill>
                <a:latin typeface="Cambria"/>
              </a:rPr>
              <a:t>Retrained on the raw 150×2 signal, the CNN reaches ≈92.5% (5 classes) — about +20 points over every feature-based model — and raises cylindrical recall from ~55% to 94%.</a:t>
            </a:r>
          </a:p>
        </p:txBody>
      </p:sp>
      <p:pic>
        <p:nvPicPr>
          <p:cNvPr id="5" name="Picture 4" descr="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466529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36C"/>
                </a:solidFill>
                <a:latin typeface="Cambria"/>
              </a:rPr>
              <a:t>Custom 1D CNN — raw 150×2, 5 classes · overall ≈ 92.5%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404A"/>
                </a:solidFill>
                <a:latin typeface="Bookman Old Style"/>
              </a:rPr>
              <a:t>Per-class recall (raw CNN)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9748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point 89.2%      rock 92.9%</a:t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closed 90.4%     open 96.2%</a:t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cylindrical 94.1%   ← was ~55% with features</a:t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/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Feature-based models (SVM/RF/MEET/KNN/MLP): ~70–73%</a:t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Same 2 channels — a richer (raw) representation, not</a:t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more electrodes, delivers the jump.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KNN and MLP Matrices (with cyl)</a:t>
            </a:r>
            <a:endParaRPr lang="en-US" sz="2900" dirty="0"/>
          </a:p>
        </p:txBody>
      </p:sp>
      <p:pic>
        <p:nvPicPr>
          <p:cNvPr id="4" name="Image 0" descr="/sessions/relaxed-adoring-bohr/mnt/btalhaguclu_master_works/outputs/custom/kn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5577840" cy="420624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custom/ml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57784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cylindrical 50.9%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— cylindrical 58.2%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KNN and MLP Matrices (without cyl)</a:t>
            </a:r>
            <a:endParaRPr lang="en-US" sz="2900" dirty="0"/>
          </a:p>
        </p:txBody>
      </p:sp>
      <p:pic>
        <p:nvPicPr>
          <p:cNvPr id="4" name="Image 0" descr="/sessions/relaxed-adoring-bohr/mnt/btalhaguclu_master_works/outputs/custom/knn_wo_cy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5577840" cy="420624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custom/mlp_wo_cy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57784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'closed' rises to 89.4%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— 'closed' rises to 91.4%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Comparative Analysis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A9843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84708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NinaPro ≫ Custom data?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sz="1300">
                <a:solidFill>
                  <a:srgbClr val="2B2B2B"/>
                </a:solidFill>
                <a:latin typeface="Cambria"/>
              </a:rPr>
              <a:t>With hand-crafted features, yes — 8 channels separate similar grips far better than 2. But a raw-signal CNN closes most of the gap on the 2-channel data (≈ 92.5%).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852928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2962656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MEET / RF best?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328416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and One-vs-One expert structures separate hard pairs sharply and reduce variance.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968496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6E567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4078224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vs KNN?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443984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MLP competes with the classical models via its flexible boundary; KNN, being distance-based, is most fragile to overlap.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5084064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519379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the raw CNN win?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55595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sz="1300">
                <a:solidFill>
                  <a:srgbClr val="2B2B2B"/>
                </a:solidFill>
                <a:latin typeface="Cambria"/>
              </a:rPr>
              <a:t>On the 2-channel custom data it wins decisively (≈92.5% vs ~73%), recovering the cylindrical detail the features discard. On 8-channel NinaPro the features already suffice, so RF/MEET lead and the CNN trails.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and Improvement Suggestions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889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Faced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Cambria"/>
              </a:rPr>
              <a:t>Cylindrical ↔ closed confusion — the feature models' main bottleneck (resolved by the raw CNN)</a:t>
            </a:r>
            <a:endParaRPr lang="en-US" sz="1500" dirty="0"/>
          </a:p>
          <a:p>
            <a:r>
              <a:rPr sz="1500">
                <a:solidFill>
                  <a:srgbClr val="2B2B2B"/>
                </a:solidFill>
                <a:latin typeface="Cambria"/>
              </a:rPr>
              <a:t>Hand-crafted features discard temporal detail on 2 channels</a:t>
            </a:r>
          </a:p>
          <a:p>
            <a:r>
              <a:rPr sz="1500">
                <a:solidFill>
                  <a:srgbClr val="2B2B2B"/>
                </a:solidFill>
                <a:latin typeface="Cambria"/>
              </a:rPr>
              <a:t>Reproducibility: seed inconsistency (fixed)</a:t>
            </a:r>
          </a:p>
          <a:p>
            <a:r>
              <a:rPr sz="1500">
                <a:solidFill>
                  <a:srgbClr val="2B2B2B"/>
                </a:solidFill>
                <a:latin typeface="Cambria"/>
              </a:rPr>
              <a:t>Code duplication → consolidated into a shared module</a:t>
            </a:r>
          </a:p>
        </p:txBody>
      </p:sp>
      <p:sp>
        <p:nvSpPr>
          <p:cNvPr id="7" name="Shape 5"/>
          <p:cNvSpPr/>
          <p:nvPr/>
        </p:nvSpPr>
        <p:spPr>
          <a:xfrm>
            <a:off x="6336792" y="1691640"/>
            <a:ext cx="5303520" cy="4114800"/>
          </a:xfrm>
          <a:prstGeom prst="roundRect">
            <a:avLst>
              <a:gd name="adj" fmla="val 889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11112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7F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1112" y="2331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Cambria"/>
              </a:rPr>
              <a:t>Prefer raw-signal deep models over hand-crafted features (biggest gain here)</a:t>
            </a:r>
            <a:endParaRPr lang="en-US" sz="1500" dirty="0"/>
          </a:p>
          <a:p>
            <a:r>
              <a:rPr sz="1500">
                <a:solidFill>
                  <a:srgbClr val="2B2B2B"/>
                </a:solidFill>
                <a:latin typeface="Cambria"/>
              </a:rPr>
              <a:t>Increase channel count → richer spatial information</a:t>
            </a:r>
          </a:p>
          <a:p>
            <a:r>
              <a:rPr sz="1500">
                <a:solidFill>
                  <a:srgbClr val="2B2B2B"/>
                </a:solidFill>
                <a:latin typeface="Cambria"/>
              </a:rPr>
              <a:t>More subjects → generalization</a:t>
            </a:r>
          </a:p>
          <a:p>
            <a:r>
              <a:rPr sz="1500">
                <a:solidFill>
                  <a:srgbClr val="2B2B2B"/>
                </a:solidFill>
                <a:latin typeface="Cambria"/>
              </a:rPr>
              <a:t>Add frequency-domain features</a:t>
            </a:r>
          </a:p>
          <a:p>
            <a:r>
              <a:rPr sz="1500">
                <a:solidFill>
                  <a:srgbClr val="2B2B2B"/>
                </a:solidFill>
                <a:latin typeface="Cambria"/>
              </a:rPr>
              <a:t>k-fold cross-validation</a:t>
            </a:r>
          </a:p>
          <a:p>
            <a:r>
              <a:rPr sz="1500">
                <a:solidFill>
                  <a:srgbClr val="2B2B2B"/>
                </a:solidFill>
                <a:latin typeface="Cambria"/>
              </a:rPr>
              <a:t>MLP architecture / KNN distance-weight search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2960"/>
            <a:ext cx="12188952" cy="1005840"/>
          </a:xfrm>
          <a:prstGeom prst="rect">
            <a:avLst/>
          </a:prstGeom>
        </p:spPr>
      </p:pic>
      <p:pic>
        <p:nvPicPr>
          <p:cNvPr id="3" name="Image 1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0640"/>
            <a:ext cx="12188952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103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48640" y="25603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sz="2600" b="1">
                <a:solidFill>
                  <a:srgbClr val="33404A"/>
                </a:solidFill>
                <a:latin typeface="Bookman Old Style"/>
              </a:rPr>
              <a:t>MEET and Random Forest lead on 8-channel sEMG (&gt; 92%);</a:t>
            </a:r>
            <a:endParaRPr lang="en-US" sz="2600" dirty="0"/>
          </a:p>
          <a:p>
            <a:r>
              <a:rPr sz="2600" b="1">
                <a:solidFill>
                  <a:srgbClr val="33404A"/>
                </a:solidFill>
                <a:latin typeface="Bookman Old Style"/>
              </a:rPr>
              <a:t>on the 2-channel data the raw-signal 1D CNN leads (≈ 92.5%)</a:t>
            </a:r>
          </a:p>
        </p:txBody>
      </p:sp>
      <p:sp>
        <p:nvSpPr>
          <p:cNvPr id="6" name="Text 2"/>
          <p:cNvSpPr/>
          <p:nvPr/>
        </p:nvSpPr>
        <p:spPr>
          <a:xfrm>
            <a:off x="1737360" y="388620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sz="1400">
                <a:solidFill>
                  <a:srgbClr val="78736C"/>
                </a:solidFill>
                <a:latin typeface="Cambria"/>
              </a:rPr>
              <a:t>Well-designed time-domain features make the classical models strong on rich 8-channel data. But on the 2-channel data the ~73% plateau was a limit of the features, not of the channels: a CNN trained on the raw signal reaches ≈ 92.5% and lifts cylindrical from ~55% to 94%. Takeaway — with few channels, learning from the raw signal beats hand-crafted features.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• 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700" b="1" i="0">
                <a:solidFill>
                  <a:srgbClr val="33404A"/>
                </a:solidFill>
                <a:latin typeface="Bookman Old Style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1.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MEET model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Gehlot, N., Jena, A., Kumar, R., Bukya, M. (2024). MEET: Mixture of Experts Extra Tree-Based sEMG Hand Gesture Identification. arXiv:2405.09562.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58568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2.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NinaPro database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Atzori, M. et al. (2014). Electromyography data for non-invasive naturally-controlled robotic hand prostheses. Scientific Data 1:140053. — ninapro.hevs.ch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16935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3.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NinaPro DB5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Pizzolato, S. et al. (2017). Comparison of six EMG acquisition setups on hand movement classification tasks. PLoS ONE 12(10):e0186132.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75303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4.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Time-domain features (RMS/MAV/WL/SSC)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Hudgins, B., Parker, P., Scott, R. N. (1993). A new strategy for multifunction myoelectric control. IEEE Trans. Biomed. Eng. 40(1):82–94.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33671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5.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Random Forest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Breiman, L. (2001). Random Forests. Machine Learning 45(1):5–32.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39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6.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Extra Trees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Geurts, P., Ernst, D., Wehenkel, L. (2006). Extremely randomized trees. Machine Learning 63(1):3–42.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50407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7.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scikit-learn (SVM, RF, ET, KNN, MLP)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Pedregosa, F. et al. (2011). Scikit-learn: Machine Learning in Python. JMLR 12:2825–2830.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Burak Talha Güçlü</dc:creator>
  <cp:lastModifiedBy>Burak Talha Güçlü</cp:lastModifiedBy>
  <cp:revision>1</cp:revision>
  <dcterms:created xsi:type="dcterms:W3CDTF">2026-07-15T13:04:10Z</dcterms:created>
  <dcterms:modified xsi:type="dcterms:W3CDTF">2026-07-15T13:04:10Z</dcterms:modified>
</cp:coreProperties>
</file>