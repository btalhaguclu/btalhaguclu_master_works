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Doğruluk (%)</c:v>
                </c:pt>
              </c:strCache>
            </c:strRef>
          </c:tx>
          <c:spPr>
            <a:solidFill>
              <a:srgbClr val="6B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A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C4A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3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55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CNN</c:v>
                  </c:pt>
                  <c:pt idx="1">
                    <c:v>KNN</c:v>
                  </c:pt>
                  <c:pt idx="2">
                    <c:v>MLP</c:v>
                  </c:pt>
                  <c:pt idx="3">
                    <c:v>SVM</c:v>
                  </c:pt>
                  <c:pt idx="4">
                    <c:v>Random Forest</c:v>
                  </c:pt>
                  <c:pt idx="5">
                    <c:v>MEET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82.7</c:v>
                </c:pt>
                <c:pt idx="1">
                  <c:v>86.06</c:v>
                </c:pt>
                <c:pt idx="2">
                  <c:v>86.35</c:v>
                </c:pt>
                <c:pt idx="3">
                  <c:v>87.65</c:v>
                </c:pt>
                <c:pt idx="4">
                  <c:v>92.88</c:v>
                </c:pt>
                <c:pt idx="5">
                  <c:v>94.74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güncel sürümde pipeline'a iki model daha eklendi: KNN ve MLP. Artık altı modeli aynı veri ve koşullarda karşılaştırıyoruz.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Gündem: problemden veriye, altı modele ve yeni eklenen KNN/MLP'ye; sonra 6-model karşılaştırma ve öneriler.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EMG tabanlı tanıma protez ve rehabilitasyonda kullanılır. Ana zorluk sinyal değişkenliği ve benzer hareketlerin karışmasıdır.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Boru hattı sabit; yalnızca model adımına iki yeni model (KNN, MLP) eklendi. Böylece altı model aynı koşullarda kıyaslanıyor.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 zengin 8 kanallı açık kaynak; özel veri 2 kanallı kendi kaydımız. Kanal sayısı farkı sonuçların ana belirleyicisi.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NinaPro'da 7, özel veride 6 hareket. Silindirik özel veride en çok karışan sınıf olacak.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150 ms pencere, %80 örtüşme; kanal başına RMS/MAV/WL/SSC. Boyut kanal sayısıyla belirleniyor (32 vs 8). İyi öznitelik klasik modellere avantaj sağlıyor.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Altı model: SVM, RF, MEET, CNN önceden vardı; KNN ve MLP bu sürümde eklendi. Hepsi aynı öznitelikler ve bölme ile çalıştırıldı.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 RBF C=10; Random Forest 100 ağaç; MEET Bire-Bir Extra Trees uzmanları. MEET en dengeli sonucu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KNN: k=5 mesafe-tabanlı, basit ama örtüşmeye hassas. MLP: 128 nöronlu tek gizli katman, doğrusal olmayan sınırlar öğrenir, küçük veriyle bile rekabetçi. Aynı koşullarda çalıştırıldı.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Değerlendirme: stratified 80/20, ölçekleme sadece eğitimde, sabit seed 22, normalize confusion matrix. Altı model de bu koşullarda.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NinaPro'da MEET %94,7 ve RF %92,9 lider. Yeni modeller KNN %86,06 ve MLP %86,35, SVM'e yakın, CNN'in üstünde. Sıralama değişmedi.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grafik altı modeli sıralıyor: RF ve MEET lider, MLP/KNN/SVM orta, CNN sonda. İyi öznitelikler klasik modellere avantaj sağlıyor.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NinaPro'da Point sınıfında zayıf (B1↔B7 karışması). MLP daha dengeli; zorlu sınıflarda KNN'i geçiyor.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 veride MLP klasiklerle başa baş (~%71), KNN en zayıf (%67). Silindirik-kapalı karışması tüm modellerde ortak.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silindirikte sadece %48,8; mesafe-tabanlı olduğu için örtüşmeden en çok etkilenen model. MLP esnek sınırıyla %59,6'ya çıkıyor.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KNN/MLP eklemek sıralamayı değiştirmedi ama resmi zenginleştirdi: MLP rekabetçi, KNN en zayıf, silindirik darboğazı tüm modellerde ortak.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Öneriler: en yüksek getiri kanal sayısı; ayrıca k-kat CV, MLP mimari araması, KNN uzaklık ağırlıklandırma, frekans öznitelikleri, daha fazla denek.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Sonuç: MEET/RF lider, MLP rekabetçi, KNN en temel. Silindirik darboğazı tüm modellerde ortak; en önemli adım kanal sayısını artırmak. Teşekkürler.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93853"/>
            <a:ext cx="111732" cy="28701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203149" y="1443973"/>
            <a:ext cx="111732" cy="58677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06298" y="1624530"/>
            <a:ext cx="111732" cy="2256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609448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812597" y="1496053"/>
            <a:ext cx="111732" cy="48261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1015746" y="1436597"/>
            <a:ext cx="111732" cy="60152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218895" y="1685297"/>
            <a:ext cx="111732" cy="10412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422044" y="1668540"/>
            <a:ext cx="111732" cy="13763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625194" y="1388815"/>
            <a:ext cx="111732" cy="69709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343" y="1464699"/>
            <a:ext cx="111732" cy="54532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1492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234641" y="1556936"/>
            <a:ext cx="111732" cy="36084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7790" y="1295429"/>
            <a:ext cx="111732" cy="88386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0940" y="1532109"/>
            <a:ext cx="111732" cy="41050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2844089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047238" y="1398363"/>
            <a:ext cx="111732" cy="67799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250387" y="1250344"/>
            <a:ext cx="111732" cy="97403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453536" y="1625969"/>
            <a:ext cx="111732" cy="22278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6686" y="1661749"/>
            <a:ext cx="111732" cy="15122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3859835" y="1227316"/>
            <a:ext cx="111732" cy="10200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2984" y="1283965"/>
            <a:ext cx="111732" cy="90679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6133" y="1709815"/>
            <a:ext cx="111732" cy="5508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69282" y="1516781"/>
            <a:ext cx="111732" cy="44115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4672432" y="1102294"/>
            <a:ext cx="111732" cy="127013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5581" y="1397956"/>
            <a:ext cx="111732" cy="67880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5078730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5281879" y="1328847"/>
            <a:ext cx="111732" cy="81702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5028" y="1078919"/>
            <a:ext cx="111732" cy="131688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5688178" y="1552320"/>
            <a:ext cx="111732" cy="37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Shape 29"/>
          <p:cNvSpPr/>
          <p:nvPr/>
        </p:nvSpPr>
        <p:spPr>
          <a:xfrm>
            <a:off x="5891327" y="1676460"/>
            <a:ext cx="111732" cy="12179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1164879"/>
            <a:ext cx="111732" cy="114496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6297625" y="1173840"/>
            <a:ext cx="111732" cy="112703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0774" y="1682262"/>
            <a:ext cx="111732" cy="11019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33"/>
          <p:cNvSpPr/>
          <p:nvPr/>
        </p:nvSpPr>
        <p:spPr>
          <a:xfrm>
            <a:off x="6703924" y="1547133"/>
            <a:ext cx="111732" cy="38045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6907073" y="1091072"/>
            <a:ext cx="111732" cy="129257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0222" y="1349551"/>
            <a:ext cx="111732" cy="7756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3371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9" name="Shape 37"/>
          <p:cNvSpPr/>
          <p:nvPr/>
        </p:nvSpPr>
        <p:spPr>
          <a:xfrm>
            <a:off x="7516520" y="1403333"/>
            <a:ext cx="111732" cy="66805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Shape 38"/>
          <p:cNvSpPr/>
          <p:nvPr/>
        </p:nvSpPr>
        <p:spPr>
          <a:xfrm>
            <a:off x="7719670" y="1133434"/>
            <a:ext cx="111732" cy="120785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Shape 39"/>
          <p:cNvSpPr/>
          <p:nvPr/>
        </p:nvSpPr>
        <p:spPr>
          <a:xfrm>
            <a:off x="7922819" y="1535962"/>
            <a:ext cx="111732" cy="4027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2" name="Shape 40"/>
          <p:cNvSpPr/>
          <p:nvPr/>
        </p:nvSpPr>
        <p:spPr>
          <a:xfrm>
            <a:off x="8125968" y="1708002"/>
            <a:ext cx="111732" cy="587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Shape 41"/>
          <p:cNvSpPr/>
          <p:nvPr/>
        </p:nvSpPr>
        <p:spPr>
          <a:xfrm>
            <a:off x="8329117" y="1305310"/>
            <a:ext cx="111732" cy="86409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Shape 42"/>
          <p:cNvSpPr/>
          <p:nvPr/>
        </p:nvSpPr>
        <p:spPr>
          <a:xfrm>
            <a:off x="8532266" y="1265398"/>
            <a:ext cx="111732" cy="94392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8735416" y="1671766"/>
            <a:ext cx="111732" cy="13118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Shape 44"/>
          <p:cNvSpPr/>
          <p:nvPr/>
        </p:nvSpPr>
        <p:spPr>
          <a:xfrm>
            <a:off x="8938565" y="1628401"/>
            <a:ext cx="111732" cy="21791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7" name="Shape 45"/>
          <p:cNvSpPr/>
          <p:nvPr/>
        </p:nvSpPr>
        <p:spPr>
          <a:xfrm>
            <a:off x="9141714" y="1283701"/>
            <a:ext cx="111732" cy="90731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Shape 46"/>
          <p:cNvSpPr/>
          <p:nvPr/>
        </p:nvSpPr>
        <p:spPr>
          <a:xfrm>
            <a:off x="9344863" y="1430343"/>
            <a:ext cx="111732" cy="61403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9" name="Shape 47"/>
          <p:cNvSpPr/>
          <p:nvPr/>
        </p:nvSpPr>
        <p:spPr>
          <a:xfrm>
            <a:off x="9548012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0" name="Shape 48"/>
          <p:cNvSpPr/>
          <p:nvPr/>
        </p:nvSpPr>
        <p:spPr>
          <a:xfrm>
            <a:off x="9751162" y="1542587"/>
            <a:ext cx="111732" cy="38954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1" name="Shape 49"/>
          <p:cNvSpPr/>
          <p:nvPr/>
        </p:nvSpPr>
        <p:spPr>
          <a:xfrm>
            <a:off x="9954311" y="1330781"/>
            <a:ext cx="111732" cy="81315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7460" y="1576520"/>
            <a:ext cx="111732" cy="32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3" name="Shape 51"/>
          <p:cNvSpPr/>
          <p:nvPr/>
        </p:nvSpPr>
        <p:spPr>
          <a:xfrm>
            <a:off x="10360609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4" name="Shape 52"/>
          <p:cNvSpPr/>
          <p:nvPr/>
        </p:nvSpPr>
        <p:spPr>
          <a:xfrm>
            <a:off x="10563758" y="1481126"/>
            <a:ext cx="111732" cy="51246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5" name="Shape 53"/>
          <p:cNvSpPr/>
          <p:nvPr/>
        </p:nvSpPr>
        <p:spPr>
          <a:xfrm>
            <a:off x="10766908" y="1417344"/>
            <a:ext cx="111732" cy="64003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70057" y="1677069"/>
            <a:ext cx="111732" cy="12058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7" name="Shape 55"/>
          <p:cNvSpPr/>
          <p:nvPr/>
        </p:nvSpPr>
        <p:spPr>
          <a:xfrm>
            <a:off x="11173206" y="1685680"/>
            <a:ext cx="111732" cy="1033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8" name="Shape 56"/>
          <p:cNvSpPr/>
          <p:nvPr/>
        </p:nvSpPr>
        <p:spPr>
          <a:xfrm>
            <a:off x="11376355" y="1453747"/>
            <a:ext cx="111732" cy="56722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9" name="Shape 57"/>
          <p:cNvSpPr/>
          <p:nvPr/>
        </p:nvSpPr>
        <p:spPr>
          <a:xfrm>
            <a:off x="11579504" y="1514557"/>
            <a:ext cx="111732" cy="44560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0" name="Shape 58"/>
          <p:cNvSpPr/>
          <p:nvPr/>
        </p:nvSpPr>
        <p:spPr>
          <a:xfrm>
            <a:off x="11782654" y="172364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1" name="Shape 59"/>
          <p:cNvSpPr/>
          <p:nvPr/>
        </p:nvSpPr>
        <p:spPr>
          <a:xfrm>
            <a:off x="11985803" y="1626704"/>
            <a:ext cx="111732" cy="22131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5078140"/>
            <a:ext cx="111732" cy="26788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3" name="Shape 61"/>
          <p:cNvSpPr/>
          <p:nvPr/>
        </p:nvSpPr>
        <p:spPr>
          <a:xfrm>
            <a:off x="203149" y="4938252"/>
            <a:ext cx="111732" cy="54765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4" name="Shape 62"/>
          <p:cNvSpPr/>
          <p:nvPr/>
        </p:nvSpPr>
        <p:spPr>
          <a:xfrm>
            <a:off x="406298" y="5106772"/>
            <a:ext cx="111732" cy="21061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5" name="Shape 63"/>
          <p:cNvSpPr/>
          <p:nvPr/>
        </p:nvSpPr>
        <p:spPr>
          <a:xfrm>
            <a:off x="609448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6" name="Shape 64"/>
          <p:cNvSpPr/>
          <p:nvPr/>
        </p:nvSpPr>
        <p:spPr>
          <a:xfrm>
            <a:off x="812597" y="4986860"/>
            <a:ext cx="111732" cy="45044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15746" y="4931368"/>
            <a:ext cx="111732" cy="56142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8" name="Shape 66"/>
          <p:cNvSpPr/>
          <p:nvPr/>
        </p:nvSpPr>
        <p:spPr>
          <a:xfrm>
            <a:off x="1218895" y="5163488"/>
            <a:ext cx="111732" cy="9718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9" name="Shape 67"/>
          <p:cNvSpPr/>
          <p:nvPr/>
        </p:nvSpPr>
        <p:spPr>
          <a:xfrm>
            <a:off x="1422044" y="5147848"/>
            <a:ext cx="111732" cy="12846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0" name="Shape 68"/>
          <p:cNvSpPr/>
          <p:nvPr/>
        </p:nvSpPr>
        <p:spPr>
          <a:xfrm>
            <a:off x="1625194" y="4886771"/>
            <a:ext cx="111732" cy="65061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1" name="Shape 69"/>
          <p:cNvSpPr/>
          <p:nvPr/>
        </p:nvSpPr>
        <p:spPr>
          <a:xfrm>
            <a:off x="1828343" y="4957597"/>
            <a:ext cx="111732" cy="50896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2" name="Shape 70"/>
          <p:cNvSpPr/>
          <p:nvPr/>
        </p:nvSpPr>
        <p:spPr>
          <a:xfrm>
            <a:off x="2031492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3" name="Shape 71"/>
          <p:cNvSpPr/>
          <p:nvPr/>
        </p:nvSpPr>
        <p:spPr>
          <a:xfrm>
            <a:off x="2234641" y="5043684"/>
            <a:ext cx="111732" cy="3367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4" name="Shape 72"/>
          <p:cNvSpPr/>
          <p:nvPr/>
        </p:nvSpPr>
        <p:spPr>
          <a:xfrm>
            <a:off x="2437790" y="4799611"/>
            <a:ext cx="111732" cy="82493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5" name="Shape 73"/>
          <p:cNvSpPr/>
          <p:nvPr/>
        </p:nvSpPr>
        <p:spPr>
          <a:xfrm>
            <a:off x="2640940" y="5020512"/>
            <a:ext cx="111732" cy="38313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6" name="Shape 74"/>
          <p:cNvSpPr/>
          <p:nvPr/>
        </p:nvSpPr>
        <p:spPr>
          <a:xfrm>
            <a:off x="2844089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7" name="Shape 75"/>
          <p:cNvSpPr/>
          <p:nvPr/>
        </p:nvSpPr>
        <p:spPr>
          <a:xfrm>
            <a:off x="3047238" y="4895683"/>
            <a:ext cx="111732" cy="63279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8" name="Shape 76"/>
          <p:cNvSpPr/>
          <p:nvPr/>
        </p:nvSpPr>
        <p:spPr>
          <a:xfrm>
            <a:off x="3250387" y="4757531"/>
            <a:ext cx="111732" cy="90909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9" name="Shape 77"/>
          <p:cNvSpPr/>
          <p:nvPr/>
        </p:nvSpPr>
        <p:spPr>
          <a:xfrm>
            <a:off x="3453536" y="5108115"/>
            <a:ext cx="111732" cy="20793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0" name="Shape 78"/>
          <p:cNvSpPr/>
          <p:nvPr/>
        </p:nvSpPr>
        <p:spPr>
          <a:xfrm>
            <a:off x="3656686" y="5141509"/>
            <a:ext cx="111732" cy="14114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1" name="Shape 79"/>
          <p:cNvSpPr/>
          <p:nvPr/>
        </p:nvSpPr>
        <p:spPr>
          <a:xfrm>
            <a:off x="3859835" y="4736039"/>
            <a:ext cx="111732" cy="95208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2" name="Shape 80"/>
          <p:cNvSpPr/>
          <p:nvPr/>
        </p:nvSpPr>
        <p:spPr>
          <a:xfrm>
            <a:off x="4062984" y="4788911"/>
            <a:ext cx="111732" cy="84633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3" name="Shape 81"/>
          <p:cNvSpPr/>
          <p:nvPr/>
        </p:nvSpPr>
        <p:spPr>
          <a:xfrm>
            <a:off x="4266133" y="5186372"/>
            <a:ext cx="111732" cy="5141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4" name="Shape 82"/>
          <p:cNvSpPr/>
          <p:nvPr/>
        </p:nvSpPr>
        <p:spPr>
          <a:xfrm>
            <a:off x="4469282" y="5006206"/>
            <a:ext cx="111732" cy="41174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5" name="Shape 83"/>
          <p:cNvSpPr/>
          <p:nvPr/>
        </p:nvSpPr>
        <p:spPr>
          <a:xfrm>
            <a:off x="4672432" y="4619352"/>
            <a:ext cx="111732" cy="118545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6" name="Shape 84"/>
          <p:cNvSpPr/>
          <p:nvPr/>
        </p:nvSpPr>
        <p:spPr>
          <a:xfrm>
            <a:off x="4875581" y="4895303"/>
            <a:ext cx="111732" cy="63355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7" name="Shape 85"/>
          <p:cNvSpPr/>
          <p:nvPr/>
        </p:nvSpPr>
        <p:spPr>
          <a:xfrm>
            <a:off x="5078730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8" name="Shape 86"/>
          <p:cNvSpPr/>
          <p:nvPr/>
        </p:nvSpPr>
        <p:spPr>
          <a:xfrm>
            <a:off x="5281879" y="4830802"/>
            <a:ext cx="111732" cy="76255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9" name="Shape 87"/>
          <p:cNvSpPr/>
          <p:nvPr/>
        </p:nvSpPr>
        <p:spPr>
          <a:xfrm>
            <a:off x="5485028" y="4597535"/>
            <a:ext cx="111732" cy="122908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0" name="Shape 88"/>
          <p:cNvSpPr/>
          <p:nvPr/>
        </p:nvSpPr>
        <p:spPr>
          <a:xfrm>
            <a:off x="5688178" y="5039376"/>
            <a:ext cx="111732" cy="34540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1" name="Shape 89"/>
          <p:cNvSpPr/>
          <p:nvPr/>
        </p:nvSpPr>
        <p:spPr>
          <a:xfrm>
            <a:off x="5891327" y="5155240"/>
            <a:ext cx="111732" cy="11367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2" name="Shape 90"/>
          <p:cNvSpPr/>
          <p:nvPr/>
        </p:nvSpPr>
        <p:spPr>
          <a:xfrm>
            <a:off x="6094476" y="4677764"/>
            <a:ext cx="111732" cy="106863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3" name="Shape 91"/>
          <p:cNvSpPr/>
          <p:nvPr/>
        </p:nvSpPr>
        <p:spPr>
          <a:xfrm>
            <a:off x="6297625" y="4686128"/>
            <a:ext cx="111732" cy="105190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4" name="Shape 92"/>
          <p:cNvSpPr/>
          <p:nvPr/>
        </p:nvSpPr>
        <p:spPr>
          <a:xfrm>
            <a:off x="6500774" y="5160656"/>
            <a:ext cx="111732" cy="10284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5" name="Shape 93"/>
          <p:cNvSpPr/>
          <p:nvPr/>
        </p:nvSpPr>
        <p:spPr>
          <a:xfrm>
            <a:off x="6703924" y="5034535"/>
            <a:ext cx="111732" cy="35509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6" name="Shape 94"/>
          <p:cNvSpPr/>
          <p:nvPr/>
        </p:nvSpPr>
        <p:spPr>
          <a:xfrm>
            <a:off x="6907073" y="4608878"/>
            <a:ext cx="111732" cy="120640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7" name="Shape 95"/>
          <p:cNvSpPr/>
          <p:nvPr/>
        </p:nvSpPr>
        <p:spPr>
          <a:xfrm>
            <a:off x="7110222" y="4850125"/>
            <a:ext cx="111732" cy="72391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8" name="Shape 96"/>
          <p:cNvSpPr/>
          <p:nvPr/>
        </p:nvSpPr>
        <p:spPr>
          <a:xfrm>
            <a:off x="7313371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9" name="Shape 97"/>
          <p:cNvSpPr/>
          <p:nvPr/>
        </p:nvSpPr>
        <p:spPr>
          <a:xfrm>
            <a:off x="7516520" y="4900321"/>
            <a:ext cx="111732" cy="62351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0" name="Shape 98"/>
          <p:cNvSpPr/>
          <p:nvPr/>
        </p:nvSpPr>
        <p:spPr>
          <a:xfrm>
            <a:off x="7719670" y="4648415"/>
            <a:ext cx="111732" cy="112732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1" name="Shape 99"/>
          <p:cNvSpPr/>
          <p:nvPr/>
        </p:nvSpPr>
        <p:spPr>
          <a:xfrm>
            <a:off x="7922819" y="5024108"/>
            <a:ext cx="111732" cy="37594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125968" y="5184679"/>
            <a:ext cx="111732" cy="5480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329117" y="4808834"/>
            <a:ext cx="111732" cy="8064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532266" y="4771582"/>
            <a:ext cx="111732" cy="88099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735416" y="5150859"/>
            <a:ext cx="111732" cy="12244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938565" y="5110385"/>
            <a:ext cx="111732" cy="20339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141714" y="4788665"/>
            <a:ext cx="111732" cy="84683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344863" y="4925530"/>
            <a:ext cx="111732" cy="57309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548012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751162" y="5030291"/>
            <a:ext cx="111732" cy="36357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954311" y="4832607"/>
            <a:ext cx="111732" cy="75894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157460" y="5061963"/>
            <a:ext cx="111732" cy="30023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360609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563758" y="4972929"/>
            <a:ext cx="111732" cy="47830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766908" y="4913398"/>
            <a:ext cx="111732" cy="59736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970057" y="5155808"/>
            <a:ext cx="111732" cy="11254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173206" y="5163846"/>
            <a:ext cx="111732" cy="9646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376355" y="4947375"/>
            <a:ext cx="111732" cy="52941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579504" y="5004130"/>
            <a:ext cx="111732" cy="41590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782654" y="51983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985803" y="5108801"/>
            <a:ext cx="111732" cy="20655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22" name="Text 120"/>
          <p:cNvSpPr/>
          <p:nvPr/>
        </p:nvSpPr>
        <p:spPr>
          <a:xfrm>
            <a:off x="548640" y="2286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TABANLI EMG SİNYALLERİ İLE</a:t>
            </a:r>
            <a:endParaRPr lang="en-US" sz="1600" dirty="0"/>
          </a:p>
        </p:txBody>
      </p:sp>
      <p:sp>
        <p:nvSpPr>
          <p:cNvPr id="123" name="Text 121"/>
          <p:cNvSpPr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Hareketi Sınıflandırma Analizi</a:t>
            </a:r>
            <a:endParaRPr lang="en-US" sz="4200" dirty="0"/>
          </a:p>
        </p:txBody>
      </p:sp>
      <p:sp>
        <p:nvSpPr>
          <p:cNvPr id="124" name="Text 122"/>
          <p:cNvSpPr/>
          <p:nvPr/>
        </p:nvSpPr>
        <p:spPr>
          <a:xfrm>
            <a:off x="548640" y="3657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 Karşılaştırması: SVM · Random Forest · MEET · 1B CNN · KNN · MLP</a:t>
            </a:r>
            <a:endParaRPr lang="en-US" sz="1500" dirty="0"/>
          </a:p>
        </p:txBody>
      </p:sp>
      <p:sp>
        <p:nvSpPr>
          <p:cNvPr id="125" name="Text 12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Burak Talha Güçlü  |  Yüksek Lisans Tez Çalışması  ·  Güncel Sürüm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Akışı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50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Motivasyon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4516" y="18150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54596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Setleri &amp; Hareketler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7294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İşleme &amp; Öznitelikler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7356" y="26060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4516" y="27294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54596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6 yaklaşım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643884"/>
            <a:ext cx="502920" cy="502920"/>
          </a:xfrm>
          <a:prstGeom prst="ellipse">
            <a:avLst/>
          </a:prstGeom>
          <a:solidFill>
            <a:srgbClr val="6C4AB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ve MLP (yeni)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7356" y="35204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4516" y="36438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14516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4596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Yöntemi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" y="45582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&amp; 6-Model Karşılaştırma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77356" y="44348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14516" y="45582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414516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54596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Bazlı Analiz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54726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Sorunlar &amp; Öneriler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77356" y="5349240"/>
            <a:ext cx="5362956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14516" y="54726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/>
          <p:nvPr/>
        </p:nvSpPr>
        <p:spPr>
          <a:xfrm>
            <a:off x="6414516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54596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MOTİVASYON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EMG ile El Hareketi Tanıma?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(elektromiyografi)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kaslardan üretilen elektriksel aktiviteyi ölçer. Ön koldaki sinyallerden hangi el hareketinin yapıldığını çözmek; protez kontrolü, rehabilitasyon ve insan–makine arayüzleri için kritiktir.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337413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2735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 el kontrolü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584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Ampute bireyler için doğal kontrol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424281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1422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Rehabilitasyon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453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aktivasyonu takibi ve terapi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852160" cy="749808"/>
          </a:xfrm>
          <a:prstGeom prst="roundRect">
            <a:avLst>
              <a:gd name="adj" fmla="val 1097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511149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İnsan–makine arayüzü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321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Dokunmadan komut/etkileşim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4754880" cy="4206240"/>
          </a:xfrm>
          <a:prstGeom prst="roundRect">
            <a:avLst>
              <a:gd name="adj" fmla="val 195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ZORLUK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2860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sinyali kişiden kişiye değişir. 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 kavramalar (silindirik ↔ kapalı) çok yakın kas aktivasyonu üretir.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Ayırt edici özniteliklerin ve doğru modelin seçimi bu yüzden belirleyicidir.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Çalışmanın İşlem Hattı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boru hattı iki veri setine ve altı modele uygulanır → adil karşılaştırma.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3564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83564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EMG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21408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52421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87345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2987345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07285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Pencereleme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07285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5189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356202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1126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112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1106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11066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RMS·MAV·WL·SSC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2897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59982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94906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79490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14846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14846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3275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63763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12557A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98687" y="2542032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1" name="Text 29"/>
          <p:cNvSpPr/>
          <p:nvPr/>
        </p:nvSpPr>
        <p:spPr>
          <a:xfrm>
            <a:off x="8698687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18627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18627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SVM·RF·MEET·CNN·KNN·MLP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36531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10067544" y="2834640"/>
            <a:ext cx="1572768" cy="13716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602468" y="2542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0246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22408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122408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+ matris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Yeni: model adımına KNN ve MLP eklendi.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SETLERİ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Tamamlayıcı Veri Seti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DB5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kıyaslama veri tabanı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(Myo kol bandı)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S2, S5, S10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sınıf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Hz → 1000 Hz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boyut/pencere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19.591 pencere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6792" y="1600200"/>
            <a:ext cx="52120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12557A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Veri (Ecem &amp; Selman)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maliyetli 2 kanallı kayıt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05672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05672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Ecem, Selman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1112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05672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sınıf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05672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Hz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1112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05672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boyut/pencere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11112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05672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81.275 pencere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Seçilen El Hareketleri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NinaPro (7)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up (B1)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688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 (B2)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9718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(B5)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4747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(B6)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9776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(B7)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4805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(C5)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9834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(C14)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Veri (6)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196596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19659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46888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24688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297180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29718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47472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37960" y="34747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97764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FDF0D8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37960" y="39776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cylindrical  — en çok karışan sınıf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4480560"/>
            <a:ext cx="5349240" cy="420624"/>
          </a:xfrm>
          <a:prstGeom prst="roundRect">
            <a:avLst>
              <a:gd name="adj" fmla="val 19565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37960" y="44805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 İşleme ve Öznitelikler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2194560"/>
          </a:xfrm>
          <a:prstGeom prst="roundRect">
            <a:avLst>
              <a:gd name="adj" fmla="val 375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 İşleme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ms kayan pencere, %80 örtüşme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NinaPro: 200→1000 Hz yükseltme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veri: onset (eşik 435) tespiti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00200"/>
            <a:ext cx="5212080" cy="2194560"/>
          </a:xfrm>
          <a:prstGeom prst="roundRect">
            <a:avLst>
              <a:gd name="adj" fmla="val 375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11112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Öznitelikler (kanal başına 4)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2194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— kas gücü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 — genlik / yoğunluk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 — sinyal karmaşıklığı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— frekans içeriği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2062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 boyutu = kanal × 4   →   </a:t>
            </a:r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NinaPro 32</a:t>
            </a:r>
            <a:pPr indent="0" marL="0">
              <a:buNone/>
            </a:pPr>
            <a:r>
              <a:rPr lang="en-US" sz="16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veri 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09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dört zaman-uzayı özniteliği, kas aktivasyonunun genlik ve frekans karakteristiğini düşük maliyetle özetler; klasik modellerin gücünün temel nedeni budur.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Karşılaştırılan Altı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4884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çekirdek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12557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9788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ağaç topluluğu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4692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 + Extra Trees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4884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evrişimli ağ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6C4AB6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89788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komşu (yeni)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F4A300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4692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1×128 sinir ağı (yeni)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dört model önceki çalışmadan; KNN ve MLP bu sürümde eklendi.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Klasik &amp; Topluluk Modelleri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çekirdek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C=10, gamma='scale'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boyutta güçlü sınır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691640"/>
            <a:ext cx="3520440" cy="685800"/>
          </a:xfrm>
          <a:prstGeom prst="roundRect">
            <a:avLst>
              <a:gd name="adj" fmla="val 12000"/>
            </a:avLst>
          </a:prstGeom>
          <a:solidFill>
            <a:srgbClr val="12557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91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51460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karar ağacı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Gürültüye dayanıklı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Öznitelik önemi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691640"/>
            <a:ext cx="3520440" cy="6858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691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51460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 ikili uzmanlar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temel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 çiftleri ayırır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DETAYI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Modeller: KNN ve MLP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6C4A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k-En Yakın Komşu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5, Öklid uzaklığı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yok; mesafeye göre oy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ve yorumlanabilir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örtüşmesine ve gürültüye hassas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21208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1691640"/>
            <a:ext cx="5212080" cy="6858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6916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— Çok Katmanlı Algılayıcı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1112" y="251460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gizli katman: 128 ReLU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çıktı, ileri-besleme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olmayan sınırlar öğrenir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veriyle bile rekabetçi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51663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Kurulum: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 de aynı %80/20 katmanlı bölme, aynı öznitelikler ve tohum (22) ile çalıştırıldı — diğer dört modelle doğrudan karşılaştırılabilir.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 Yöntemi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979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979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836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/ %20 bölme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88366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dağılımını koruyan (stratified) ayrım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306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306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Ölçekleme yalnız eğitimde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81635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 yok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94176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8633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63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49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tohum (22)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749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modellerde tekrarlanabilirlik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26864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7960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960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6817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68172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+ normalize confusion matrix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 — NinaPro (6 Model)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%94,74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505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4505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%92,88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1638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16382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%87,65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770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(1×128) — yeni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8770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%86,35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5902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 — yeni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45902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%86,06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5486400" cy="658368"/>
          </a:xfrm>
          <a:prstGeom prst="roundRect">
            <a:avLst>
              <a:gd name="adj" fmla="val 125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53035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CNN (ham)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5303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6B7A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~%82,7</a:t>
            </a:r>
            <a:endParaRPr lang="en-US" sz="1800" dirty="0"/>
          </a:p>
        </p:txBody>
      </p:sp>
      <p:pic>
        <p:nvPicPr>
          <p:cNvPr id="22" name="Image 0" descr="/sessions/relaxed-adoring-bohr/mnt/btalhaguclu_master_works/outputs/ninapro/MEET_4s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00200"/>
            <a:ext cx="5303520" cy="4206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35508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ve MLP (~%86) SVM'e yakın; RF ve MEET hâlâ lider.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— 6 Model Karşılaştırması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209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Topluluk/uzman (RF, MEET) en yüksek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≈ KNN ≈ SVM orta grup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 geride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öznitelikler klasik modelleri güçlü kılıyor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Modeller — NinaPro Karmaşıklık Matrisleri</a:t>
            </a:r>
            <a:endParaRPr lang="en-US" sz="3000" dirty="0"/>
          </a:p>
        </p:txBody>
      </p:sp>
      <p:pic>
        <p:nvPicPr>
          <p:cNvPr id="4" name="Image 0" descr="/sessions/relaxed-adoring-bohr/mnt/btalhaguclu_master_works/outputs/ninapro/KNN_4s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577840" cy="429768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ninapro/MLP_4sbj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57784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 — Point/B7 en zayıf (%77)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(1×128) — daha dengeli profil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Sonuçlar — Özel Veri (6 sınıf)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2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klasiklerle aynı (~%71); KNN en zayıf (%67).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darboğaz yine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silindirik ↔ kapalı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688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46888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%71,63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145536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1455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14553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255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%71,19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822192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822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82219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%70,93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498848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4988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(1×128) — yeni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449884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%70,92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5175504"/>
            <a:ext cx="5486400" cy="603504"/>
          </a:xfrm>
          <a:prstGeom prst="roundRect">
            <a:avLst>
              <a:gd name="adj" fmla="val 136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175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 — yeni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517550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%67,09</a:t>
            </a:r>
            <a:endParaRPr lang="en-US" sz="1700" dirty="0"/>
          </a:p>
        </p:txBody>
      </p:sp>
      <p:pic>
        <p:nvPicPr>
          <p:cNvPr id="20" name="Image 0" descr="/sessions/relaxed-adoring-bohr/mnt/btalhaguclu_master_works/outputs/custom/sv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00200"/>
            <a:ext cx="5303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Modeller — Özel Veri Karmaşıklık Matrisleri</a:t>
            </a:r>
            <a:endParaRPr lang="en-US" sz="3000" dirty="0"/>
          </a:p>
        </p:txBody>
      </p:sp>
      <p:pic>
        <p:nvPicPr>
          <p:cNvPr id="4" name="Image 0" descr="/sessions/relaxed-adoring-bohr/mnt/btalhaguclu_master_works/outputs/custom/k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5577840" cy="420624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custom/ml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554480"/>
            <a:ext cx="557784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silindirik yalnız %48,8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06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— silindirik %59,6 (daha iyi)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Karşılaştırmalı Analiz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4708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 değişti mi?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Hayır — NinaPro'da RF ve MEET lider olmayı sürdürdü. Yeni modeller mevcut resmi doğruladı.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52928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962656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neden rekabetçi?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328416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öznitelikler sayesinde küçük bir sinir ağı bile klasik modellerle yarışabildi; büyük veri gerektirmedi.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68496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6C4AB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78224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neden en zayıf?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443984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Mesafe-tabanlı olması, silindirik–kapalı örtüşme bölgesinde onu en kırılgan model yapıyor.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084064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F4A30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19379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Değişmeyen darboğaz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55595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Silindirik ↔ kapalı karışması altı modelin tamamında var — sorun modelde değil, 2 kanalın fiziksel sınırında.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İLERİ ADIMLAR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Öneriler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 sayısını artır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Silindirik/kapalı ayrımı için en yüksek getiri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k-kat çapraz doğrulama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49440" y="23042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modellerde daha güvenilir doğruluk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558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729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mimari/derinlik araması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6027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ama gerçek kazanç sağlayabilir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035808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3558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31729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uzaklık ağırlıklı + k taraması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49440" y="36027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Örtüşme etkisini azaltabilir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DCE7EE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6542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4714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Frekans-uzayı öznitelikleri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49011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 kavramaları ayırmaya yardımcı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4334256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B8C6D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465429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49440" y="447141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 denek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49440" y="49011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Genellemeyi güçlendirir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20642"/>
            <a:ext cx="111732" cy="21047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" name="Shape 1"/>
          <p:cNvSpPr/>
          <p:nvPr/>
        </p:nvSpPr>
        <p:spPr>
          <a:xfrm>
            <a:off x="203149" y="1110729"/>
            <a:ext cx="111732" cy="43030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" name="Shape 2"/>
          <p:cNvSpPr/>
          <p:nvPr/>
        </p:nvSpPr>
        <p:spPr>
          <a:xfrm>
            <a:off x="406298" y="1243138"/>
            <a:ext cx="111732" cy="16548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" name="Shape 3"/>
          <p:cNvSpPr/>
          <p:nvPr/>
        </p:nvSpPr>
        <p:spPr>
          <a:xfrm>
            <a:off x="609448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" name="Shape 4"/>
          <p:cNvSpPr/>
          <p:nvPr/>
        </p:nvSpPr>
        <p:spPr>
          <a:xfrm>
            <a:off x="812597" y="1148921"/>
            <a:ext cx="111732" cy="35391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7" name="Shape 5"/>
          <p:cNvSpPr/>
          <p:nvPr/>
        </p:nvSpPr>
        <p:spPr>
          <a:xfrm>
            <a:off x="1015746" y="1105321"/>
            <a:ext cx="111732" cy="44111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8" name="Shape 6"/>
          <p:cNvSpPr/>
          <p:nvPr/>
        </p:nvSpPr>
        <p:spPr>
          <a:xfrm>
            <a:off x="1218895" y="1287701"/>
            <a:ext cx="111732" cy="7635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9" name="Shape 7"/>
          <p:cNvSpPr/>
          <p:nvPr/>
        </p:nvSpPr>
        <p:spPr>
          <a:xfrm>
            <a:off x="1422044" y="1275412"/>
            <a:ext cx="111732" cy="10093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0" name="Shape 8"/>
          <p:cNvSpPr/>
          <p:nvPr/>
        </p:nvSpPr>
        <p:spPr>
          <a:xfrm>
            <a:off x="1625194" y="1070280"/>
            <a:ext cx="111732" cy="51120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343" y="1125929"/>
            <a:ext cx="111732" cy="39990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1492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3" name="Shape 11"/>
          <p:cNvSpPr/>
          <p:nvPr/>
        </p:nvSpPr>
        <p:spPr>
          <a:xfrm>
            <a:off x="2234641" y="1193569"/>
            <a:ext cx="111732" cy="26462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7790" y="1001797"/>
            <a:ext cx="111732" cy="64816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5" name="Shape 13"/>
          <p:cNvSpPr/>
          <p:nvPr/>
        </p:nvSpPr>
        <p:spPr>
          <a:xfrm>
            <a:off x="2640940" y="1175363"/>
            <a:ext cx="111732" cy="30103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6" name="Shape 14"/>
          <p:cNvSpPr/>
          <p:nvPr/>
        </p:nvSpPr>
        <p:spPr>
          <a:xfrm>
            <a:off x="2844089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7" name="Shape 15"/>
          <p:cNvSpPr/>
          <p:nvPr/>
        </p:nvSpPr>
        <p:spPr>
          <a:xfrm>
            <a:off x="3047238" y="1077283"/>
            <a:ext cx="111732" cy="49719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8" name="Shape 16"/>
          <p:cNvSpPr/>
          <p:nvPr/>
        </p:nvSpPr>
        <p:spPr>
          <a:xfrm>
            <a:off x="3250387" y="968735"/>
            <a:ext cx="111732" cy="71429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19" name="Shape 17"/>
          <p:cNvSpPr/>
          <p:nvPr/>
        </p:nvSpPr>
        <p:spPr>
          <a:xfrm>
            <a:off x="3453536" y="1244193"/>
            <a:ext cx="111732" cy="16337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6686" y="1270432"/>
            <a:ext cx="111732" cy="11089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1" name="Shape 19"/>
          <p:cNvSpPr/>
          <p:nvPr/>
        </p:nvSpPr>
        <p:spPr>
          <a:xfrm>
            <a:off x="3859835" y="951848"/>
            <a:ext cx="111732" cy="74806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2984" y="993390"/>
            <a:ext cx="111732" cy="66498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6133" y="1305681"/>
            <a:ext cx="111732" cy="4039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4" name="Shape 22"/>
          <p:cNvSpPr/>
          <p:nvPr/>
        </p:nvSpPr>
        <p:spPr>
          <a:xfrm>
            <a:off x="4469282" y="1164122"/>
            <a:ext cx="111732" cy="32351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5" name="Shape 23"/>
          <p:cNvSpPr/>
          <p:nvPr/>
        </p:nvSpPr>
        <p:spPr>
          <a:xfrm>
            <a:off x="4672432" y="860165"/>
            <a:ext cx="111732" cy="93143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5581" y="1076984"/>
            <a:ext cx="111732" cy="4977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7" name="Shape 25"/>
          <p:cNvSpPr/>
          <p:nvPr/>
        </p:nvSpPr>
        <p:spPr>
          <a:xfrm>
            <a:off x="5078730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8" name="Shape 26"/>
          <p:cNvSpPr/>
          <p:nvPr/>
        </p:nvSpPr>
        <p:spPr>
          <a:xfrm>
            <a:off x="5281879" y="1026304"/>
            <a:ext cx="111732" cy="59915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5028" y="843024"/>
            <a:ext cx="111732" cy="96571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0" name="Shape 28"/>
          <p:cNvSpPr/>
          <p:nvPr/>
        </p:nvSpPr>
        <p:spPr>
          <a:xfrm>
            <a:off x="5688178" y="1190184"/>
            <a:ext cx="111732" cy="2713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1" name="Shape 29"/>
          <p:cNvSpPr/>
          <p:nvPr/>
        </p:nvSpPr>
        <p:spPr>
          <a:xfrm>
            <a:off x="5891327" y="1281220"/>
            <a:ext cx="111732" cy="8932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906061"/>
            <a:ext cx="111732" cy="83963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3" name="Shape 31"/>
          <p:cNvSpPr/>
          <p:nvPr/>
        </p:nvSpPr>
        <p:spPr>
          <a:xfrm>
            <a:off x="6297625" y="912632"/>
            <a:ext cx="111732" cy="82649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4" name="Shape 32"/>
          <p:cNvSpPr/>
          <p:nvPr/>
        </p:nvSpPr>
        <p:spPr>
          <a:xfrm>
            <a:off x="6500774" y="1285475"/>
            <a:ext cx="111732" cy="8081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5" name="Shape 33"/>
          <p:cNvSpPr/>
          <p:nvPr/>
        </p:nvSpPr>
        <p:spPr>
          <a:xfrm>
            <a:off x="6703924" y="1186380"/>
            <a:ext cx="111732" cy="279000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6" name="Shape 34"/>
          <p:cNvSpPr/>
          <p:nvPr/>
        </p:nvSpPr>
        <p:spPr>
          <a:xfrm>
            <a:off x="6907073" y="851936"/>
            <a:ext cx="111732" cy="94788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0222" y="1041487"/>
            <a:ext cx="111732" cy="568786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3371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39" name="Shape 37"/>
          <p:cNvSpPr/>
          <p:nvPr/>
        </p:nvSpPr>
        <p:spPr>
          <a:xfrm>
            <a:off x="7516520" y="1080927"/>
            <a:ext cx="111732" cy="48990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0" name="Shape 38"/>
          <p:cNvSpPr/>
          <p:nvPr/>
        </p:nvSpPr>
        <p:spPr>
          <a:xfrm>
            <a:off x="7719670" y="883001"/>
            <a:ext cx="111732" cy="88575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1" name="Shape 39"/>
          <p:cNvSpPr/>
          <p:nvPr/>
        </p:nvSpPr>
        <p:spPr>
          <a:xfrm>
            <a:off x="7922819" y="1178188"/>
            <a:ext cx="111732" cy="295384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2" name="Shape 40"/>
          <p:cNvSpPr/>
          <p:nvPr/>
        </p:nvSpPr>
        <p:spPr>
          <a:xfrm>
            <a:off x="8125968" y="1304351"/>
            <a:ext cx="111732" cy="4305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3" name="Shape 41"/>
          <p:cNvSpPr/>
          <p:nvPr/>
        </p:nvSpPr>
        <p:spPr>
          <a:xfrm>
            <a:off x="8329117" y="1009044"/>
            <a:ext cx="111732" cy="633673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4" name="Shape 42"/>
          <p:cNvSpPr/>
          <p:nvPr/>
        </p:nvSpPr>
        <p:spPr>
          <a:xfrm>
            <a:off x="8532266" y="979775"/>
            <a:ext cx="111732" cy="692211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5" name="Shape 43"/>
          <p:cNvSpPr/>
          <p:nvPr/>
        </p:nvSpPr>
        <p:spPr>
          <a:xfrm>
            <a:off x="8735416" y="1277777"/>
            <a:ext cx="111732" cy="9620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6" name="Shape 44"/>
          <p:cNvSpPr/>
          <p:nvPr/>
        </p:nvSpPr>
        <p:spPr>
          <a:xfrm>
            <a:off x="8938565" y="1245977"/>
            <a:ext cx="111732" cy="15980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7" name="Shape 45"/>
          <p:cNvSpPr/>
          <p:nvPr/>
        </p:nvSpPr>
        <p:spPr>
          <a:xfrm>
            <a:off x="9141714" y="993197"/>
            <a:ext cx="111732" cy="66536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8" name="Shape 46"/>
          <p:cNvSpPr/>
          <p:nvPr/>
        </p:nvSpPr>
        <p:spPr>
          <a:xfrm>
            <a:off x="9344863" y="1100734"/>
            <a:ext cx="111732" cy="45029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49" name="Shape 47"/>
          <p:cNvSpPr/>
          <p:nvPr/>
        </p:nvSpPr>
        <p:spPr>
          <a:xfrm>
            <a:off x="9548012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0" name="Shape 48"/>
          <p:cNvSpPr/>
          <p:nvPr/>
        </p:nvSpPr>
        <p:spPr>
          <a:xfrm>
            <a:off x="9751162" y="1183046"/>
            <a:ext cx="111732" cy="28566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1" name="Shape 49"/>
          <p:cNvSpPr/>
          <p:nvPr/>
        </p:nvSpPr>
        <p:spPr>
          <a:xfrm>
            <a:off x="9954311" y="1027722"/>
            <a:ext cx="111732" cy="59631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7460" y="1207931"/>
            <a:ext cx="111732" cy="23589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3" name="Shape 51"/>
          <p:cNvSpPr/>
          <p:nvPr/>
        </p:nvSpPr>
        <p:spPr>
          <a:xfrm>
            <a:off x="10360609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563758" y="1137975"/>
            <a:ext cx="111732" cy="375809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766908" y="1091201"/>
            <a:ext cx="111732" cy="46935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70057" y="1281666"/>
            <a:ext cx="111732" cy="8842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7" name="Shape 55"/>
          <p:cNvSpPr/>
          <p:nvPr/>
        </p:nvSpPr>
        <p:spPr>
          <a:xfrm>
            <a:off x="11173206" y="1287982"/>
            <a:ext cx="111732" cy="75797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376355" y="1117897"/>
            <a:ext cx="111732" cy="41596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579504" y="1162491"/>
            <a:ext cx="111732" cy="326778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782654" y="1312164"/>
            <a:ext cx="111732" cy="27432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1" name="Shape 59"/>
          <p:cNvSpPr/>
          <p:nvPr/>
        </p:nvSpPr>
        <p:spPr>
          <a:xfrm>
            <a:off x="11985803" y="1244732"/>
            <a:ext cx="111732" cy="162295"/>
          </a:xfrm>
          <a:prstGeom prst="rect">
            <a:avLst/>
          </a:prstGeom>
          <a:solidFill>
            <a:srgbClr val="12557A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5482169"/>
            <a:ext cx="111732" cy="19134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3" name="Shape 61"/>
          <p:cNvSpPr/>
          <p:nvPr/>
        </p:nvSpPr>
        <p:spPr>
          <a:xfrm>
            <a:off x="203149" y="5382249"/>
            <a:ext cx="111732" cy="39118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4" name="Shape 62"/>
          <p:cNvSpPr/>
          <p:nvPr/>
        </p:nvSpPr>
        <p:spPr>
          <a:xfrm>
            <a:off x="406298" y="5502620"/>
            <a:ext cx="111732" cy="150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5" name="Shape 63"/>
          <p:cNvSpPr/>
          <p:nvPr/>
        </p:nvSpPr>
        <p:spPr>
          <a:xfrm>
            <a:off x="609448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6" name="Shape 64"/>
          <p:cNvSpPr/>
          <p:nvPr/>
        </p:nvSpPr>
        <p:spPr>
          <a:xfrm>
            <a:off x="812597" y="5416969"/>
            <a:ext cx="111732" cy="32174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7" name="Shape 65"/>
          <p:cNvSpPr/>
          <p:nvPr/>
        </p:nvSpPr>
        <p:spPr>
          <a:xfrm>
            <a:off x="1015746" y="5377332"/>
            <a:ext cx="111732" cy="4010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8" name="Shape 66"/>
          <p:cNvSpPr/>
          <p:nvPr/>
        </p:nvSpPr>
        <p:spPr>
          <a:xfrm>
            <a:off x="1218895" y="5543132"/>
            <a:ext cx="111732" cy="694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9" name="Shape 67"/>
          <p:cNvSpPr/>
          <p:nvPr/>
        </p:nvSpPr>
        <p:spPr>
          <a:xfrm>
            <a:off x="1422044" y="5531960"/>
            <a:ext cx="111732" cy="917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0" name="Shape 68"/>
          <p:cNvSpPr/>
          <p:nvPr/>
        </p:nvSpPr>
        <p:spPr>
          <a:xfrm>
            <a:off x="1625194" y="5345477"/>
            <a:ext cx="111732" cy="46472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1" name="Shape 69"/>
          <p:cNvSpPr/>
          <p:nvPr/>
        </p:nvSpPr>
        <p:spPr>
          <a:xfrm>
            <a:off x="1828343" y="5396066"/>
            <a:ext cx="111732" cy="3635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2" name="Shape 70"/>
          <p:cNvSpPr/>
          <p:nvPr/>
        </p:nvSpPr>
        <p:spPr>
          <a:xfrm>
            <a:off x="2031492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3" name="Shape 71"/>
          <p:cNvSpPr/>
          <p:nvPr/>
        </p:nvSpPr>
        <p:spPr>
          <a:xfrm>
            <a:off x="2234641" y="5457557"/>
            <a:ext cx="111732" cy="24056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4" name="Shape 72"/>
          <p:cNvSpPr/>
          <p:nvPr/>
        </p:nvSpPr>
        <p:spPr>
          <a:xfrm>
            <a:off x="2437790" y="5283219"/>
            <a:ext cx="111732" cy="58924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5" name="Shape 73"/>
          <p:cNvSpPr/>
          <p:nvPr/>
        </p:nvSpPr>
        <p:spPr>
          <a:xfrm>
            <a:off x="2640940" y="5441006"/>
            <a:ext cx="111732" cy="2736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6" name="Shape 74"/>
          <p:cNvSpPr/>
          <p:nvPr/>
        </p:nvSpPr>
        <p:spPr>
          <a:xfrm>
            <a:off x="2844089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7" name="Shape 75"/>
          <p:cNvSpPr/>
          <p:nvPr/>
        </p:nvSpPr>
        <p:spPr>
          <a:xfrm>
            <a:off x="3047238" y="5351842"/>
            <a:ext cx="111732" cy="45199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8" name="Shape 76"/>
          <p:cNvSpPr/>
          <p:nvPr/>
        </p:nvSpPr>
        <p:spPr>
          <a:xfrm>
            <a:off x="3250387" y="5253162"/>
            <a:ext cx="111732" cy="64935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9" name="Shape 77"/>
          <p:cNvSpPr/>
          <p:nvPr/>
        </p:nvSpPr>
        <p:spPr>
          <a:xfrm>
            <a:off x="3453536" y="5503579"/>
            <a:ext cx="111732" cy="14852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0" name="Shape 78"/>
          <p:cNvSpPr/>
          <p:nvPr/>
        </p:nvSpPr>
        <p:spPr>
          <a:xfrm>
            <a:off x="3656686" y="5527432"/>
            <a:ext cx="111732" cy="10081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1" name="Shape 79"/>
          <p:cNvSpPr/>
          <p:nvPr/>
        </p:nvSpPr>
        <p:spPr>
          <a:xfrm>
            <a:off x="3859835" y="5237811"/>
            <a:ext cx="111732" cy="6800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2" name="Shape 80"/>
          <p:cNvSpPr/>
          <p:nvPr/>
        </p:nvSpPr>
        <p:spPr>
          <a:xfrm>
            <a:off x="4062984" y="5275577"/>
            <a:ext cx="111732" cy="60452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3" name="Shape 81"/>
          <p:cNvSpPr/>
          <p:nvPr/>
        </p:nvSpPr>
        <p:spPr>
          <a:xfrm>
            <a:off x="4266133" y="5559477"/>
            <a:ext cx="111732" cy="3672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4" name="Shape 82"/>
          <p:cNvSpPr/>
          <p:nvPr/>
        </p:nvSpPr>
        <p:spPr>
          <a:xfrm>
            <a:off x="4469282" y="5430787"/>
            <a:ext cx="111732" cy="29410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5" name="Shape 83"/>
          <p:cNvSpPr/>
          <p:nvPr/>
        </p:nvSpPr>
        <p:spPr>
          <a:xfrm>
            <a:off x="4672432" y="5154463"/>
            <a:ext cx="111732" cy="84675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6" name="Shape 84"/>
          <p:cNvSpPr/>
          <p:nvPr/>
        </p:nvSpPr>
        <p:spPr>
          <a:xfrm>
            <a:off x="4875581" y="5351571"/>
            <a:ext cx="111732" cy="45253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7" name="Shape 85"/>
          <p:cNvSpPr/>
          <p:nvPr/>
        </p:nvSpPr>
        <p:spPr>
          <a:xfrm>
            <a:off x="5078730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8" name="Shape 86"/>
          <p:cNvSpPr/>
          <p:nvPr/>
        </p:nvSpPr>
        <p:spPr>
          <a:xfrm>
            <a:off x="5281879" y="5305498"/>
            <a:ext cx="111732" cy="5446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9" name="Shape 87"/>
          <p:cNvSpPr/>
          <p:nvPr/>
        </p:nvSpPr>
        <p:spPr>
          <a:xfrm>
            <a:off x="5485028" y="5138880"/>
            <a:ext cx="111732" cy="87792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0" name="Shape 88"/>
          <p:cNvSpPr/>
          <p:nvPr/>
        </p:nvSpPr>
        <p:spPr>
          <a:xfrm>
            <a:off x="5688178" y="5454480"/>
            <a:ext cx="111732" cy="246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1" name="Shape 89"/>
          <p:cNvSpPr/>
          <p:nvPr/>
        </p:nvSpPr>
        <p:spPr>
          <a:xfrm>
            <a:off x="5891327" y="5537240"/>
            <a:ext cx="111732" cy="81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2" name="Shape 90"/>
          <p:cNvSpPr/>
          <p:nvPr/>
        </p:nvSpPr>
        <p:spPr>
          <a:xfrm>
            <a:off x="6094476" y="5196186"/>
            <a:ext cx="111732" cy="7633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3" name="Shape 91"/>
          <p:cNvSpPr/>
          <p:nvPr/>
        </p:nvSpPr>
        <p:spPr>
          <a:xfrm>
            <a:off x="6297625" y="5202160"/>
            <a:ext cx="111732" cy="7513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4" name="Shape 92"/>
          <p:cNvSpPr/>
          <p:nvPr/>
        </p:nvSpPr>
        <p:spPr>
          <a:xfrm>
            <a:off x="6500774" y="5541108"/>
            <a:ext cx="111732" cy="7346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5" name="Shape 93"/>
          <p:cNvSpPr/>
          <p:nvPr/>
        </p:nvSpPr>
        <p:spPr>
          <a:xfrm>
            <a:off x="6703924" y="5451022"/>
            <a:ext cx="111732" cy="25363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6" name="Shape 94"/>
          <p:cNvSpPr/>
          <p:nvPr/>
        </p:nvSpPr>
        <p:spPr>
          <a:xfrm>
            <a:off x="6907073" y="5146982"/>
            <a:ext cx="111732" cy="86171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7" name="Shape 95"/>
          <p:cNvSpPr/>
          <p:nvPr/>
        </p:nvSpPr>
        <p:spPr>
          <a:xfrm>
            <a:off x="7110222" y="5319301"/>
            <a:ext cx="111732" cy="51707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8" name="Shape 96"/>
          <p:cNvSpPr/>
          <p:nvPr/>
        </p:nvSpPr>
        <p:spPr>
          <a:xfrm>
            <a:off x="7313371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9" name="Shape 97"/>
          <p:cNvSpPr/>
          <p:nvPr/>
        </p:nvSpPr>
        <p:spPr>
          <a:xfrm>
            <a:off x="7516520" y="5355155"/>
            <a:ext cx="111732" cy="44537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0" name="Shape 98"/>
          <p:cNvSpPr/>
          <p:nvPr/>
        </p:nvSpPr>
        <p:spPr>
          <a:xfrm>
            <a:off x="7719670" y="5175222"/>
            <a:ext cx="111732" cy="80523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1" name="Shape 99"/>
          <p:cNvSpPr/>
          <p:nvPr/>
        </p:nvSpPr>
        <p:spPr>
          <a:xfrm>
            <a:off x="7922819" y="5443575"/>
            <a:ext cx="111732" cy="26853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125968" y="5558268"/>
            <a:ext cx="111732" cy="3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329117" y="5289807"/>
            <a:ext cx="111732" cy="57606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532266" y="5263199"/>
            <a:ext cx="111732" cy="62928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735416" y="5534110"/>
            <a:ext cx="111732" cy="8745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938565" y="5505200"/>
            <a:ext cx="111732" cy="14527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141714" y="5275401"/>
            <a:ext cx="111732" cy="60487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344863" y="5373162"/>
            <a:ext cx="111732" cy="40935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548012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751162" y="5447991"/>
            <a:ext cx="111732" cy="25969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954311" y="5306788"/>
            <a:ext cx="111732" cy="54210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0157460" y="5470613"/>
            <a:ext cx="111732" cy="21445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360609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563758" y="5407018"/>
            <a:ext cx="111732" cy="341645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766908" y="5364496"/>
            <a:ext cx="111732" cy="42668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970057" y="5537646"/>
            <a:ext cx="111732" cy="803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1173206" y="5543387"/>
            <a:ext cx="111732" cy="6890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376355" y="5388765"/>
            <a:ext cx="111732" cy="37815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579504" y="5429304"/>
            <a:ext cx="111732" cy="29707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782654" y="5564124"/>
            <a:ext cx="111732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985803" y="5504070"/>
            <a:ext cx="111732" cy="14754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2" name="Text 120"/>
          <p:cNvSpPr/>
          <p:nvPr/>
        </p:nvSpPr>
        <p:spPr>
          <a:xfrm>
            <a:off x="548640" y="2103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500" dirty="0"/>
          </a:p>
        </p:txBody>
      </p:sp>
      <p:sp>
        <p:nvSpPr>
          <p:cNvPr id="123" name="Text 121"/>
          <p:cNvSpPr/>
          <p:nvPr/>
        </p:nvSpPr>
        <p:spPr>
          <a:xfrm>
            <a:off x="548640" y="25603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Altı model içinde MEET ve Random Forest 8 kanallı sEMG'de</a:t>
            </a:r>
            <a:endParaRPr lang="en-US" sz="2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iyisi (&gt; %92); MLP rekabetçi, KNN en temel yaklaşım</a:t>
            </a:r>
            <a:endParaRPr lang="en-US" sz="2400" dirty="0"/>
          </a:p>
        </p:txBody>
      </p:sp>
      <p:sp>
        <p:nvSpPr>
          <p:cNvPr id="124" name="Text 122"/>
          <p:cNvSpPr/>
          <p:nvPr/>
        </p:nvSpPr>
        <p:spPr>
          <a:xfrm>
            <a:off x="1828800" y="3931920"/>
            <a:ext cx="8531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DC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ve MLP eklemek temel bulguyu doğruladı: özel veride tüm modeller silindirik sınıfı yüzünden ~%70 tavanına takılıyor. En yüksek getirili adım hâlâ kanal sayısını artırmak.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  •  Sorular?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Burak Talha Güçlü</dc:creator>
  <cp:lastModifiedBy>Burak Talha Güçlü</cp:lastModifiedBy>
  <cp:revision>1</cp:revision>
  <dcterms:created xsi:type="dcterms:W3CDTF">2026-07-13T20:08:10Z</dcterms:created>
  <dcterms:modified xsi:type="dcterms:W3CDTF">2026-07-13T20:08:10Z</dcterms:modified>
</cp:coreProperties>
</file>