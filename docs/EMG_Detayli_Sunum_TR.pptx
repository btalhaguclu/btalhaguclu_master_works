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4" r:id="rId45"/>
    <p:sldId id="295" r:id="rId46"/>
    <p:sldId id="299" r:id="rId50"/>
    <p:sldId id="300" r:id="rId51"/>
    <p:sldId id="296" r:id="rId47"/>
    <p:sldId id="297" r:id="rId48"/>
    <p:sldId id="298" r:id="rId49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01" r:id="rId52"/>
  </p:sldIdLst>
  <p:notesMasterIdLst>
    <p:notesMasterId r:id="rId4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6.xml"/><Relationship Id="rId22" Type="http://schemas.openxmlformats.org/officeDocument/2006/relationships/slide" Target="slides/slide27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slide" Target="slides/slide33.xml"/><Relationship Id="rId29" Type="http://schemas.openxmlformats.org/officeDocument/2006/relationships/slide" Target="slides/slide34.xml"/><Relationship Id="rId30" Type="http://schemas.openxmlformats.org/officeDocument/2006/relationships/slide" Target="slides/slide35.xml"/><Relationship Id="rId31" Type="http://schemas.openxmlformats.org/officeDocument/2006/relationships/slide" Target="slides/slide36.xml"/><Relationship Id="rId32" Type="http://schemas.openxmlformats.org/officeDocument/2006/relationships/slide" Target="slides/slide37.xml"/><Relationship Id="rId33" Type="http://schemas.openxmlformats.org/officeDocument/2006/relationships/slide" Target="slides/slide38.xml"/><Relationship Id="rId34" Type="http://schemas.openxmlformats.org/officeDocument/2006/relationships/slide" Target="slides/slide39.xml"/><Relationship Id="rId35" Type="http://schemas.openxmlformats.org/officeDocument/2006/relationships/slide" Target="slides/slide40.xml"/><Relationship Id="rId36" Type="http://schemas.openxmlformats.org/officeDocument/2006/relationships/slide" Target="slides/slide41.xml"/><Relationship Id="rId37" Type="http://schemas.openxmlformats.org/officeDocument/2006/relationships/slide" Target="slides/slide42.xml"/><Relationship Id="rId38" Type="http://schemas.openxmlformats.org/officeDocument/2006/relationships/slide" Target="slides/slide43.xml"/><Relationship Id="rId39" Type="http://schemas.openxmlformats.org/officeDocument/2006/relationships/slide" Target="slides/slide44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46" Type="http://schemas.openxmlformats.org/officeDocument/2006/relationships/slide" Target="slides/slide19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0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Doğruluk (%)</c:v>
                </c:pt>
              </c:strCache>
            </c:strRef>
          </c:tx>
          <c:spPr>
            <a:solidFill>
              <a:srgbClr val="7873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34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873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56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84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670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4E5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7F6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CNN</c:v>
                  </c:pt>
                  <c:pt idx="1">
                    <c:v>KNN</c:v>
                  </c:pt>
                  <c:pt idx="2">
                    <c:v>MLP</c:v>
                  </c:pt>
                  <c:pt idx="3">
                    <c:v>SVM</c:v>
                  </c:pt>
                  <c:pt idx="4">
                    <c:v>Random Forest</c:v>
                  </c:pt>
                  <c:pt idx="5">
                    <c:v>MEET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82.7</c:v>
                </c:pt>
                <c:pt idx="1">
                  <c:v>86.06</c:v>
                </c:pt>
                <c:pt idx="2">
                  <c:v>86.35</c:v>
                </c:pt>
                <c:pt idx="3">
                  <c:v>87.65</c:v>
                </c:pt>
                <c:pt idx="4">
                  <c:v>92.88</c:v>
                </c:pt>
                <c:pt idx="5">
                  <c:v>94.74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340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3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Doğruluk (%)</c:v>
                </c:pt>
              </c:strCache>
            </c:strRef>
          </c:tx>
          <c:spPr>
            <a:solidFill>
              <a:srgbClr val="6E56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34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56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7F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8736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4E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843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6707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KNN</c:v>
                  </c:pt>
                  <c:pt idx="1">
                    <c:v>MEET</c:v>
                  </c:pt>
                  <c:pt idx="2">
                    <c:v>CNN</c:v>
                  </c:pt>
                  <c:pt idx="3">
                    <c:v>SVM</c:v>
                  </c:pt>
                  <c:pt idx="4">
                    <c:v>MLP</c:v>
                  </c:pt>
                  <c:pt idx="5">
                    <c:v>Random Forest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69.68</c:v>
                </c:pt>
                <c:pt idx="1">
                  <c:v>72.46</c:v>
                </c:pt>
                <c:pt idx="2">
                  <c:v>72.62</c:v>
                </c:pt>
                <c:pt idx="3">
                  <c:v>72.75</c:v>
                </c:pt>
                <c:pt idx="4">
                  <c:v>72.92</c:v>
                </c:pt>
                <c:pt idx="5">
                  <c:v>72.98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340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6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3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cyl dahil (5 sınıf)</c:v>
                </c:pt>
              </c:strCache>
            </c:strRef>
          </c:tx>
          <c:spPr>
            <a:solidFill>
              <a:srgbClr val="6E56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34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KNN</c:v>
                  </c:pt>
                  <c:pt idx="1">
                    <c:v>MLP</c:v>
                  </c:pt>
                  <c:pt idx="2">
                    <c:v>CNN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69.68</c:v>
                </c:pt>
                <c:pt idx="1">
                  <c:v>72.92</c:v>
                </c:pt>
                <c:pt idx="2">
                  <c:v>72.62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cyl hariç (4 sınıf)</c:v>
                </c:pt>
              </c:strCache>
            </c:strRef>
          </c:tx>
          <c:spPr>
            <a:solidFill>
              <a:srgbClr val="5B7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34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KNN</c:v>
                  </c:pt>
                  <c:pt idx="1">
                    <c:v>MLP</c:v>
                  </c:pt>
                  <c:pt idx="2">
                    <c:v>CNN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81.5</c:v>
                </c:pt>
                <c:pt idx="1">
                  <c:v>83.21</c:v>
                </c:pt>
                <c:pt idx="2">
                  <c:v>82.96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340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6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3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sunum çalışmayı sıfırdan, detaylı biçimde anlatır: problem, veri, öznitelikler ve anlamları, altı modelin parametreleriyle açıklanması ve ayrıntılı karşılaştırma.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Gündem: problem, veri, öznitelikler (detaylı), altı modelin parametreleri, değerlendirme, karşılaştırma, cylindrical etkisi ve öneriler.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EMG'den hareket tanıma; protez/rehabilitasyon/arayüz uygulamaları. Ana zorluk sinyal değişkenliği ve benzer hareketlerin karışması.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EMG temeli: yüzey elektrotları kas elektriksel aktivitesini okur. Gürültülü ve değişken olduğundan ham dalga yerine pencereleyip öznitelik çıkarırız.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Boru hattı: ham sinyal → pencereleme → öznitelik → ölçekleme → model → değerlendirme. Sabit tutularak modeller adil karşılaştırılıyor.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NinaPro: 8 kanal, 4 denek, 7 hareket, açık kaynak. Özel veri: 2 kanal, 2 denek, 6 hareket. Kanal farkı sonuçların ana belirleyicisi.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 DB5 detay: 8 kanal, S1/S2/S5/S10, E2-E3 egzersizleri, 200→1000 Hz. Standart olması karşılaştırılabilirlik sağlıyor.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 veri: 2 kanal, 2 denek, 6 hareket, 81k pencere. 2 kanal sınırı ileride silindirik-kapalı karışmasının kaynağı.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 7, özel veri 5 hareket (tip dahil edilmedi). Silindirik özel veride en çok karışan sınıf.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Pencere 150 ms, %80 örtüşme. NinaPro'da resample; özel veride 435 eşikli onset tespiti. Bu parametreler sinyalin kararlı bölgesini yakalamak için seçildi.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Pencere: sürekli sinyalden kesilen 150 ms'lik parça. Model her pencereyi ayrı sınıflandırır; her pencereden bir öznitelik vektörü çıkar. Kayan pencere %80 örtüşmeyle ilerler. Görselde çakışan P1/P2/P3 pencereleri gösteriliyor.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200-&gt;1000 Hz yükseltme üç nedenle: (1) pencere başına 30-&gt;150 örnek, WL/SSC daha kararlı; (2) özel veriyle aynı boru hattı; (3) CNN için 150 uzunlukta girdi. Önemli: bu interpolasyondur, yeni bilgi/frekans eklemez (Nyquist 100 Hz).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Zaman-uzayı öznitelikleri seçildi çünkü ucuz, dayanıklı, literatürde standart ve küçük veriyle çalışıyor. Dört öznitelik tamamlayıcı bilgi taşıyor, fazlalık 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RMS: karekök ortalama kare → kas gücü/enerji. MAV: ortalama mutlak değer → genlik/yoğunluk. İkisi de amplitüd bilgisi taşır ama tamamlayıcıdır.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WL: ardışık farkların toplamı → karmaşıklık. SSC: eğim işareti değişim sayısı → frekans içeriği tahmini. WL ve SSC frekans/şekil bilgisi katar.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Boyut = kanal × 4: NinaPro 32, özel veri 8. Kolonlar RMS_ch1... şeklinde. Bu fark ileride performans farkının kökeni.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Altı model karşılaştırılıyor. Sıradaki slaytlarda her birinin parametreleri ve seçim gerekçeleri.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SVM: RBF çekirdek çünkü doğrusal ayrılamaz; C=10 marj-hata dengesi; gamma=scale otomatik. Ölçekleme kritik.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RF: 100 ağaç yeterli ve kararlı; tam derinlik + topluluk ortalaması aşırı öğrenmeyi dengeler; gürültüye dayanıklı, öznitelik önemi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MEET: Bire-Bir uzmanlar (her çift için bir Extra Trees). Zor çiftleri iyi ayırır; en dengeli ve yüksek doğruluğu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KNN: k=5 tek sayı, Öklid uzaklık, tembel öğrenici. Basit ama örtüşmeye duyarlı. Ölçekleme zorunlu.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MLP: tek gizli katman 128 ReLU, softmax, Adam lr=0.001. Doğrusal olmayan sınır öğrenir, küçük veriyle rekabetçi. Girdi standardizasyonu şart.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CNN: NinaPro ham 150×8 zaman serisi (2 evrişim bloğu), özel veri 8 öznitelik (minik ağ). Ortak: Adam, erken durdurma, LR azaltma, sınıf ağırlığı.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Değerlendirme: stratified 80/20, ölçekleme sadece eğitimde, denek-içi ve denekler-arası, sabit seed 22, normalize confusion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NinaPro: MEET %94,7 ve RF %92,9 lider; SVM/MLP/KNN orta (%86-88); CNN sonda. MEET matrisi çok dengeli.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Sıralama: MEET &gt; RF &gt; SVM &gt; MLP &gt; KNN &gt; CNN. Topluluk/uzman yöntemleri lider; iyi öznitelikle klasikler CNN'i geçiyor.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Altı modelin sınıf-bazlı doğrulukları. MEET her sınıfta en iyi. KNN Point'te zayıf (B1↔B7). Detaylı karşılaştırma bu tabloda.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NinaPro'da Point zayıf (B1↔B7). MLP daha dengeli; zorlu sınıflarda KNN'i geçiyor.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 veri (tip yok, 5 sınıf, 6 model): tümü ~%70-73, KNN %70. CNN de (%72,6) klasiklerle başa baş. Silindirik-kapalı ortak darboğaz.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Silindirik çıkınca (4 sınıf): KNN +11,8, MLP +10,3 puan; kapalı sınıfı ~%89-91'e fırlıyor. SVM/RF/MEET de benzer (~%83). Sorun 2 kanalın fiziksel sınırı.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 veride (tip yok) beş model de ~%70-73; fark küçük. Kanal sınırı nedeniyle tavan ~%73. Ortak sorun silindirik-kapalı.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Sınıf bazlı (cyl dahil, tip yok): 6 modelin tamamı (CNN dahil). Silindirik her modelde en düşük (~%51-61). Bu darboğaz genel doğruluğu aşağı çekiyor.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cyl dahil(5) vs hariç(4): KNN +11,8, MLP +10,3 puan. closed sınıfı ~%90'a fırlıyor. SVM/RF/MEET de benzer. Sorun tek ayrılamayan sınıf.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cyl dahil KNN/MLP matrisleri: silindirik satırı düşük ve kapalı ile karışıyor.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cyl hariç KNN/MLP matrisleri: kapalı sınıfı ~%89-90'a yükseliyor, karışma büyük ölçüde çözülüyor.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Analiz: kanal sayısı ana etken; topluluk/uzman en iyi; MLP rekabetçi, KNN örtüşmeye kırılgan; iyi öznitelikle klasikler CNN'i geçiyor.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Sorunlar: silindirik karışması, kanal sınırı, tekrarlanabilirlik/kod düzeni (giderildi). Öneriler: kanal artır, daha fazla denek, frekans öznitelikleri, k-kat CV, hiperparametre.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Sonuç: MEET/RF lider (&gt;%92), iyi öznitelikler klasikleri güçlü kılıyor, MLP rekabetçi, KNN temel. Özel veri sınırı kanal sayısı. Teşekkürler.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SVM: RBF çekirdegi ile veriyi yuksek boyuta tasir, iki sinifi en genis marjla ayiran duzlemi bulur; sinira en yakin ornekler destek vektorleridir.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Forest: 100 karar agacinin oy coklugu. Her agac rastgele veri+oznitelik alt kumesiyle egitilir; topluluk ortalamasi varyansi dusurur, gurultuye dayaniklidir.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KNN: egitim yok. Yeni ornege en yakin k=5 komsu bulunur, oy coklugu tahmini verir. Olcekleme sart; ortusmeye duyarli.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MLP: girdi -&gt; gizli katman (agirlikli toplam + ReLU) -&gt; softmax cikti. Agirliklar backprop ile ogrenilir. Standardize girdi sart.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1B CNN: evrisim filtreleri yerel oruntuleri yakalar, havuzlama boyut kucultur, dense katman siniflandirir. Filtreler egitimle otomatik ogrenilir.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MEET: cok sinifli problemi Bire-Bir (OvO) ile ikili alt problemlere boler; her cift icin bir Extra Trees uzmani egitir. Her uzman sadece iki sinifi ayirir -&gt; zor ciftlerde cok keskin sinir. Tahminde oylar birlesir. Ne ise yarar: silindirik-kapali gibi benzer ciftleri en iyi ayirir, en dengeli ve en yuksek dogruluk (&gt;%94).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detay: Temel fikir tek model yerine birden cok Extra Trees uzmani (her biri sinif altkumesine odakli). Makale (Gehlot 2024): ~N/2 uzman (sinif ciftleri) + 1 kapi (gate) siniflandirici, agirlikli birlesim. Bu calismada: sklearn OneVsOne + ExtraTrees (cift basina uzman, oy coklugu) — fikrin uyarlamasi. Neden guclu: zor ciftleri keskin ayirir, en yuksek dogruluk.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Kaynaklar: MEET (Gehlot 2024), NinaPro (Atzori 2014 / DB5 Pizzolato 2017), zaman-uzayi oznitelikleri (Hudgins 1993), Random Forest (Breiman 2001), Extra Trees (Geurts 2006), scikit-learn (Pedregosa 2011).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5840"/>
            <a:ext cx="12188952" cy="1371600"/>
          </a:xfrm>
          <a:prstGeom prst="rect">
            <a:avLst/>
          </a:prstGeom>
        </p:spPr>
      </p:pic>
      <p:pic>
        <p:nvPicPr>
          <p:cNvPr id="3" name="Image 1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7720"/>
            <a:ext cx="12188952" cy="12344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286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 TABANLI EMG SİNYALLERİ İLE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Hareketi Sınıflandırma Analizi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548640" y="3657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Yöntemler · Öznitelikler · Parametreler · Altı Modelin Karşılaştırması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Burak Talha Güçlü  |  Yüksek Lisans Tez Çalışması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GÜNDEM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Sunum Akışı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8150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EMG ve motivasyon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14516" y="18150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4516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54596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setleri ve el hareketleri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27294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Sinyal ön işleme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77356" y="26060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14516" y="27294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14516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54596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Öznitelik seçimi ve anlamları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85800" y="36438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5800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Altı model: parametreler &amp; gerekçeler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77356" y="35204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14516" y="36438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14516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54596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Değerlendirme yöntemi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5800" y="45582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5800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Sonuçlar ve detaylı karşılaştırma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77356" y="44348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14516" y="45582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14516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54596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etkisi &amp; sınıf analizi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85800" y="54726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85800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Sorunlar ve öneriler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277356" y="53492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14516" y="54726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14516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54596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MOTİVASYON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Neden EMG ile El Hareketi Tanıma?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 (elektromiyografi)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kas kasıldığında üretilen elektriksel aktiviteyi ölçer. Ön koldaki yüzey sinyallerinden hangi hareketin yapıldığını çözmek; protez, rehabilitasyon ve insan–makine arayüzleri için kritik bir problemdir.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852160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13232" y="3374136"/>
            <a:ext cx="402336" cy="402336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80160" y="32735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Protez el kontrolü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584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Ampute bireyler için doğal kontrol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852160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13232" y="4242816"/>
            <a:ext cx="402336" cy="402336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80160" y="41422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Rehabilitasyon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453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 aktivasyonu takibi ve terapi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852160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13232" y="5111496"/>
            <a:ext cx="402336" cy="402336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80160" y="50109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İnsan–makine arayüzü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5321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Dokunmadan komut / etkileşim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475488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ZORLUK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2860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Sinyal kişiden kişiye, hatta denemeden denemeye değişir. 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Benzer kavramalar (silindirik ↔ kapalı) çok yakın kas aktivasyonu üretir.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yüzden öznitelik ve model seçimi belirleyicidir.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ARKA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Yüzey EMG Sinyali Nedir?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Yüzey EMG (sEMG)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elektrotları, ön kol kasları kasıldığında oluşan elektriksel aktiviteyi ölçer. Farklı hareketler farklı kas gruplarını etkinleştirir → ayırt edilebilir sinyal örüntüleri.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Girişimsiz, gerçek zamanlı, düşük maliyetli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Gürültülü; kişi ve denemeye göre değişken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 dalga yüksek boyutlu → özniteliklerle özetlenir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Zaman-uzayı öznitelikleri ucuz ve etkilidir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600200"/>
            <a:ext cx="4754880" cy="2926080"/>
          </a:xfrm>
          <a:prstGeom prst="roundRect">
            <a:avLst>
              <a:gd name="adj" fmla="val 125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FİKİR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23317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 dalgayı doğrudan modele vermek yerine, kısa pencerelere bölüp kas aktivitesinin özet tanımlayıcılarını çıkarırız. Sınıflandırıcı bu tanımlayıcıları harekete eşler.</a:t>
            </a:r>
            <a:endParaRPr lang="en-US" sz="1500" dirty="0"/>
          </a:p>
        </p:txBody>
      </p:sp>
      <p:pic>
        <p:nvPicPr>
          <p:cNvPr id="9" name="Image 0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709160"/>
            <a:ext cx="420624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GENEL BAKIŞ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Çalışmanın İşlem Hattı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Amaç: iki veri setinde altı modeli, tek ve aynı boru hattıyla adil biçimde karşılaştırmak.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3564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83564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 EMG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.mat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21408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452421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87345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87345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07285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Pencereleme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07285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5189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356202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891126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9112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11066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Öznitelik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11066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RMS·MAV·WL·SSC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2897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59982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794906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9490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14846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Ölçekleme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14846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3275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8163763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3D4E5A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698687" y="2542032"/>
            <a:ext cx="502920" cy="502920"/>
          </a:xfrm>
          <a:prstGeom prst="ellipse">
            <a:avLst/>
          </a:prstGeom>
          <a:solidFill>
            <a:srgbClr val="A9843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98687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18627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Model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18627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DD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SVM·RF·MEET·CNN·KNN·MLP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36531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10067544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602468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602468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22408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Değerlendirme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122408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Doğruluk+matris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70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adım tüm modeller için sabit → farkların kaynağı yalnızca modelin kendisi.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VERİ SETLERİ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İki Tamamlayıcı Veri Seti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DB5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 kaynak kıyaslama veri tabanı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(Myo kol bandı)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S1, S2, S5, S10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Hareket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sınıf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Örnekleme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→ 1000 Hz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Öznitelik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boyut/pencere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Boyut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19.591 pencere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6792" y="1600200"/>
            <a:ext cx="521208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36792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11112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Özel Veri (Ecem &amp; Selman)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11112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Düşük maliyetli 2 kanallı kayıt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05672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11112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05672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Ecem, Selman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1112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Hareket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05672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sınıf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Örnekleme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05672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Hz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11112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Öznitelik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05672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boyut/pencere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11112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Boyut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05672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67.885 pencere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VERİ SETİ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DB5 — Ayrıntılar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Standart bir sEMG kıyaslama tabanı. Myo kol bandının ilk 8 kanalı kullanıldı. 200 Hz ham sinyal, zaman çözünürlüğü için 1000 Hz'e yükseltildi. E2 ve E3 egzersiz dosyalarından B ve C serisi hareketler alındı.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 kanalı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67712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67712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86784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86784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hareket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5856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05856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19.591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705856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pencere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6675120" cy="1005840"/>
          </a:xfrm>
          <a:prstGeom prst="roundRect">
            <a:avLst>
              <a:gd name="adj" fmla="val 3636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7548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NinaPro?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Standart, çok denekli ve tekrarlanabilir; sonuçlar literatürle karşılaştırılabilir.</a:t>
            </a:r>
            <a:endParaRPr lang="en-US" sz="1400" dirty="0"/>
          </a:p>
        </p:txBody>
      </p:sp>
      <p:pic>
        <p:nvPicPr>
          <p:cNvPr id="19" name="Image 0" descr="/sessions/relaxed-adoring-bohr/mnt/btalhaguclu_master_works/docs/images/hand_mo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6002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VERİ SETİ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Özel Veri — Ecem &amp; Selman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denekten, düşük maliyetli 2 kanallı bir kurulumla toplandı. Sinyaller hareket başına kanal bazında (ch1, ch2) dört .mat dosyasında saklanır.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 kanalı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67712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67712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86784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86784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hareket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5856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05856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67.885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705856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pencere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6675120" cy="1188720"/>
          </a:xfrm>
          <a:prstGeom prst="roundRect">
            <a:avLst>
              <a:gd name="adj" fmla="val 3077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5720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Sınırlama: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Yalnız 2 kanal → benzer kavramaları ayırmak için uzamsal bilgi kısıtlı. İleride sonuç farklarının ana nedeni bu.</a:t>
            </a:r>
            <a:endParaRPr lang="en-US" sz="1400" dirty="0"/>
          </a:p>
        </p:txBody>
      </p:sp>
      <p:pic>
        <p:nvPicPr>
          <p:cNvPr id="19" name="Image 0" descr="/sessions/relaxed-adoring-bohr/mnt/btalhaguclu_master_works/docs/images/mo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6002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HAREKETLER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Seçilen El Hareketleri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70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(7)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 up (B1)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43230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Scissors (B2)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9443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(B5)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4564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(B6)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96849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(B7)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4805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(C5)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92624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99262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Pinch (C14)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 Veri (5)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1920240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37960" y="19202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2432304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37960" y="243230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2944368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37960" y="29443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456432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FDF0D8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37960" y="34564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 — en çok karışan sınıf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3968496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37960" y="396849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Sinyal Ön İşleme — Parametreler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Tekrarlar (repetition) seçilir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→ 1000 Hz yükseltme (×5)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Pencere: 150 örnek (150 ms)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Adım: 30 örnek → %80 örtüşme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Çıktı: 32-boyut CSV + ham (150×8) tensör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521208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11112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Özel Veri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1112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Onset: 40 ms pencerede ort.|genlik| &gt; 435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Başlangıçtan 150 ms pencereler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Adım: 30 ms → %80 örtüşme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kanal × 4 öznitelik = 8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Çıktı: custom_dataset.csv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KAVRAM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'Pencere' (Window) Tam Olarak Ne?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Pencere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sürekli EMG sinyalinden kesilen kısa, sabit uzunlukta bir parçadır (bu çalışmada 150 ms). Modelin sınıflandırdığı en küçük birim tüm sinyal değil, tek bir penceredir.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pencereden bir öznitelik vektörü (RMS/MAV/WL/SSC) çıkarılır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her pencere için ayrı bir tahmin yapar → bir hareket birçok pencere üretir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Kayan pencere: pencere sabit adımla ileri kaydırılır (adım 30 ms)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Örtüşme %80: ardışık pencereler büyük ölçüde çakışır → daha çok örnek, zamanda süreklilik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2286000"/>
            <a:ext cx="4892040" cy="2057400"/>
          </a:xfrm>
          <a:prstGeom prst="roundRect">
            <a:avLst>
              <a:gd name="adj" fmla="val 1778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49440" y="2468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KISACA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0" y="283464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pencere = 1 öznitelik vektörü = 1 tahmin. Sınıflandırma bu küçük parçalar üzerinde yapılır; hareketin nihai kararı pencerelerin birleşiminden gelir.</a:t>
            </a:r>
            <a:endParaRPr lang="en-US" sz="1400" dirty="0"/>
          </a:p>
        </p:txBody>
      </p:sp>
      <p:pic>
        <p:nvPicPr>
          <p:cNvPr id="9" name="Image 0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74920"/>
            <a:ext cx="10332720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48920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6E5670">
              <a:alpha val="18000"/>
            </a:srgbClr>
          </a:solidFill>
          <a:ln w="22225">
            <a:solidFill>
              <a:srgbClr val="6E567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24128" y="4956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5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86000" y="48920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A9843F">
              <a:alpha val="18000"/>
            </a:srgbClr>
          </a:solidFill>
          <a:ln w="22225">
            <a:solidFill>
              <a:srgbClr val="A9843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395728" y="4956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0" y="48920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5B7F6E">
              <a:alpha val="18000"/>
            </a:srgbClr>
          </a:solidFill>
          <a:ln w="22225">
            <a:solidFill>
              <a:srgbClr val="5B7F6E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767328" y="4956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6035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Pencere genişliği 150 ms  ·  adım 30 ms  ·  örtüşme %80  (kayan, çakışan pencereler)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 İŞLEME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Neden 200 Hz → 1000 Hz'e Yükseltiyoruz?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200 Hz kaydedilmiştir; ön işlemede 5 katına (1000 Hz) yükseltilir. Amaç yeni sinyal bilgisi eklemek DEĞİL — üç pratik nedendir: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2286000"/>
          </a:xfrm>
          <a:prstGeom prst="roundRect">
            <a:avLst>
              <a:gd name="adj" fmla="val 16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487168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Yeterli örnek / pencere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Hz'de 150 ms = 30 örnek; 1000 Hz'de 150 örnek. Fark-tabanlı WL ve SSC çok daha kararlı olur.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0248" y="2286000"/>
            <a:ext cx="3520440" cy="2286000"/>
          </a:xfrm>
          <a:prstGeom prst="roundRect">
            <a:avLst>
              <a:gd name="adj" fmla="val 16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98848" y="2487168"/>
            <a:ext cx="502920" cy="502920"/>
          </a:xfrm>
          <a:prstGeom prst="ellipse">
            <a:avLst/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9884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38928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boru hattı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3200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 veri zaten 1000 Hz ve 150-örnek pencere. Yükseltince aynı pencere + öznitelik kodu ikisine de uyar.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91856" y="2286000"/>
            <a:ext cx="3520440" cy="2286000"/>
          </a:xfrm>
          <a:prstGeom prst="roundRect">
            <a:avLst>
              <a:gd name="adj" fmla="val 16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0456" y="2487168"/>
            <a:ext cx="502920" cy="502920"/>
          </a:xfrm>
          <a:prstGeom prst="ellipse">
            <a:avLst/>
          </a:prstGeom>
          <a:solidFill>
            <a:srgbClr val="6E567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0456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0536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girdi uzunluğu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0456" y="3200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 CNN 150 uzunlukta ham girdi bekler; 30 örnek büyük çekirdekler (10, 5) için yetersizdir.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91672" cy="1371600"/>
          </a:xfrm>
          <a:prstGeom prst="roundRect">
            <a:avLst>
              <a:gd name="adj" fmla="val 2667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ÖNEMLİ UYARI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Yükseltme bir interpolasyondur — gerçek yeni bilgi veya frekans eklemez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(200 Hz'in Nyquist sınırı 100 Hz; üstü zaten kayıptır).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Kazanç: daha kararlı öznitelik + iki veri setinde tutarlılık + CNN'e uygun girdi uzunluğu.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ÖZNİTELİKLER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Öznitelik Seçimi — Neden Zaman Uzayı?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 düşük hesap maliyeti → gerçek zamanlı / gömülü protez için uygun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Yüzey EMG'nin küçük kaymalarına ve gürültüsüne dayanıklı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sEMG literatüründe hareket tanıma için köklü ve kanıtlanmış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örneklik pencereyi kanal başına 4 sayıya, az bilgi kaybıyla indirger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Basit, veri-verimli sınıflandırıcıların yüksek doğruluğa ulaşmasını sağlar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737360"/>
            <a:ext cx="4389120" cy="3931920"/>
          </a:xfrm>
          <a:prstGeom prst="roundRect">
            <a:avLst>
              <a:gd name="adj" fmla="val 93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SEÇİM İLKESİ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23774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öznitelik birbirini tamamlar: genlik (RMS, MAV), karmaşıklık (WL) ve frekans (SSC) — az fazlalıkla dört farklı bilgi. Frekans-uzayı öznitelikleri daha pahalı ve bu problemde gereksiz görüldü.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ÖZNİTELİK ANLAMLARI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Öznitelikler I — RMS ve MAV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Mean Square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 = √( (1/N) Σ xᵢ² 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Sinyalin karekök-ortalama-kare değeri. Kasın ürettiği toplam gücü / enerjiyi temsil eder; kasılma ne kadar güçlüyse o kadar yüksektir.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36792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36792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11112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91272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Absolute Value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1112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2552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 = (1/N) Σ |xᵢ|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1112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Ortalama mutlak genlik. En klasik sEMG genlik göstergesidir; sinyalin yoğunluğunu / şiddetini yansıtır ve gürültüye RMS'ten biraz daha dayanıklıdır.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ÖZNİTELİK ANLAMLARI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Öznitelikler II — WL ve SSC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Waveform Length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 = Σ |xᵢ₊₁ − xᵢ|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Ardışık örnekler arası mutlak farkların toplamı — dalganın kümülatif uzunluğu. Sinyalin karmaşıklığını (genlik + frekans birleşimini) dolaylı olarak ölçer.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36792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36792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11112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SSC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91272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Sign Changes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1112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2552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SSC = Σ [ (xᵢ−xᵢ₋₁)(xᵢ−xᵢ₊₁) &lt; 0 ]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11112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Eğim işaretinin kaç kez değiştiğini sayar (tepe/vadi sayısı). Sinyalin frekans içeriğini tahmin eder; yüksek frekans → daha çok işaret değişimi.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ÖZNİTELİKLER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Öznitelik Vektörü ve Boyut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pencere, her kanal için 4 öznitelikle temsil edilir. Vektör boyutu doğrudan kanal sayısına bağlıdır: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2377440"/>
          </a:xfrm>
          <a:prstGeom prst="roundRect">
            <a:avLst>
              <a:gd name="adj" fmla="val 153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kanal × 4 öznitelik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= 32 boyut / pencere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45352" y="2377440"/>
            <a:ext cx="5394960" cy="2377440"/>
          </a:xfrm>
          <a:prstGeom prst="roundRect">
            <a:avLst>
              <a:gd name="adj" fmla="val 153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19672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Özel Veri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kanal × 4 öznitelik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9672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= 8 boyut / pencere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1672" cy="822960"/>
          </a:xfrm>
          <a:prstGeom prst="roundRect">
            <a:avLst>
              <a:gd name="adj" fmla="val 4444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49377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Kolon adları: RMS_ch1, MAV_ch1, WL_ch1, SSC_ch1, … + Label. Öznitelik hesapları tek bir ortak modülde (emg_common.py) tanımlıdır.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Karşılaştırılan Altı Model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4884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çekirdek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2628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2628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9788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ağaç topluluğu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7532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7532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4692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OvO + Extra Trees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33404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CNN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14884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 evrişimli ağ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2628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6E567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2628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89788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k=5 komşu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7532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A9843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7532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4692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1×128 sinir ağı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klasik (SVM, RF), bir topluluk-uzman (MEET), bir derin (CNN) ve iki temel model (KNN, MLP).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NASIL ÇALIŞIR?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SVM Nasıl Çalışır?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85216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500" b="0" i="0">
                <a:solidFill>
                  <a:srgbClr val="2B2B2B"/>
                </a:solidFill>
                <a:latin typeface="Cambria"/>
              </a:rPr>
              <a:t>SVM, iki sınıfı en geniş boşlukla (marj) ayıran karar sınırını arar.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Doğrusal ayrılamayan veriyi RBF çekirdeği ile daha yüksek boyuta taşır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Orada iki sınıfı ayıran en geniş marjlı düzlemi bulur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Sınıra en yakın örnekler 'destek vektörleri'dir; sınırı onlar belirler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Yeni örnek düzlemin hangi tarafında ise o sınıfa atanır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00200"/>
            <a:ext cx="5029200" cy="411480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06640" y="2286000"/>
            <a:ext cx="201168" cy="201168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2651760"/>
            <a:ext cx="201168" cy="201168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23760" y="2834640"/>
            <a:ext cx="201168" cy="201168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79" y="2286000"/>
            <a:ext cx="201168" cy="201168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0" y="3017520"/>
            <a:ext cx="201168" cy="201168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4480560"/>
            <a:ext cx="201168" cy="201168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0" y="4114800"/>
            <a:ext cx="201168" cy="201168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0" y="4023360"/>
            <a:ext cx="201168" cy="201168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480560"/>
            <a:ext cx="201168" cy="201168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0" y="4754880"/>
            <a:ext cx="201168" cy="201168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6949440" y="2468880"/>
            <a:ext cx="4297680" cy="2011680"/>
          </a:xfrm>
          <a:prstGeom prst="line">
            <a:avLst/>
          </a:prstGeom>
          <a:ln w="31750">
            <a:solidFill>
              <a:srgbClr val="334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949440" y="2148840"/>
            <a:ext cx="3931920" cy="1874520"/>
          </a:xfrm>
          <a:prstGeom prst="line">
            <a:avLst/>
          </a:prstGeom>
          <a:ln w="12700">
            <a:solidFill>
              <a:srgbClr val="567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15200" y="2788920"/>
            <a:ext cx="4206240" cy="2148840"/>
          </a:xfrm>
          <a:prstGeom prst="line">
            <a:avLst/>
          </a:prstGeom>
          <a:ln w="12700">
            <a:solidFill>
              <a:srgbClr val="567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66560" y="5349240"/>
            <a:ext cx="4663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8736C"/>
                </a:solidFill>
                <a:latin typeface="Cambria"/>
              </a:rPr>
              <a:t>En geniş marjlı ayırıcı düzlem (— — marj sınırları)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NASIL ÇALIŞIR?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Random Forest Nasıl Çalışır?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852160" cy="40233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Karar ağacı: veriyi özniteliklere göre ardışık evet/hayır sorularıyla böler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Random Forest: 100 farklı ağaç eğitir (her biri rastgele veri + rastgele öznitelik alt kümesiyle)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Her ağaç bağımsız bir oy verir → oy çokluğu nihai sınıfı belirler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Ağaçlar farklı olduğundan topluluk ortalaması varyansı düşürür, gürültüye dayanıklıdır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91640"/>
            <a:ext cx="5029200" cy="402336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69479" y="2057400"/>
            <a:ext cx="457200" cy="457200"/>
          </a:xfrm>
          <a:prstGeom prst="ellipse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>
            <a:off x="7223759" y="2514600"/>
            <a:ext cx="274320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2514600"/>
            <a:ext cx="274321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059168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07808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86600" y="3657600"/>
            <a:ext cx="82296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 i="0">
                <a:solidFill>
                  <a:srgbClr val="2B2B2B"/>
                </a:solidFill>
                <a:latin typeface="Cambria"/>
              </a:rPr>
              <a:t>Ağaç 1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2057400"/>
            <a:ext cx="457200" cy="457200"/>
          </a:xfrm>
          <a:prstGeom prst="ellipse">
            <a:avLst/>
          </a:prstGeom>
          <a:solidFill>
            <a:srgbClr val="3D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8641080" y="2514600"/>
            <a:ext cx="274320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15400" y="2514600"/>
            <a:ext cx="274320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476488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25128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0" y="3657600"/>
            <a:ext cx="82296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 i="0">
                <a:solidFill>
                  <a:srgbClr val="2B2B2B"/>
                </a:solidFill>
                <a:latin typeface="Cambria"/>
              </a:rPr>
              <a:t>Ağaç 2</a:t>
            </a:r>
          </a:p>
        </p:txBody>
      </p:sp>
      <p:sp>
        <p:nvSpPr>
          <p:cNvPr id="18" name="Oval 17"/>
          <p:cNvSpPr/>
          <p:nvPr/>
        </p:nvSpPr>
        <p:spPr>
          <a:xfrm>
            <a:off x="10104119" y="2057400"/>
            <a:ext cx="457200" cy="457200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0058400" y="2514600"/>
            <a:ext cx="274319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32719" y="2514600"/>
            <a:ext cx="274321" cy="548640"/>
          </a:xfrm>
          <a:prstGeom prst="line">
            <a:avLst/>
          </a:prstGeom>
          <a:ln w="12700">
            <a:solidFill>
              <a:srgbClr val="7873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893807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42448" y="3063240"/>
            <a:ext cx="329184" cy="329184"/>
          </a:xfrm>
          <a:prstGeom prst="ellipse">
            <a:avLst/>
          </a:prstGeom>
          <a:solidFill>
            <a:srgbClr val="E0DDD5"/>
          </a:solidFill>
          <a:ln w="12700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21240" y="3657600"/>
            <a:ext cx="82296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 i="0">
                <a:solidFill>
                  <a:srgbClr val="2B2B2B"/>
                </a:solidFill>
                <a:latin typeface="Cambria"/>
              </a:rPr>
              <a:t>Ağaç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4297680"/>
            <a:ext cx="3017520" cy="548640"/>
          </a:xfrm>
          <a:prstGeom prst="roundRect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Oy çokluğu → Sınıf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NASIL ÇALIŞIR?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MEET Nasıl Çalışır?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400" b="0" i="0">
                <a:solidFill>
                  <a:srgbClr val="2B2B2B"/>
                </a:solidFill>
                <a:latin typeface="Cambria"/>
              </a:rPr>
              <a:t>MEET = Mixture of Experts Extra Trees. Çok sınıflı problemi ikili alt problemlere böler ve her sınıf çifti için özelleşmiş bir 'uzman' eğitir.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806440" cy="2468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Bire-Bir (One-vs-One): her sınıf çifti için bir ikili sınıflandırıcı → n(n−1)/2 uzman (5 sınıf = 10 uzman)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Her uzman yalnızca iki sınıfı ayırmaya odaklanır → o çift için çok keskin karar sınırı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Uzmanların temeli Extra Trees (aşırı rastgele ağaçlar) → düşük varyans, hızlı eğitim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Tahmin: yeni örnek tüm uzmanlara sorulur, oylar toplanır, en çok oyu alan sınıf kazanır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148840"/>
            <a:ext cx="5074920" cy="246888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286000"/>
            <a:ext cx="452628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200" b="1" i="0">
                <a:solidFill>
                  <a:srgbClr val="5B7F6E"/>
                </a:solidFill>
                <a:latin typeface="Cambria"/>
              </a:rPr>
              <a:t>NE İŞE YARAR?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670048"/>
            <a:ext cx="4526280" cy="1828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150" b="0" i="0">
                <a:solidFill>
                  <a:srgbClr val="2B2B2B"/>
                </a:solidFill>
                <a:latin typeface="Cambria"/>
              </a:rPr>
              <a:t>Birbirine benzeyen zor çiftleri (silindirik↔kapalı, B1↔B7) tek modele göre çok daha iyi ayırır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150" b="0" i="0">
                <a:solidFill>
                  <a:srgbClr val="2B2B2B"/>
                </a:solidFill>
                <a:latin typeface="Cambria"/>
              </a:rPr>
              <a:t>Bu çalışmada en dengeli ve en yüksek doğruluğu verdi (NinaPro'da &gt; %94)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150" b="0" i="0">
                <a:solidFill>
                  <a:srgbClr val="2B2B2B"/>
                </a:solidFill>
                <a:latin typeface="Cambria"/>
              </a:rPr>
              <a:t>Uzmanlaşma + rastgelelik = keskin sınır + düşük varyans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46320"/>
            <a:ext cx="2286000" cy="1051560"/>
          </a:xfrm>
          <a:prstGeom prst="roundRect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5 sınıf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(hareket)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846320"/>
            <a:ext cx="548640" cy="1051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846320"/>
            <a:ext cx="3657600" cy="1051560"/>
          </a:xfrm>
          <a:prstGeom prst="roundRect">
            <a:avLst/>
          </a:prstGeom>
          <a:solidFill>
            <a:srgbClr val="3D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İkili uzmanlar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(1–2, 1–3, 2–3, …)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her biri Extra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846320"/>
            <a:ext cx="548640" cy="1051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846320"/>
            <a:ext cx="3474720" cy="1051560"/>
          </a:xfrm>
          <a:prstGeom prst="roundRect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Oyları birleştir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→ Sınıf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NASIL ÇALIŞIR?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KNN Nasıl Çalışır?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Eğitim yoktur; tüm örnekler bellekte saklanır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Yeni bir örnek gelince tüm örneklere uzaklık hesaplanır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En yakın k = 5 komşu seçilir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Bu 5 komşunun oy çokluğu tahmini verir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00200"/>
            <a:ext cx="5029200" cy="411480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3383280"/>
            <a:ext cx="502920" cy="502920"/>
          </a:xfrm>
          <a:prstGeom prst="ellipse">
            <a:avLst/>
          </a:prstGeom>
          <a:solidFill>
            <a:srgbClr val="33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7" name="Oval 6"/>
          <p:cNvSpPr/>
          <p:nvPr/>
        </p:nvSpPr>
        <p:spPr>
          <a:xfrm>
            <a:off x="8138160" y="283464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0" y="292608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0" y="402336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0" y="393192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0" y="429768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0" y="219456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0" y="2286000"/>
            <a:ext cx="237744" cy="237744"/>
          </a:xfrm>
          <a:prstGeom prst="ellipse">
            <a:avLst/>
          </a:prstGeom>
          <a:solidFill>
            <a:srgbClr val="6E5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0" y="4937760"/>
            <a:ext cx="237744" cy="237744"/>
          </a:xfrm>
          <a:prstGeom prst="ellipse">
            <a:avLst/>
          </a:prstGeom>
          <a:solidFill>
            <a:srgbClr val="6E5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64240" y="493776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18120" y="2514600"/>
            <a:ext cx="2468880" cy="2286000"/>
          </a:xfrm>
          <a:prstGeom prst="ellipse">
            <a:avLst/>
          </a:prstGeom>
          <a:noFill/>
          <a:ln w="19050">
            <a:solidFill>
              <a:srgbClr val="567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5257800"/>
            <a:ext cx="4663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8736C"/>
                </a:solidFill>
                <a:latin typeface="Cambria"/>
              </a:rPr>
              <a:t>En yakın 5 komşu → oy çokluğu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NASIL ÇALIŞIR?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MLP (Sinir Ağı) Nasıl Çalışır?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486400" cy="3474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Girdi: öznitelik değerleri (custom'da 8)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Gizli katman: her nöron ağırlıklı toplam + ReLU aktivasyonu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Çıktı katmanı: softmax ile sınıf olasılıkları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400" b="0" i="0">
                <a:solidFill>
                  <a:srgbClr val="2B2B2B"/>
                </a:solidFill>
                <a:latin typeface="Cambria"/>
              </a:rPr>
              <a:t>Öğrenme: geri yayılım (backprop) ile ağırlıklar güncellenir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00200"/>
            <a:ext cx="5212080" cy="411480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7168896" y="2121408"/>
            <a:ext cx="1609344" cy="1828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68896" y="2304288"/>
            <a:ext cx="1609344" cy="5486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68896" y="2304288"/>
            <a:ext cx="1609344" cy="12801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68896" y="2304288"/>
            <a:ext cx="1609344" cy="20116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68896" y="2304288"/>
            <a:ext cx="1609344" cy="27432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168896" y="2121408"/>
            <a:ext cx="1609344" cy="9144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168896" y="2852928"/>
            <a:ext cx="1609344" cy="1828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68896" y="3035808"/>
            <a:ext cx="1609344" cy="5486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68896" y="3035808"/>
            <a:ext cx="1609344" cy="12801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68896" y="3035808"/>
            <a:ext cx="1609344" cy="20116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68896" y="2121408"/>
            <a:ext cx="1609344" cy="164592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168896" y="2852928"/>
            <a:ext cx="1609344" cy="9144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168896" y="3584448"/>
            <a:ext cx="1609344" cy="1828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68896" y="3767328"/>
            <a:ext cx="1609344" cy="5486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68896" y="3767328"/>
            <a:ext cx="1609344" cy="12801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168896" y="2121408"/>
            <a:ext cx="1609344" cy="23774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168896" y="2852928"/>
            <a:ext cx="1609344" cy="164592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168896" y="3584448"/>
            <a:ext cx="1609344" cy="9144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168896" y="4315968"/>
            <a:ext cx="1609344" cy="1828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68896" y="4498848"/>
            <a:ext cx="1609344" cy="5486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97696" y="2121408"/>
            <a:ext cx="1700784" cy="6400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97696" y="2121408"/>
            <a:ext cx="1700784" cy="13716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97696" y="2121408"/>
            <a:ext cx="1700784" cy="210312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997696" y="2761488"/>
            <a:ext cx="1700784" cy="914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97696" y="2852928"/>
            <a:ext cx="1700784" cy="6400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97696" y="2852928"/>
            <a:ext cx="1700784" cy="13716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997696" y="2761488"/>
            <a:ext cx="1700784" cy="8229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997696" y="3493008"/>
            <a:ext cx="1700784" cy="914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97696" y="3584448"/>
            <a:ext cx="1700784" cy="6400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997696" y="2761488"/>
            <a:ext cx="1700784" cy="15544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997696" y="3493008"/>
            <a:ext cx="1700784" cy="8229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997696" y="4224528"/>
            <a:ext cx="1700784" cy="9144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997696" y="2761488"/>
            <a:ext cx="1700784" cy="228600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997696" y="3493008"/>
            <a:ext cx="1700784" cy="155448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997696" y="4224528"/>
            <a:ext cx="1700784" cy="822960"/>
          </a:xfrm>
          <a:prstGeom prst="line">
            <a:avLst/>
          </a:prstGeom>
          <a:ln w="9525">
            <a:solidFill>
              <a:srgbClr val="CB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949440" y="2194560"/>
            <a:ext cx="237744" cy="237744"/>
          </a:xfrm>
          <a:prstGeom prst="ellipse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49440" y="2926080"/>
            <a:ext cx="237744" cy="237744"/>
          </a:xfrm>
          <a:prstGeom prst="ellipse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49440" y="3657600"/>
            <a:ext cx="237744" cy="237744"/>
          </a:xfrm>
          <a:prstGeom prst="ellipse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49440" y="4389120"/>
            <a:ext cx="237744" cy="237744"/>
          </a:xfrm>
          <a:prstGeom prst="ellipse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78240" y="201168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78240" y="274320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78240" y="347472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778240" y="420624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78240" y="4937760"/>
            <a:ext cx="237744" cy="237744"/>
          </a:xfrm>
          <a:prstGeom prst="ellipse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98480" y="265176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698480" y="338328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98480" y="4114800"/>
            <a:ext cx="237744" cy="237744"/>
          </a:xfrm>
          <a:prstGeom prst="ellipse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5257800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8736C"/>
                </a:solidFill>
                <a:latin typeface="Cambria"/>
              </a:rPr>
              <a:t>Girdi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5257800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8736C"/>
                </a:solidFill>
                <a:latin typeface="Cambria"/>
              </a:rPr>
              <a:t>Gizli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5257800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8736C"/>
                </a:solidFill>
                <a:latin typeface="Cambria"/>
              </a:rPr>
              <a:t>Çıktı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NASIL ÇALIŞIR?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1B CNN Nasıl Çalışır?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Evrişim (conv) filtreleri girdinin üzerinde kayarak yerel örüntüleri yakalar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ReLU + havuzlama (pooling): boyutu küçültür, önemli sinyali korur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500" b="0" i="0">
                <a:solidFill>
                  <a:srgbClr val="2B2B2B"/>
                </a:solidFill>
                <a:latin typeface="Cambria"/>
              </a:rPr>
              <a:t>Düzleştirme sonrası tam bağlı (Dense) katman sınıflandırır; filtreler eğitimle öğrenilir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657600"/>
            <a:ext cx="1572768" cy="1188720"/>
          </a:xfrm>
          <a:prstGeom prst="roundRect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Girdi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8568" y="3657600"/>
            <a:ext cx="3200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8608" y="3657600"/>
            <a:ext cx="1572768" cy="1188720"/>
          </a:xfrm>
          <a:prstGeom prst="roundRect">
            <a:avLst/>
          </a:prstGeom>
          <a:solidFill>
            <a:srgbClr val="3D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Evrişim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filtresi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1376" y="3657600"/>
            <a:ext cx="3200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3657600"/>
            <a:ext cx="1572768" cy="1188720"/>
          </a:xfrm>
          <a:prstGeom prst="roundRect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Öznitelik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haritası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4183" y="3657600"/>
            <a:ext cx="3200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3" y="3657600"/>
            <a:ext cx="1572768" cy="1188720"/>
          </a:xfrm>
          <a:prstGeom prst="roundRect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Havuzlama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3657600"/>
            <a:ext cx="3200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7031" y="3657600"/>
            <a:ext cx="1572768" cy="1188720"/>
          </a:xfrm>
          <a:prstGeom prst="roundRect">
            <a:avLst/>
          </a:prstGeom>
          <a:solidFill>
            <a:srgbClr val="A9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Dense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3657600"/>
            <a:ext cx="32004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3657600"/>
            <a:ext cx="1572768" cy="1188720"/>
          </a:xfrm>
          <a:prstGeom prst="roundRect">
            <a:avLst/>
          </a:prstGeom>
          <a:solidFill>
            <a:srgbClr val="6E5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Çıktı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(softmax)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200" b="0" i="1">
                <a:solidFill>
                  <a:srgbClr val="78736C"/>
                </a:solidFill>
                <a:latin typeface="Cambria"/>
              </a:rPr>
              <a:t>Ham/öznitelik girdisi → yerel örüntü çıkarımı → boyut indirgeme → sınıflandırma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 — Destek Vektör Makinesi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 (RBF)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SEÇİLEN PARAMETRELER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(radyal)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'scale'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BU SEÇİM?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çekirdek: EMG öznitelik uzayı doğrusal ayrılabilir değil → doğrusal olmayan sınır gerekir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C=10: marj genişliği ile hata cezası dengesi; sEMG'de genelde iyi sonuç veren orta-yüksek değer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gamma='scale': çekirdek genişliğini öznitelik varyansına göre otomatik ayarlar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Ölçekleme şart: SVM uzaklık temelli olduğu için standardizasyona duyarlı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 Forest — Rastgele Orman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SEÇİLEN PARAMETRELER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n_jobs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BU SEÇİM?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ağaç: kararlı topluluk için yeterli; daha fazlası marjinal katkı, daha çok hesap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max_depth=None: ağaçlar tam büyür, topluluk ortalaması aşırı-öğrenmeyi dengeler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+ rastgele öznitelik → düşük varyans, gürültüye dayanıklı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Öznitelik önemini de verir; yorumlanabilirlik avantajı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— Mixture of Experts Extra Trees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(OvO + Extra Trees)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SEÇİLEN PARAMETRELER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strateji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OneVsOne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temel öğrenici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ExtraTrees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BU SEÇİM?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OvO: her hareket çifti için ayrı bir 'uzman' → n(n−1)/2 ikili sınıflandırıcı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Zor çiftleri (B1↔B7, C5↔C14) tek modele göre daha keskin ayırır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Trees: aşırı rastgele ağaçlar → daha düşük varyans, hızlı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Gehlot ve ark. (2024) makalesinden uyarlandı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 — k-En Yakın Komşu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6E567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 (k=5)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SEÇİLEN PARAMETRELER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n_neighbors (k)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Öklid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eğitim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yok (tembel)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ölçekleme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zorunlu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BU SEÇİM?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k=5: tek sayı (eşitlik olmaz), yerel yapıyı yakalayacak kadar küçük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Öklid uzaklık: standartlaştırılmış özniteliklerde en yakın 5 komşunun oyu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Eğitim yok — tüm hesap tahmin anında; basit ve yorumlanabilir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Dezavantaj: sınıf örtüşmesine ve gürültüye duyarlı, bellek/tahmin maliyeti yüksek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MLP — Çok Katmanlı Algılayıcı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A9843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MLP (1×128)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SEÇİLEN PARAMETRELER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gizli katman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(128,) ReLU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çıktı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çözücü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Adam, lr=0.001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· seed 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BU SEÇİM?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gizli katman, 128 nöron: küçük öznitelik uzayı için yeterli kapasite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 aktivasyon + softmax çıktı → çok sınıflı olasılık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optimizasyon: uyarlanabilir öğrenme oranı, hızlı yakınsama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Doğrusal olmayan karar sınırları öğrenir; standartlaştırılmış girdi şart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1B CNN — İki Mimari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640080"/>
          </a:xfrm>
          <a:prstGeom prst="roundRect">
            <a:avLst>
              <a:gd name="adj" fmla="val 12857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CNN (ham 150×8)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 Conv1D (64/128) + BatchNorm + MaxPool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Büyük çekirdek (10,5) → zamansal örüntü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Dense(256/128)+Dropout, çıktı softmax(7)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36792" y="1691640"/>
            <a:ext cx="5212080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336792" y="1691640"/>
            <a:ext cx="5212080" cy="640080"/>
          </a:xfrm>
          <a:prstGeom prst="roundRect">
            <a:avLst>
              <a:gd name="adj" fmla="val 12857"/>
            </a:avLst>
          </a:prstGeom>
          <a:solidFill>
            <a:srgbClr val="3D4E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11112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 Veri CNN (8 öznitelik)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1112" y="2468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Conv1D(32,3) + MaxPool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Dense(64)+Dropout, çıktı softmax(6)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Zaman ekseni yok → minik ağ yeterli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91672" cy="1051560"/>
          </a:xfrm>
          <a:prstGeom prst="roundRect">
            <a:avLst>
              <a:gd name="adj" fmla="val 34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470916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Ortak eğitim: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(lr=0.001), sparse categorical crossentropy, erken durdurma (en iyi ağırlık geri yükleme), ReduceLROnPlateau, dengeli sınıf ağırlığı, seed 22.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METODOLOJİ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Değerlendirme Yöntemi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860804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8608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%80 / %20 bölme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79222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Sınıf dağılımını koruyan (stratified) ayrım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702052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7020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633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Ölçekleme yalnız eğitimde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63347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 sadece eğitimde 'fit' → veri sızıntısı yok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543300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74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Denek-içi &amp; denekler-arası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4747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denekler / hiç görülmemiş denekler (S1, S10)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4384548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43845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Sabit tohum (22)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43159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Tüm modellerde tekrarlanabilirlik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02352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20" y="5225796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52257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51572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Metrikler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51572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Doğruluk, precision/recall/F1, normalize confusion matrix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Sonuçlar — NinaPro (6 Model)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DBE7E0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373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7373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7F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%94,74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4505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4505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%92,88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1638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(RBF)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16382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%87,65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8770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(1×128)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8770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%86,35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5902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(k=5)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45902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E56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%86,06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3035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 CNN (ham)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5303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8736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~%82,7</a:t>
            </a:r>
            <a:endParaRPr lang="en-US" sz="1800" dirty="0"/>
          </a:p>
        </p:txBody>
      </p:sp>
      <p:pic>
        <p:nvPicPr>
          <p:cNvPr id="22" name="Image 0" descr="/sessions/relaxed-adoring-bohr/mnt/btalhaguclu_master_works/outputs/ninapro/MEET_4sb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600200"/>
            <a:ext cx="5303520" cy="42062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355080" y="5806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— neredeyse tüm sınıflarda &gt; %92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KARŞILAŞTIRMA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Detaylı Karşılaştırma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23360" cy="3931920"/>
          </a:xfrm>
          <a:prstGeom prst="roundRect">
            <a:avLst>
              <a:gd name="adj" fmla="val 93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YORUM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ve MEET (topluluk/uzman) açık ara en iyi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≈ MLP ≈ KNN orta grup (~%86-88)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en geride (~%83)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İyi öznitelikler klasik modelleri güçlü kılıyor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KARŞILAŞTIRMA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Sınıf Bazlı Doğruluk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78308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3832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264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980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295144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29514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 up (B1)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832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548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264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980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782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8696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807208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280720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Scissors (B2)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3832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7548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264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066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4980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782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8696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85,9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3319272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0080" y="331927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(B5)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918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3832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7548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350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1264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94,8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4066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4980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88,9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7782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8696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3831336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0080" y="383133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(B6)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918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3832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634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7548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89,9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0350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1264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92,6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066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4980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86,3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7782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8696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83,3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48640" y="4343400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40080" y="434340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(B7)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2918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3832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634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7548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92,0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0350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61264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95,1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4066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4980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77,0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7782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88696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80,8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4855464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40080" y="485546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(C5)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2918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33832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634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47548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90,4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0350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61264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93,1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4066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74980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82,0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7782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88696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85,4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548640" y="5367528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640080" y="536752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Pinch (C14)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32918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33832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90,2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634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47548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96,8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0350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61264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97,4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74066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74980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86,4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7782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88696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89,3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Değerler % doğruluk (recall). MEET her sınıfta lider; KNN'in en zayıfı Point (%77).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KARŞILAŞTIRMA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KNN ve MLP Matrisleri</a:t>
            </a:r>
            <a:endParaRPr lang="en-US" sz="2900" dirty="0"/>
          </a:p>
        </p:txBody>
      </p:sp>
      <p:pic>
        <p:nvPicPr>
          <p:cNvPr id="4" name="Image 0" descr="/sessions/relaxed-adoring-bohr/mnt/btalhaguclu_master_works/outputs/ninapro/KNN_4sb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5577840" cy="429768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ninapro/MLP_4sbj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577840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Point/B7 en zayıf (%77)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— daha dengeli profil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Sonuçlar — Özel Veri (5 sınıf · tip yok)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Tüm modeller ~%70–73 bandında; KNN en zayıf (%70).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Ortak darboğaz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A98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silindirik ↔ kapalı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3317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233172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%72,98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935224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93522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(1×128)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93522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%72,92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53872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(RBF)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53872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%72,75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142232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414223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 CNN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414223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8736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%72,62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745736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7457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474573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7F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%72,46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3492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(k=5)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534924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E56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%69,68</a:t>
            </a:r>
            <a:endParaRPr lang="en-US" sz="1700" dirty="0"/>
          </a:p>
        </p:txBody>
      </p:sp>
      <p:pic>
        <p:nvPicPr>
          <p:cNvPr id="23" name="Image 0" descr="/sessions/relaxed-adoring-bohr/mnt/btalhaguclu_master_works/outputs/custom/sv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600200"/>
            <a:ext cx="5303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KARŞILAŞTIRMA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Cylindrical'ı Çıkarınca — Etki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Silindirik (tek ayrılamayan sınıf) çıkarıldığında (4 sınıf) tüm modeller belirgin iyileşir. En büyük kazanç 'kapalı' sınıfında: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10896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76656" y="233172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0" y="2331720"/>
            <a:ext cx="274320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785616" y="23317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sınıf (cyl dahil)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274320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28816" y="23317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sınıf (cyl hariç)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0" y="2331720"/>
            <a:ext cx="155448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272016" y="23317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Değişim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98648"/>
            <a:ext cx="31089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6656" y="289864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(k=5)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0" y="2898648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85616" y="28986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%69,68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2898648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28816" y="28986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%81,50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0" y="2898648"/>
            <a:ext cx="155448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72016" y="289864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+11,8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6557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6656" y="3465576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(1×128)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0" y="346557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85616" y="346557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%72,92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346557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28816" y="346557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%83,21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0" y="3465576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272016" y="3465576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+10,3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032504"/>
            <a:ext cx="31089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6656" y="403250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 CNN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57600" y="4032504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85616" y="403250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%72,62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4032504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28816" y="403250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%82,96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44000" y="4032504"/>
            <a:ext cx="155448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272016" y="403250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+10,3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4599432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76656" y="459943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/ RF / MEET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657600" y="459943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785616" y="45994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~%73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0" y="459943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528816" y="45994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~%83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144000" y="459943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272016" y="459943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~+10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48640" y="5303520"/>
            <a:ext cx="11091672" cy="914400"/>
          </a:xfrm>
          <a:prstGeom prst="roundRect">
            <a:avLst>
              <a:gd name="adj" fmla="val 4000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22960" y="530352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'kapalı' sınıfı: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%72,5 → %89,4   ·   MLP %74,4 → %91,4   ·   CNN %69,3 → %91,7   (SVM/RF/MEET'te de closed ~%92). Sebep modeller değil, 2 kanalla silindirik–kapalı ayrımının yapılamamasıdır.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KARŞILAŞTIRMA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Özel Veri — 6 Model Karşılaştırması (cyl dahil)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23360" cy="3931920"/>
          </a:xfrm>
          <a:prstGeom prst="roundRect">
            <a:avLst>
              <a:gd name="adj" fmla="val 93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YORUM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Altı model de ~%70–73 bandında sıkışıyor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de (%72,6) klasiklerle başa baş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en düşük (%70) — örtüşmeye kırılgan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Ortak darboğaz: silindirik ↔ kapalı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KARŞILAŞTIRMA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Özel Veri — Sınıf Bazlı Doğruluk (cyl dahil)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76656" y="182880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Hareket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871216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24528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52544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05856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33872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87184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0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68512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96528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49840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277856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395728"/>
            <a:ext cx="21945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6656" y="23957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871216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24528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52544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05856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33872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87184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15200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68512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796528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149840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277856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2962656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76656" y="2962656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0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871216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24528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352544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705856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833872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87184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315200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78,5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68512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796528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149840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0277856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3529584"/>
            <a:ext cx="21945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76656" y="3529584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43200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871216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73,9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24528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352544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05856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833872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75,6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187184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315200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668512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796528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149840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0277856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69,3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096512"/>
            <a:ext cx="2194560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76656" y="409651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743200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871216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59,2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224528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352544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57,4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705856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833872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55,2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187184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315200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50,9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668512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8796528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58,2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0149840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10277856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60,7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48640" y="4663440"/>
            <a:ext cx="21945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676656" y="466344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2743200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2871216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81,4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224528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352544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82,5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705856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833872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81,1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187184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7315200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77,9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668512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8796528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82,1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0149840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10277856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81,1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548640" y="535838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Silindirik satırı altı modelin tamamında en düşük (~%51–61) — asıl darboğaz.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KARŞILAŞTIRMA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Özel Veri — cyl Dahil vs Hariç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126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3931920"/>
          </a:xfrm>
          <a:prstGeom prst="roundRect">
            <a:avLst>
              <a:gd name="adj" fmla="val 93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58952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SİLİNDİRİK ÇIKINCA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89520" y="242316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KNN: %69,7 → %81,5  (+11,8)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MLP: %72,9 → %83,2  (+10,3)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CNN: %72,6 → %83,0  (+10,3)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'closed': KNN %73→%89, MLP/CNN %74→%92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Klasik (SVM/RF/MEET) de ~%73 → ~%83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KARŞILAŞTIRMA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Özel Veri — KNN ve MLP Matrisleri (cyl dahil)</a:t>
            </a:r>
            <a:endParaRPr lang="en-US" sz="2900" dirty="0"/>
          </a:p>
        </p:txBody>
      </p:sp>
      <p:pic>
        <p:nvPicPr>
          <p:cNvPr id="4" name="Image 0" descr="/sessions/relaxed-adoring-bohr/mnt/btalhaguclu_master_works/outputs/custom/kn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5577840" cy="420624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custom/ml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57784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silindirik %50,9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— silindirik %58,2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KARŞILAŞTIRMA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Özel Veri — KNN ve MLP Matrisleri (cyl hariç)</a:t>
            </a:r>
            <a:endParaRPr lang="en-US" sz="2900" dirty="0"/>
          </a:p>
        </p:txBody>
      </p:sp>
      <p:pic>
        <p:nvPicPr>
          <p:cNvPr id="4" name="Image 0" descr="/sessions/relaxed-adoring-bohr/mnt/btalhaguclu_master_works/outputs/custom/knn_wo_cy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5577840" cy="420624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custom/mlp_wo_cy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57784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'closed' %89,4'e çıkıyor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— 'closed' %91,4'e çıkıyor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YORUM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Karşılaştırmalı Analiz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A9843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184708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NinaPro ≫ Özel veri?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128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kanal, benzer kavramaları ayırmak için gereken uzamsal çözünürlüğü sağlar; 2 kanal sağlayamaz.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852928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5B7F6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2962656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MEET / RF en iyi?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328416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Topluluk ve Bire-Bir uzman yapıları zor çiftleri keskin ayırır ve varyansı düşürür.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968496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6E567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4078224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vs KNN?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443984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esnek karar sınırıyla klasiklerle yarışır; KNN mesafe-tabanlı olduğu için örtüşmeye en kırılgan.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" y="5084064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56707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" y="519379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CNN geride?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55595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veri hacminde el yapımı öznitelikler zaten güçlü; CNN'in ham sinyal avantajı sınırlı.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İLERİ ADIMLAR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Sorunlar ve Geliştirme Önerileri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889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Karşılaşılan Sorunlar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Silindirik ↔ kapalı karışması (ana darboğaz)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kanalın uzamsal bilgi sınırı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Tekrarlanabilirlik: tohum tutarsızlığı (düzeltildi)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 tekrarı → ortak modülde toplandı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691640"/>
            <a:ext cx="5303520" cy="4114800"/>
          </a:xfrm>
          <a:prstGeom prst="roundRect">
            <a:avLst>
              <a:gd name="adj" fmla="val 889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11112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7F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Öneriler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1112" y="23317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 sayısını artır (en yüksek getiri)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Daha fazla denek → genelleme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Frekans-uzayı öznitelikleri ekle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k-kat çapraz doğrulama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mimari / KNN uzaklık-ağırlık taraması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22960"/>
            <a:ext cx="12188952" cy="1005840"/>
          </a:xfrm>
          <a:prstGeom prst="rect">
            <a:avLst/>
          </a:prstGeom>
        </p:spPr>
      </p:pic>
      <p:pic>
        <p:nvPicPr>
          <p:cNvPr id="3" name="Image 1" descr="/sessions/relaxed-adoring-bohr/mnt/btalhaguclu_master_works/outputs/wav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0640"/>
            <a:ext cx="12188952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103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48640" y="25603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Altı model içinde MEET ve Random Forest,</a:t>
            </a:r>
            <a:endParaRPr lang="en-US" sz="2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 kanallı sEMG'de en iyisi (&gt; %92)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1737360" y="388620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İyi tasarlanmış zaman-uzayı öznitelikleri klasik modelleri güçlü kılıyor; MLP rekabetçi, KNN en temel yaklaşım. Özel verideki tavan model değil, 2 kanalın fiziksel sınırıdır — en yüksek getirili adım kanal sayısını artırmaktır.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  •  Sorular?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DETAY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700" b="1" i="0">
                <a:solidFill>
                  <a:srgbClr val="33404A"/>
                </a:solidFill>
                <a:latin typeface="Bookman Old Style"/>
              </a:rPr>
              <a:t>MEET — Ayrıntı: Fikir, Mimari ve Uygulama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50" b="0" i="0">
                <a:solidFill>
                  <a:srgbClr val="2B2B2B"/>
                </a:solidFill>
                <a:latin typeface="Cambria"/>
              </a:rPr>
              <a:t>Temel fikir (Gehlot ve ark., 2024): tek bir modelle tüm sınıfları ayırmak yerine, her biri küçük bir sınıf alt kümesine uzmanlaşmış Extra Trees 'uzmanları' kullanmak.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486400" cy="251460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249424"/>
            <a:ext cx="5029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200" b="1" i="0">
                <a:solidFill>
                  <a:srgbClr val="5B7F6E"/>
                </a:solidFill>
                <a:latin typeface="Cambria"/>
              </a:rPr>
              <a:t>MAKALEDEKİ MİMARİ (Gehlot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15184"/>
            <a:ext cx="4983480" cy="1874519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N sınıf için ~N/2 uzman + 1 'kapı (gate)' sınıflandırıcı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Her uzman bir sınıf çiftini öğrenir (E1: sınıf 1–2, E2: 3–4, …)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Kapı, tüm veriyle eğitilir ve uzman çıktılarını ağırlıklandırır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Nihai çıktı = uzmanların ağırlıklı birleşimi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03120"/>
            <a:ext cx="5486400" cy="251460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2249424"/>
            <a:ext cx="5029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200" b="1" i="0">
                <a:solidFill>
                  <a:srgbClr val="5B7F6E"/>
                </a:solidFill>
                <a:latin typeface="Cambria"/>
              </a:rPr>
              <a:t>BU ÇALIŞMADAKİ UYGULAMA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615184"/>
            <a:ext cx="4983480" cy="1874519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scikit-learn OneVsOne + Extra Trees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Her sınıf çifti için bir ikili Extra Trees uzmanı (5 sınıf = 10 uzman)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Tahmin: oy çokluğu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200" b="0" i="0">
                <a:solidFill>
                  <a:srgbClr val="2B2B2B"/>
                </a:solidFill>
                <a:latin typeface="Cambria"/>
              </a:rPr>
              <a:t>Makaledeki 'uzmanlaşma' fikrinin pratik bir uyarlaması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1091672" cy="868680"/>
          </a:xfrm>
          <a:prstGeom prst="round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873752"/>
            <a:ext cx="10543032" cy="63093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NEDEN GÜÇLÜ? </a:t>
            </a:r>
            <a:r>
              <a:rPr sz="1250" b="0" i="0">
                <a:solidFill>
                  <a:srgbClr val="2B2B2B"/>
                </a:solidFill>
                <a:latin typeface="Cambria"/>
              </a:rPr>
              <a:t>Her uzman yalnızca birkaç sınıfa odaklandığından silindirik↔kapalı gibi zor çiftleri keskin ayırır → en dengeli ve en yüksek doğruluk (NinaPro &gt; %94).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000" b="0" i="1">
                <a:solidFill>
                  <a:srgbClr val="78736C"/>
                </a:solidFill>
                <a:latin typeface="Cambria"/>
              </a:rPr>
              <a:t>Kaynak: Gehlot, Jena, Kumar, Bukya (2024). MEET: Mixture of Experts Extra Tree-Based sEMG Hand Gesture Identification. arXiv:2405.09562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REFERANSLAR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2700" b="1" i="0">
                <a:solidFill>
                  <a:srgbClr val="33404A"/>
                </a:solidFill>
                <a:latin typeface="Bookman Old Style"/>
              </a:rPr>
              <a:t>Kaynaklar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1.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MEET modeli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Gehlot, N., Jena, A., Kumar, R., Bukya, M. (2024). MEET: Mixture of Experts Extra Tree-Based sEMG Hand Gesture Identification. arXiv:2405.09562.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58568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2.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NinaPro veri tabanı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Atzori, M. et al. (2014). Electromyography data for non-invasive naturally-controlled robotic hand prostheses. Scientific Data 1:140053. — ninapro.hevs.ch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16935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3.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NinaPro DB5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Pizzolato, S. et al. (2017). Comparison of six EMG acquisition setups on hand movement classification tasks. PLoS ONE 12(10):e0186132.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75303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4.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Zaman-uzayı öznitelikleri (RMS/MAV/WL/SSC)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Hudgins, B., Parker, P., Scott, R. N. (1993). A new strategy for multifunction myoelectric control. IEEE Trans. Biomed. Eng. 40(1):82–94.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33671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5.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Random Forest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Breiman, L. (2001). Random Forests. Machine Learning 45(1):5–32.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39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6.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Extra Trees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Geurts, P., Ernst, D., Wehenkel, L. (2006). Extremely randomized trees. Machine Learning 63(1):3–42.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50407"/>
            <a:ext cx="10972800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7.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scikit-learn (SVM, RF, ET, KNN, MLP)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Pedregosa, F. et al. (2011). Scikit-learn: Machine Learning in Python. JMLR 12:2825–2830.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Burak Talha Güçlü</dc:creator>
  <cp:lastModifiedBy>Burak Talha Güçlü</cp:lastModifiedBy>
  <cp:revision>1</cp:revision>
  <dcterms:created xsi:type="dcterms:W3CDTF">2026-07-15T13:04:10Z</dcterms:created>
  <dcterms:modified xsi:type="dcterms:W3CDTF">2026-07-15T13:04:10Z</dcterms:modified>
</cp:coreProperties>
</file>