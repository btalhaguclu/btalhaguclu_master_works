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A8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55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SVM</c:v>
                  </c:pt>
                  <c:pt idx="1">
                    <c:v>CNN</c:v>
                  </c:pt>
                  <c:pt idx="2">
                    <c:v>Random Forest</c:v>
                  </c:pt>
                  <c:pt idx="3">
                    <c:v>MEET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87.65</c:v>
                </c:pt>
                <c:pt idx="1">
                  <c:v>82.7</c:v>
                </c:pt>
                <c:pt idx="2">
                  <c:v>92.88</c:v>
                </c:pt>
                <c:pt idx="3">
                  <c:v>94.74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Introduction: This talk presents an AI-based study on recognizing hand gestures from surface EMG. We cover two datasets, four models, and a structured comparison. Target duration ~25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 start with the signal and motivation, detail data, features and models, then compare results and finish with challenges and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EMG basics: surface electrodes read muscle electrical activity. The signal is noisy and variable, so we window it and extract compact features rather than using the raw waveform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prosthetics, rehab, and HMI. The core challenge is signal variability and the confusion between similar grips — this drives every design decision in the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from raw signal through windowing, features, scaling, model, and evaluation — held constant so the models can be compared fairly.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datasets: NinaPro is a rich 8-channel open benchmark; the custom set is our own 2-channel recording. This contrast lets us isolate the effect of channel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NinaPro DB5: 8 channels, 4 subjects, 7 gestures, upsampled 200→1000 Hz. Being a standard database makes results comparable with published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 set: our own 2-channel recording, 6 gestures, 81k windows. The 2-channel limit is the root cause of the cylindrical-vs-closed confusion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NinaPro gestures: five B-series (thumb up, scissors, open, closed, point) and two C-series (cylindrical, pinch), from the standard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 gestures: six classes. Cylindrical is highlighted because it becomes the most problematic class in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Preprocessing: 150 ms windows with 80% overlap for both. NinaPro is upsampled; the custom set uses an onset detector to find the start of muscle activation.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features: RMS (power), MAV (amplitude), WL (complexity), SSC (frequency). Standard, cheap, effective. Dimensionality is driven by channel count: 32 vs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Time-domain features are cheap, robust, and literature-proven. They compress each window with little loss, which is why classical models stay competitive with deep learning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models: two classical (SVM, RF), one expert-ensemble (MEET), and one deep model (CNN). The aim is to contrast feature-based classical ML with deep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SVM: RBF kernel, C=10 — a well-performing classical setting for sEMG. Random Forest: 100 trees, robust to noise and gives feature importance.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MEET: a One-vs-One architecture with an Extra Trees expert per gesture pair. This is why it handles difficult pairs best and reaches the highest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CNNs because inputs differ: NinaPro feeds a raw 150x8 time series, the custom set feeds 8 features. One trained model can't span both, but one parameterized builder function can unify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Evaluation: stratified 80/20, scaling fit only on train, within- and cross-subject regimes, fixed seed 22, and normalized confusion-matrix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regimes: within-subject is optimistic (same users in train and test); cross-subject trains on some subjects and tests on completely new ones — the realistic, harder generalization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NinaPro results: MEET &gt;94.7% is best, RF 92.9%, SVM 87.7%, CNN ~82.7%. The MEET matrix shows every class above 92% — very balanced. Ranking: MEET &gt; RF &gt; CNN ≈ SVM.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bar chart shows model accuracies. Key point: with good features, classical models beat the CNN at this data scale. Hardest pairs are thumb-up/point and cylindrical/pinch.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Per-class table: MEET is best in every single class. The remaining confusions are cylindrical/pinch and thumb-up/point — physiologically similar movements.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 results: all ~71%. The matrix shows dominant cylindrical-closed mixing (cylindrical only 57%). Removing cylindrical lifts closed to 92% and overall to ~80% — the issue is one class not separable with 2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Removing cylindrical: closed gains 18 points, others improve modestly, overall ~80%. This isolates the confusion and proves models were fine — the 2-channel setup just can't separate cylindrical from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takeaways: channel count is the main performance driver; MEET's expert architecture wins on hard pairs; and good features let classical models beat the CNN at this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Challenges: cylindrical-closed mixing, the channel-count ceiling, the tip-removal experiment on a branch, and code-side issues (seed mismatch, duplication) fixed with a shared module and fixed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Recommendations: the highest-return step is more channels. Also more subjects, frequency-domain features, k-fold CV, hyperparameter search, and CNN data augmentation.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MEET plus good features give &gt;94% on 8 channels. The custom-data limit is channel count. The most impactful next step is more channels. Thank you —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93853"/>
            <a:ext cx="111732" cy="28701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203149" y="1443973"/>
            <a:ext cx="111732" cy="58677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06298" y="1624530"/>
            <a:ext cx="111732" cy="2256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609448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812597" y="1496053"/>
            <a:ext cx="111732" cy="48261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015746" y="1436597"/>
            <a:ext cx="111732" cy="60152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218895" y="1685297"/>
            <a:ext cx="111732" cy="10412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422044" y="1668540"/>
            <a:ext cx="111732" cy="13763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625194" y="1388815"/>
            <a:ext cx="111732" cy="69709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343" y="1464699"/>
            <a:ext cx="111732" cy="54532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2031492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2234641" y="1556936"/>
            <a:ext cx="111732" cy="36084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7790" y="1295429"/>
            <a:ext cx="111732" cy="88386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2640940" y="1532109"/>
            <a:ext cx="111732" cy="41050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2844089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3047238" y="1398363"/>
            <a:ext cx="111732" cy="67799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3250387" y="1250344"/>
            <a:ext cx="111732" cy="97403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3453536" y="1625969"/>
            <a:ext cx="111732" cy="22278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6686" y="1661749"/>
            <a:ext cx="111732" cy="15122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3859835" y="1227316"/>
            <a:ext cx="111732" cy="10200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2984" y="1283965"/>
            <a:ext cx="111732" cy="90679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4266133" y="1709815"/>
            <a:ext cx="111732" cy="5508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4469282" y="1516781"/>
            <a:ext cx="111732" cy="44115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4672432" y="1102294"/>
            <a:ext cx="111732" cy="127013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4875581" y="1397956"/>
            <a:ext cx="111732" cy="67880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5078730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5281879" y="1328847"/>
            <a:ext cx="111732" cy="81702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5028" y="1078919"/>
            <a:ext cx="111732" cy="131688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5688178" y="1552320"/>
            <a:ext cx="111732" cy="37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5891327" y="1676460"/>
            <a:ext cx="111732" cy="12179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4476" y="1164879"/>
            <a:ext cx="111732" cy="114496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6297625" y="1173840"/>
            <a:ext cx="111732" cy="112703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6500774" y="1682262"/>
            <a:ext cx="111732" cy="11019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6703924" y="1547133"/>
            <a:ext cx="111732" cy="38045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Shape 34"/>
          <p:cNvSpPr/>
          <p:nvPr/>
        </p:nvSpPr>
        <p:spPr>
          <a:xfrm>
            <a:off x="6907073" y="1091072"/>
            <a:ext cx="111732" cy="129257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7110222" y="1349551"/>
            <a:ext cx="111732" cy="7756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3371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Shape 37"/>
          <p:cNvSpPr/>
          <p:nvPr/>
        </p:nvSpPr>
        <p:spPr>
          <a:xfrm>
            <a:off x="7516520" y="1403333"/>
            <a:ext cx="111732" cy="66805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Shape 38"/>
          <p:cNvSpPr/>
          <p:nvPr/>
        </p:nvSpPr>
        <p:spPr>
          <a:xfrm>
            <a:off x="7719670" y="1133434"/>
            <a:ext cx="111732" cy="120785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1" name="Shape 39"/>
          <p:cNvSpPr/>
          <p:nvPr/>
        </p:nvSpPr>
        <p:spPr>
          <a:xfrm>
            <a:off x="7922819" y="1535962"/>
            <a:ext cx="111732" cy="4027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2" name="Shape 40"/>
          <p:cNvSpPr/>
          <p:nvPr/>
        </p:nvSpPr>
        <p:spPr>
          <a:xfrm>
            <a:off x="8125968" y="1708002"/>
            <a:ext cx="111732" cy="587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3" name="Shape 41"/>
          <p:cNvSpPr/>
          <p:nvPr/>
        </p:nvSpPr>
        <p:spPr>
          <a:xfrm>
            <a:off x="8329117" y="1305310"/>
            <a:ext cx="111732" cy="86409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4" name="Shape 42"/>
          <p:cNvSpPr/>
          <p:nvPr/>
        </p:nvSpPr>
        <p:spPr>
          <a:xfrm>
            <a:off x="8532266" y="1265398"/>
            <a:ext cx="111732" cy="9439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5" name="Shape 43"/>
          <p:cNvSpPr/>
          <p:nvPr/>
        </p:nvSpPr>
        <p:spPr>
          <a:xfrm>
            <a:off x="8735416" y="1671766"/>
            <a:ext cx="111732" cy="13118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6" name="Shape 44"/>
          <p:cNvSpPr/>
          <p:nvPr/>
        </p:nvSpPr>
        <p:spPr>
          <a:xfrm>
            <a:off x="8938565" y="1628401"/>
            <a:ext cx="111732" cy="21791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7" name="Shape 45"/>
          <p:cNvSpPr/>
          <p:nvPr/>
        </p:nvSpPr>
        <p:spPr>
          <a:xfrm>
            <a:off x="9141714" y="1283701"/>
            <a:ext cx="111732" cy="90731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8" name="Shape 46"/>
          <p:cNvSpPr/>
          <p:nvPr/>
        </p:nvSpPr>
        <p:spPr>
          <a:xfrm>
            <a:off x="9344863" y="1430343"/>
            <a:ext cx="111732" cy="61403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9" name="Shape 47"/>
          <p:cNvSpPr/>
          <p:nvPr/>
        </p:nvSpPr>
        <p:spPr>
          <a:xfrm>
            <a:off x="9548012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0" name="Shape 48"/>
          <p:cNvSpPr/>
          <p:nvPr/>
        </p:nvSpPr>
        <p:spPr>
          <a:xfrm>
            <a:off x="9751162" y="1542587"/>
            <a:ext cx="111732" cy="38954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1" name="Shape 49"/>
          <p:cNvSpPr/>
          <p:nvPr/>
        </p:nvSpPr>
        <p:spPr>
          <a:xfrm>
            <a:off x="9954311" y="1330781"/>
            <a:ext cx="111732" cy="81315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7460" y="1576520"/>
            <a:ext cx="111732" cy="321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3" name="Shape 51"/>
          <p:cNvSpPr/>
          <p:nvPr/>
        </p:nvSpPr>
        <p:spPr>
          <a:xfrm>
            <a:off x="10360609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4" name="Shape 52"/>
          <p:cNvSpPr/>
          <p:nvPr/>
        </p:nvSpPr>
        <p:spPr>
          <a:xfrm>
            <a:off x="10563758" y="1481126"/>
            <a:ext cx="111732" cy="51246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5" name="Shape 53"/>
          <p:cNvSpPr/>
          <p:nvPr/>
        </p:nvSpPr>
        <p:spPr>
          <a:xfrm>
            <a:off x="10766908" y="1417344"/>
            <a:ext cx="111732" cy="64003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6" name="Shape 54"/>
          <p:cNvSpPr/>
          <p:nvPr/>
        </p:nvSpPr>
        <p:spPr>
          <a:xfrm>
            <a:off x="10970057" y="1677069"/>
            <a:ext cx="111732" cy="12058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7" name="Shape 55"/>
          <p:cNvSpPr/>
          <p:nvPr/>
        </p:nvSpPr>
        <p:spPr>
          <a:xfrm>
            <a:off x="11173206" y="1685680"/>
            <a:ext cx="111732" cy="10335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8" name="Shape 56"/>
          <p:cNvSpPr/>
          <p:nvPr/>
        </p:nvSpPr>
        <p:spPr>
          <a:xfrm>
            <a:off x="11376355" y="1453747"/>
            <a:ext cx="111732" cy="56722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9" name="Shape 57"/>
          <p:cNvSpPr/>
          <p:nvPr/>
        </p:nvSpPr>
        <p:spPr>
          <a:xfrm>
            <a:off x="11579504" y="1514557"/>
            <a:ext cx="111732" cy="44560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0" name="Shape 58"/>
          <p:cNvSpPr/>
          <p:nvPr/>
        </p:nvSpPr>
        <p:spPr>
          <a:xfrm>
            <a:off x="11782654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1" name="Shape 59"/>
          <p:cNvSpPr/>
          <p:nvPr/>
        </p:nvSpPr>
        <p:spPr>
          <a:xfrm>
            <a:off x="11985803" y="1626704"/>
            <a:ext cx="111732" cy="22131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2" name="Shape 60"/>
          <p:cNvSpPr/>
          <p:nvPr/>
        </p:nvSpPr>
        <p:spPr>
          <a:xfrm>
            <a:off x="0" y="5078140"/>
            <a:ext cx="111732" cy="26788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3" name="Shape 61"/>
          <p:cNvSpPr/>
          <p:nvPr/>
        </p:nvSpPr>
        <p:spPr>
          <a:xfrm>
            <a:off x="203149" y="4938252"/>
            <a:ext cx="111732" cy="547656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4" name="Shape 62"/>
          <p:cNvSpPr/>
          <p:nvPr/>
        </p:nvSpPr>
        <p:spPr>
          <a:xfrm>
            <a:off x="406298" y="5106772"/>
            <a:ext cx="111732" cy="210616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5" name="Shape 63"/>
          <p:cNvSpPr/>
          <p:nvPr/>
        </p:nvSpPr>
        <p:spPr>
          <a:xfrm>
            <a:off x="609448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6" name="Shape 64"/>
          <p:cNvSpPr/>
          <p:nvPr/>
        </p:nvSpPr>
        <p:spPr>
          <a:xfrm>
            <a:off x="812597" y="4986860"/>
            <a:ext cx="111732" cy="45044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7" name="Shape 65"/>
          <p:cNvSpPr/>
          <p:nvPr/>
        </p:nvSpPr>
        <p:spPr>
          <a:xfrm>
            <a:off x="1015746" y="4931368"/>
            <a:ext cx="111732" cy="56142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8" name="Shape 66"/>
          <p:cNvSpPr/>
          <p:nvPr/>
        </p:nvSpPr>
        <p:spPr>
          <a:xfrm>
            <a:off x="1218895" y="5163488"/>
            <a:ext cx="111732" cy="9718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9" name="Shape 67"/>
          <p:cNvSpPr/>
          <p:nvPr/>
        </p:nvSpPr>
        <p:spPr>
          <a:xfrm>
            <a:off x="1422044" y="5147848"/>
            <a:ext cx="111732" cy="12846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0" name="Shape 68"/>
          <p:cNvSpPr/>
          <p:nvPr/>
        </p:nvSpPr>
        <p:spPr>
          <a:xfrm>
            <a:off x="1625194" y="4886771"/>
            <a:ext cx="111732" cy="65061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1" name="Shape 69"/>
          <p:cNvSpPr/>
          <p:nvPr/>
        </p:nvSpPr>
        <p:spPr>
          <a:xfrm>
            <a:off x="1828343" y="4957597"/>
            <a:ext cx="111732" cy="50896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2" name="Shape 70"/>
          <p:cNvSpPr/>
          <p:nvPr/>
        </p:nvSpPr>
        <p:spPr>
          <a:xfrm>
            <a:off x="2031492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3" name="Shape 71"/>
          <p:cNvSpPr/>
          <p:nvPr/>
        </p:nvSpPr>
        <p:spPr>
          <a:xfrm>
            <a:off x="2234641" y="5043684"/>
            <a:ext cx="111732" cy="33679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4" name="Shape 72"/>
          <p:cNvSpPr/>
          <p:nvPr/>
        </p:nvSpPr>
        <p:spPr>
          <a:xfrm>
            <a:off x="2437790" y="4799611"/>
            <a:ext cx="111732" cy="82493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5" name="Shape 73"/>
          <p:cNvSpPr/>
          <p:nvPr/>
        </p:nvSpPr>
        <p:spPr>
          <a:xfrm>
            <a:off x="2640940" y="5020512"/>
            <a:ext cx="111732" cy="38313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6" name="Shape 74"/>
          <p:cNvSpPr/>
          <p:nvPr/>
        </p:nvSpPr>
        <p:spPr>
          <a:xfrm>
            <a:off x="2844089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7" name="Shape 75"/>
          <p:cNvSpPr/>
          <p:nvPr/>
        </p:nvSpPr>
        <p:spPr>
          <a:xfrm>
            <a:off x="3047238" y="4895683"/>
            <a:ext cx="111732" cy="63279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8" name="Shape 76"/>
          <p:cNvSpPr/>
          <p:nvPr/>
        </p:nvSpPr>
        <p:spPr>
          <a:xfrm>
            <a:off x="3250387" y="4757531"/>
            <a:ext cx="111732" cy="90909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9" name="Shape 77"/>
          <p:cNvSpPr/>
          <p:nvPr/>
        </p:nvSpPr>
        <p:spPr>
          <a:xfrm>
            <a:off x="3453536" y="5108115"/>
            <a:ext cx="111732" cy="20793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0" name="Shape 78"/>
          <p:cNvSpPr/>
          <p:nvPr/>
        </p:nvSpPr>
        <p:spPr>
          <a:xfrm>
            <a:off x="3656686" y="5141509"/>
            <a:ext cx="111732" cy="14114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1" name="Shape 79"/>
          <p:cNvSpPr/>
          <p:nvPr/>
        </p:nvSpPr>
        <p:spPr>
          <a:xfrm>
            <a:off x="3859835" y="4736039"/>
            <a:ext cx="111732" cy="95208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2" name="Shape 80"/>
          <p:cNvSpPr/>
          <p:nvPr/>
        </p:nvSpPr>
        <p:spPr>
          <a:xfrm>
            <a:off x="4062984" y="4788911"/>
            <a:ext cx="111732" cy="84633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3" name="Shape 81"/>
          <p:cNvSpPr/>
          <p:nvPr/>
        </p:nvSpPr>
        <p:spPr>
          <a:xfrm>
            <a:off x="4266133" y="5186372"/>
            <a:ext cx="111732" cy="5141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4" name="Shape 82"/>
          <p:cNvSpPr/>
          <p:nvPr/>
        </p:nvSpPr>
        <p:spPr>
          <a:xfrm>
            <a:off x="4469282" y="5006206"/>
            <a:ext cx="111732" cy="41174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5" name="Shape 83"/>
          <p:cNvSpPr/>
          <p:nvPr/>
        </p:nvSpPr>
        <p:spPr>
          <a:xfrm>
            <a:off x="4672432" y="4619352"/>
            <a:ext cx="111732" cy="1185456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6" name="Shape 84"/>
          <p:cNvSpPr/>
          <p:nvPr/>
        </p:nvSpPr>
        <p:spPr>
          <a:xfrm>
            <a:off x="4875581" y="4895303"/>
            <a:ext cx="111732" cy="63355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7" name="Shape 85"/>
          <p:cNvSpPr/>
          <p:nvPr/>
        </p:nvSpPr>
        <p:spPr>
          <a:xfrm>
            <a:off x="5078730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8" name="Shape 86"/>
          <p:cNvSpPr/>
          <p:nvPr/>
        </p:nvSpPr>
        <p:spPr>
          <a:xfrm>
            <a:off x="5281879" y="4830802"/>
            <a:ext cx="111732" cy="76255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9" name="Shape 87"/>
          <p:cNvSpPr/>
          <p:nvPr/>
        </p:nvSpPr>
        <p:spPr>
          <a:xfrm>
            <a:off x="5485028" y="4597535"/>
            <a:ext cx="111732" cy="122908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0" name="Shape 88"/>
          <p:cNvSpPr/>
          <p:nvPr/>
        </p:nvSpPr>
        <p:spPr>
          <a:xfrm>
            <a:off x="5688178" y="5039376"/>
            <a:ext cx="111732" cy="34540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1" name="Shape 89"/>
          <p:cNvSpPr/>
          <p:nvPr/>
        </p:nvSpPr>
        <p:spPr>
          <a:xfrm>
            <a:off x="5891327" y="5155240"/>
            <a:ext cx="111732" cy="11367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2" name="Shape 90"/>
          <p:cNvSpPr/>
          <p:nvPr/>
        </p:nvSpPr>
        <p:spPr>
          <a:xfrm>
            <a:off x="6094476" y="4677764"/>
            <a:ext cx="111732" cy="106863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3" name="Shape 91"/>
          <p:cNvSpPr/>
          <p:nvPr/>
        </p:nvSpPr>
        <p:spPr>
          <a:xfrm>
            <a:off x="6297625" y="4686128"/>
            <a:ext cx="111732" cy="105190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4" name="Shape 92"/>
          <p:cNvSpPr/>
          <p:nvPr/>
        </p:nvSpPr>
        <p:spPr>
          <a:xfrm>
            <a:off x="6500774" y="5160656"/>
            <a:ext cx="111732" cy="10284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5" name="Shape 93"/>
          <p:cNvSpPr/>
          <p:nvPr/>
        </p:nvSpPr>
        <p:spPr>
          <a:xfrm>
            <a:off x="6703924" y="5034535"/>
            <a:ext cx="111732" cy="35509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6" name="Shape 94"/>
          <p:cNvSpPr/>
          <p:nvPr/>
        </p:nvSpPr>
        <p:spPr>
          <a:xfrm>
            <a:off x="6907073" y="4608878"/>
            <a:ext cx="111732" cy="120640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7" name="Shape 95"/>
          <p:cNvSpPr/>
          <p:nvPr/>
        </p:nvSpPr>
        <p:spPr>
          <a:xfrm>
            <a:off x="7110222" y="4850125"/>
            <a:ext cx="111732" cy="72391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8" name="Shape 96"/>
          <p:cNvSpPr/>
          <p:nvPr/>
        </p:nvSpPr>
        <p:spPr>
          <a:xfrm>
            <a:off x="7313371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9" name="Shape 97"/>
          <p:cNvSpPr/>
          <p:nvPr/>
        </p:nvSpPr>
        <p:spPr>
          <a:xfrm>
            <a:off x="7516520" y="4900321"/>
            <a:ext cx="111732" cy="62351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0" name="Shape 98"/>
          <p:cNvSpPr/>
          <p:nvPr/>
        </p:nvSpPr>
        <p:spPr>
          <a:xfrm>
            <a:off x="7719670" y="4648415"/>
            <a:ext cx="111732" cy="112732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1" name="Shape 99"/>
          <p:cNvSpPr/>
          <p:nvPr/>
        </p:nvSpPr>
        <p:spPr>
          <a:xfrm>
            <a:off x="7922819" y="5024108"/>
            <a:ext cx="111732" cy="37594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125968" y="5184679"/>
            <a:ext cx="111732" cy="5480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329117" y="4808834"/>
            <a:ext cx="111732" cy="80649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532266" y="4771582"/>
            <a:ext cx="111732" cy="88099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735416" y="5150859"/>
            <a:ext cx="111732" cy="12244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938565" y="5110385"/>
            <a:ext cx="111732" cy="20339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141714" y="4788665"/>
            <a:ext cx="111732" cy="84683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344863" y="4925530"/>
            <a:ext cx="111732" cy="57309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548012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751162" y="5030291"/>
            <a:ext cx="111732" cy="36357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954311" y="4832607"/>
            <a:ext cx="111732" cy="75894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157460" y="5061963"/>
            <a:ext cx="111732" cy="30023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360609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563758" y="4972929"/>
            <a:ext cx="111732" cy="47830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766908" y="4913398"/>
            <a:ext cx="111732" cy="59736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970057" y="5155808"/>
            <a:ext cx="111732" cy="11254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1173206" y="5163846"/>
            <a:ext cx="111732" cy="9646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1376355" y="4947375"/>
            <a:ext cx="111732" cy="52941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1579504" y="5004130"/>
            <a:ext cx="111732" cy="41590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782654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985803" y="5108801"/>
            <a:ext cx="111732" cy="20655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22" name="Text 120"/>
          <p:cNvSpPr/>
          <p:nvPr/>
        </p:nvSpPr>
        <p:spPr>
          <a:xfrm>
            <a:off x="548640" y="2331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CLASSIFICATION OF EMG SIGNALS FOR</a:t>
            </a:r>
            <a:endParaRPr lang="en-US" sz="1600" dirty="0"/>
          </a:p>
        </p:txBody>
      </p:sp>
      <p:sp>
        <p:nvSpPr>
          <p:cNvPr id="123" name="Text 121"/>
          <p:cNvSpPr/>
          <p:nvPr/>
        </p:nvSpPr>
        <p:spPr>
          <a:xfrm>
            <a:off x="548640" y="2788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Gesture Recognition Analysis</a:t>
            </a:r>
            <a:endParaRPr lang="en-US" sz="4400" dirty="0"/>
          </a:p>
        </p:txBody>
      </p:sp>
      <p:sp>
        <p:nvSpPr>
          <p:cNvPr id="124" name="Text 122"/>
          <p:cNvSpPr/>
          <p:nvPr/>
        </p:nvSpPr>
        <p:spPr>
          <a:xfrm>
            <a:off x="548640" y="3703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 • Feature Engineering • SVM · Random Forest · MEET · 1D CNN</a:t>
            </a:r>
            <a:endParaRPr lang="en-US" sz="1500" dirty="0"/>
          </a:p>
        </p:txBody>
      </p:sp>
      <p:sp>
        <p:nvSpPr>
          <p:cNvPr id="125" name="Text 123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Talha Güçlü  |  MSc Thesis Work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15084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150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signals &amp; motivation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4516" y="1815084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150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54596" y="16916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294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29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6060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77356" y="26060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4516" y="27294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2729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54596" y="26060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preprocessing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438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438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5204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(RMS/MAV/WL/SSC)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77356" y="35204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4516" y="36438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414516" y="36438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54596" y="35204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SVM · RF · MEET · CNN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" y="45582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558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44348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77356" y="44348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14516" y="45582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414516" y="4558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54596" y="44348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" y="54726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4726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53492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77356" y="53492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14516" y="54726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Text 40"/>
          <p:cNvSpPr/>
          <p:nvPr/>
        </p:nvSpPr>
        <p:spPr>
          <a:xfrm>
            <a:off x="6414516" y="54726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54596" y="53492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Surface EMG Signal?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2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EMG (sEMG)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electrodes on the forearm measure the electrical activity generated when muscles contract. Different hand gestures activate different muscle groups, producing distinguishable signal patterns.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Non-invasive, real-time, low-cost sensing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noisy and varies across people and trials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waveform is high-dimensional → summarized by features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features are cheap and effective for gestures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600200"/>
            <a:ext cx="4754880" cy="4160520"/>
          </a:xfrm>
          <a:prstGeom prst="roundRect">
            <a:avLst>
              <a:gd name="adj" fmla="val 197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233172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feeding the raw waveform directly, we slice it into short windows and compute compact descriptors of muscle activity. A classifier then maps these descriptors to a gesture.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32320" y="4988816"/>
            <a:ext cx="68042" cy="1722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7256033" y="4894931"/>
            <a:ext cx="68042" cy="35997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7379746" y="5003796"/>
            <a:ext cx="68042" cy="1422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03459" y="5061204"/>
            <a:ext cx="6804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7172" y="4912401"/>
            <a:ext cx="68042" cy="32503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7750885" y="4864788"/>
            <a:ext cx="68042" cy="42026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7874598" y="5037171"/>
            <a:ext cx="68042" cy="7549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7998311" y="5023200"/>
            <a:ext cx="68042" cy="10343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2024" y="4804199"/>
            <a:ext cx="68042" cy="54144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8245736" y="4857000"/>
            <a:ext cx="68042" cy="43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8369449" y="5061204"/>
            <a:ext cx="6804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8493162" y="4925009"/>
            <a:ext cx="68042" cy="29982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8616875" y="4704695"/>
            <a:ext cx="68042" cy="74045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8740588" y="4903008"/>
            <a:ext cx="68042" cy="3438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4301" y="5061204"/>
            <a:ext cx="6804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8988014" y="4798656"/>
            <a:ext cx="68042" cy="55252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9111727" y="4688797"/>
            <a:ext cx="68042" cy="77224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9235440" y="4989783"/>
            <a:ext cx="68042" cy="17027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9359153" y="5019702"/>
            <a:ext cx="68042" cy="11043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9482866" y="4722014"/>
            <a:ext cx="68042" cy="7058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9606579" y="4780015"/>
            <a:ext cx="68042" cy="58981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9730292" y="5058196"/>
            <a:ext cx="68042" cy="3344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9854005" y="4950670"/>
            <a:ext cx="68042" cy="248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9977718" y="4744664"/>
            <a:ext cx="68042" cy="6605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01431" y="4912550"/>
            <a:ext cx="68042" cy="32473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25144" y="5061204"/>
            <a:ext cx="6804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48856" y="4910226"/>
            <a:ext cx="68042" cy="3293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72569" y="4830859"/>
            <a:ext cx="68042" cy="48812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10596282" y="5011632"/>
            <a:ext cx="68042" cy="12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19995" y="5055594"/>
            <a:ext cx="68042" cy="3865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Shape 37"/>
          <p:cNvSpPr/>
          <p:nvPr/>
        </p:nvSpPr>
        <p:spPr>
          <a:xfrm>
            <a:off x="10843708" y="4905118"/>
            <a:ext cx="68042" cy="3396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Shape 38"/>
          <p:cNvSpPr/>
          <p:nvPr/>
        </p:nvSpPr>
        <p:spPr>
          <a:xfrm>
            <a:off x="10967421" y="4917320"/>
            <a:ext cx="68042" cy="31520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1" name="Shape 39"/>
          <p:cNvSpPr/>
          <p:nvPr/>
        </p:nvSpPr>
        <p:spPr>
          <a:xfrm>
            <a:off x="11091134" y="5060246"/>
            <a:ext cx="68042" cy="293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14847" y="5026165"/>
            <a:ext cx="68042" cy="97510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EMG Hand-Gesture Recognition?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which gesture a person performs from forearm muscle signals enables natural, hands-free control — central to several real-world applications.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852160" cy="822960"/>
          </a:xfrm>
          <a:prstGeom prst="roundRect">
            <a:avLst>
              <a:gd name="adj" fmla="val 10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95351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8529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Prosthetic hand control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1821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control for amputees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852160" cy="822960"/>
          </a:xfrm>
          <a:prstGeom prst="roundRect">
            <a:avLst>
              <a:gd name="adj" fmla="val 10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391363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8130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Rehabilitation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41422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Muscle-activation tracking &amp; therapy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5852160" cy="822960"/>
          </a:xfrm>
          <a:prstGeom prst="roundRect">
            <a:avLst>
              <a:gd name="adj" fmla="val 10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487375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7731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Human–machine interface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51023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Touchless commands &amp; interaction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4754880" cy="4206240"/>
          </a:xfrm>
          <a:prstGeom prst="roundRect">
            <a:avLst>
              <a:gd name="adj" fmla="val 195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2860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varies between people and even between trials. 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power grips (cylindrical ↔ closed) produce very close muscle activation.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choice of discriminative features and the right model is decisive.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and Processing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compare classical machine learning with deep learning on two different EMG datasets, using one identical pipeline for a fair comparison.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3564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83564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3504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.mat signals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21408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452421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87345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2987345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07285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07285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ms windows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5189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356202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1126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89112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11066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11066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RMS·MAV·WL·SSC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28970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259982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94906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79490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14846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14846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32750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8163763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12557A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98687" y="2542032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1" name="Text 29"/>
          <p:cNvSpPr/>
          <p:nvPr/>
        </p:nvSpPr>
        <p:spPr>
          <a:xfrm>
            <a:off x="8698687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18627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18627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SVM·RF·MEET·CNN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736531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10067544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602468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10602468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122408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122408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matrix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is applied to both datasets and all four models → an apples-to-apples comparison.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Complementary Datasets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DB5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benchmark database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(Myo armband)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2324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32324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S2, S5, S10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767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3022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43022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Hz → 1000 Hz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837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48371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dims/window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3721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53721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19,591 windows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36792" y="160020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36792" y="16002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12557A"/>
          </a:solidFill>
          <a:ln/>
        </p:spPr>
      </p:sp>
      <p:sp>
        <p:nvSpPr>
          <p:cNvPr id="22" name="Text 20"/>
          <p:cNvSpPr/>
          <p:nvPr/>
        </p:nvSpPr>
        <p:spPr>
          <a:xfrm>
            <a:off x="6611112" y="16733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(Ecem &amp; Selman)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11112" y="2075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2-channel recording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05672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11112" y="32324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05672" y="32324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Ecem, Selman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11112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05672" y="3767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11112" y="43022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05672" y="43022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Hz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11112" y="4837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05672" y="48371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dims/window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11112" y="53721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05672" y="53721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81,275 windows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DB5 — Details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sEMG benchmark. The first 8 channels of the forearm Myo armband are used. Since the raw signal is 200 Hz, it is upsampled to 1000 Hz to increase temporal resolution.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2004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channels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7712" y="301752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67712" y="32004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67712" y="38404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86784" y="301752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86784" y="32004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86784" y="38404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05856" y="301752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05856" y="32004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19,591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705856" y="38404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66344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NinaPro?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reproducible and multi-subject; it makes results comparable with the literature.</a:t>
            </a:r>
            <a:endParaRPr lang="en-US" sz="1400" dirty="0"/>
          </a:p>
        </p:txBody>
      </p:sp>
      <p:pic>
        <p:nvPicPr>
          <p:cNvPr id="19" name="Image 0" descr="/sessions/relaxed-adoring-bohr/mnt/btalhaguclu_master_works/docs/images/hand_mo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600200"/>
            <a:ext cx="42062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Dataset — Ecem &amp; Selman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from two subjects with a low-cost 2-channel setup. Signals are stored per channel (ch1, ch2) for each gesture, across four raw .mat files.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channels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7712" y="292608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67712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67712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86784" y="292608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86784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86784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05856" y="292608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05856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81,275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705856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6675120" cy="1188720"/>
          </a:xfrm>
          <a:prstGeom prst="roundRect">
            <a:avLst>
              <a:gd name="adj" fmla="val 6923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57200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channels → limited spatial information to separate similar grips. This is the main reason behind later performance gaps.</a:t>
            </a:r>
            <a:endParaRPr lang="en-US" sz="1400" dirty="0"/>
          </a:p>
        </p:txBody>
      </p:sp>
      <p:pic>
        <p:nvPicPr>
          <p:cNvPr id="19" name="Image 0" descr="/sessions/relaxed-adoring-bohr/mnt/btalhaguclu_master_works/docs/images/mo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600200"/>
            <a:ext cx="42062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Hand Gestures — NinaPro (7)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up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737360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7373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78040" y="17373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95728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395728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23957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hand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2395728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395728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78040" y="23957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hand / fist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054096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054096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05409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305409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3054096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054096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05409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305409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Cylindrical grip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337560" y="3712464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3712464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2557A"/>
          </a:solidFill>
          <a:ln/>
        </p:spPr>
      </p:sp>
      <p:sp>
        <p:nvSpPr>
          <p:cNvPr id="30" name="Text 28"/>
          <p:cNvSpPr/>
          <p:nvPr/>
        </p:nvSpPr>
        <p:spPr>
          <a:xfrm>
            <a:off x="3337560" y="371246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89120" y="371246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/ fine grip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B- and C-series movements from the NinaPro protocol; labels 0–6.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Hand Gestures — Custom (6)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90195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72784" y="190195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272784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17830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(fingertip)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569464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268833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56946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sign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2569464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2784" y="268833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256946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/ fist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355848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" y="3474720"/>
            <a:ext cx="420624" cy="42062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3474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35584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 — cylindrical grip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26480" y="3355848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72784" y="347472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272784" y="3474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0" y="335584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hand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51663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'cyl' (cylindrical) gesture is the most-confused class in this 2-channel set — detailed in the results.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repetitions of each gesture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 200 Hz → 1000 Hz (×5 resample)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150-sample (150 ms) sliding window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30-sample step → 80% overlap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32-dim feature CSV + raw (150×8) CNN tensor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36792" y="164592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11112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1112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detection: mean |amplitude| &gt; 435 over a 40 ms window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ms windows from the onset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ms step → 80% overlap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window: 2 channels × 4 features = 8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custom_dataset.csv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 — Time Domain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classic time-domain features per channel. At low compute cost they jointly summarize the amplitude and frequency character of muscle activity.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32888" cy="2286000"/>
          </a:xfrm>
          <a:prstGeom prst="roundRect">
            <a:avLst>
              <a:gd name="adj" fmla="val 36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77440"/>
            <a:ext cx="2532888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muscle power / energy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1568" y="2377440"/>
            <a:ext cx="2532888" cy="2286000"/>
          </a:xfrm>
          <a:prstGeom prst="roundRect">
            <a:avLst>
              <a:gd name="adj" fmla="val 36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2377440"/>
            <a:ext cx="2532888" cy="777240"/>
          </a:xfrm>
          <a:prstGeom prst="roundRect">
            <a:avLst>
              <a:gd name="adj" fmla="val 10588"/>
            </a:avLst>
          </a:prstGeom>
          <a:solidFill>
            <a:srgbClr val="12557A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237744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38728" y="32918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Value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38728" y="38862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amplitude / intensity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54496" y="2377440"/>
            <a:ext cx="2532888" cy="2286000"/>
          </a:xfrm>
          <a:prstGeom prst="roundRect">
            <a:avLst>
              <a:gd name="adj" fmla="val 36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2377440"/>
            <a:ext cx="2532888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237744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WL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91656" y="32918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Length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91656" y="38862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complexity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07424" y="2377440"/>
            <a:ext cx="2532888" cy="2286000"/>
          </a:xfrm>
          <a:prstGeom prst="roundRect">
            <a:avLst>
              <a:gd name="adj" fmla="val 36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07424" y="2377440"/>
            <a:ext cx="2532888" cy="777240"/>
          </a:xfrm>
          <a:prstGeom prst="roundRect">
            <a:avLst>
              <a:gd name="adj" fmla="val 10588"/>
            </a:avLst>
          </a:prstGeom>
          <a:solidFill>
            <a:srgbClr val="12557A"/>
          </a:solidFill>
          <a:ln/>
        </p:spPr>
      </p:sp>
      <p:sp>
        <p:nvSpPr>
          <p:cNvPr id="22" name="Text 20"/>
          <p:cNvSpPr/>
          <p:nvPr/>
        </p:nvSpPr>
        <p:spPr>
          <a:xfrm>
            <a:off x="9107424" y="237744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SSC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244584" y="32918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Sign Changes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44584" y="38862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Frequency-content estimator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4937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size = channels × 4  →  </a:t>
            </a:r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NinaPro 8×4 = 32</a:t>
            </a:r>
            <a:pPr algn="ctr" indent="0" marL="0">
              <a:buNone/>
            </a:pPr>
            <a:r>
              <a:rPr lang="en-US" sz="16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2×4 = 8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Hand-Crafted Time-Domain Features?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cheap to compute → suitable for real-time / embedded prosthetics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the small shifts and noise typical of surface EMG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established in the sEMG literature for gesture recognition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a 150-sample window into 4 numbers per channel with little information loss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simple, data-efficient classifiers reach high accuracy without huge datasets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1737360"/>
            <a:ext cx="4389120" cy="3931920"/>
          </a:xfrm>
          <a:prstGeom prst="roundRect">
            <a:avLst>
              <a:gd name="adj" fmla="val 2093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0" y="23774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features do much of the work. This is exactly why, later, classical models can match or beat a CNN that must learn everything from the raw signal.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 Compared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3172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31720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kernel; strong boundary in high-dim space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01168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12557A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116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0956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09560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100-tree ensemble; robust to noise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2336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233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331720" y="4069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of Experts Extra Trees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31720" y="4663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One-vs-One experts; separates similar pairs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02336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0233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09560" y="4069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Convolutional Net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09560" y="4663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automatically from signal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and Random Forest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(Support Vector Machine)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(radial basis function) kernel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10, gamma = 'scale'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in high-dimensional feature spaces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non-linear decision boundaries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36792" y="169164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36792" y="1691640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12557A"/>
          </a:solidFill>
          <a:ln/>
        </p:spPr>
      </p:sp>
      <p:sp>
        <p:nvSpPr>
          <p:cNvPr id="10" name="Text 8"/>
          <p:cNvSpPr/>
          <p:nvPr/>
        </p:nvSpPr>
        <p:spPr>
          <a:xfrm>
            <a:off x="6611112" y="16916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11112" y="25603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(n_estimators=100)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max_depth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noise and overfitting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provides feature importance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— Mixture of Experts Extra Trees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multiclass problem is split into binary sub-problems using a One-vs-One strategy. A separate Extra Trees 'expert' is trained for every gesture pair.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learner: Extra Trees (100 trees)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One-vs-One — one expert per pair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similar pairs (B1↔B7, C5↔C14) more sharply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Xiong et al. (2024)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45920"/>
            <a:ext cx="4297680" cy="41148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STRONG?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0" y="237744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model handling all classes at once, it uses specialized experts per pair. The hardest pairs are separated more cleanly — giving the most balanced and highest accuracy.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CNN — and Why Two Architectures?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212080" cy="640080"/>
          </a:xfrm>
          <a:prstGeom prst="roundRect">
            <a:avLst>
              <a:gd name="adj" fmla="val 12857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NinaPro CNN (raw 150×8)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raw time series (150 steps × 8 channels)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Conv1D (64/128) + BatchNorm + MaxPool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kernels (10, 5) → temporal patterns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36792" y="1691640"/>
            <a:ext cx="52120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36792" y="1691640"/>
            <a:ext cx="5212080" cy="640080"/>
          </a:xfrm>
          <a:prstGeom prst="roundRect">
            <a:avLst>
              <a:gd name="adj" fmla="val 12857"/>
            </a:avLst>
          </a:prstGeom>
          <a:solidFill>
            <a:srgbClr val="12557A"/>
          </a:solidFill>
          <a:ln/>
        </p:spPr>
      </p:sp>
      <p:sp>
        <p:nvSpPr>
          <p:cNvPr id="10" name="Text 8"/>
          <p:cNvSpPr/>
          <p:nvPr/>
        </p:nvSpPr>
        <p:spPr>
          <a:xfrm>
            <a:off x="6611112" y="1691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(8 features)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11112" y="24688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8 feature values (8 × 1)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Conv1D(32,3) + Dense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axis → a tiny network suffices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89204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one model do both?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trained network can't take both (different input shape/channels). But a single parameterized function — build_cnn(input_shape, classes) — gives ONE codebase adapting to each shape.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6080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608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 split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94960" y="179222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preserving class balance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7020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020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6334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on train only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263347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 only on train → no leakage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5433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474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 vs cross-subject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94960" y="34747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subjects / entirely unseen subjects (S1, S10)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61104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3845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845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 (seed = 22)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43159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across all models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102352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2257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2257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51572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94960" y="515721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precision/recall/F1, normalized confusion matrix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Within-Subject vs Cross-Subject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212080" cy="731520"/>
          </a:xfrm>
          <a:prstGeom prst="roundRect">
            <a:avLst>
              <a:gd name="adj" fmla="val 1125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Within-subject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test data share the same subjects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80/20 split over the S2+S5 pool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accuracy on familiar 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estimate — the model has 'seen' each user.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36792" y="169164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36792" y="1691640"/>
            <a:ext cx="5212080" cy="731520"/>
          </a:xfrm>
          <a:prstGeom prst="roundRect">
            <a:avLst>
              <a:gd name="adj" fmla="val 11250"/>
            </a:avLst>
          </a:prstGeom>
          <a:solidFill>
            <a:srgbClr val="12557A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16916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Cross-subject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11112" y="260604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S2, S5 — test on unseen S1, S10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fit on training subjects only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true generalization to new users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11112" y="5029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and more realistic — the real deployment scenario.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NinaPro DB5 (8 channels)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(Extra Trees + OvO)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0" y="178308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94.74%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71576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2715768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92.88%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648456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648456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0" y="3648456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87.65%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581144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581144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 (raw)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4581144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B7A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82.7%</a:t>
            </a:r>
            <a:endParaRPr lang="en-US" sz="2000" dirty="0"/>
          </a:p>
        </p:txBody>
      </p:sp>
      <p:pic>
        <p:nvPicPr>
          <p:cNvPr id="16" name="Image 0" descr="/sessions/relaxed-adoring-bohr/mnt/btalhaguclu_master_works/outputs/ninapro/MEET_4sbj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600200"/>
            <a:ext cx="5303520" cy="42062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355080" y="5806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confusion matrix — above 92% on almost every class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— Model Comparison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737360"/>
            <a:ext cx="4389120" cy="3931920"/>
          </a:xfrm>
          <a:prstGeom prst="roundRect">
            <a:avLst>
              <a:gd name="adj" fmla="val 2093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0" y="237744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and RF, the feature-based classical methods, scored highest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lagged despite learning from the raw signal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data scale, hand-crafted features (RMS/MAV/WL/SSC) are more discriminative than raw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pairs: B1↔B7 and C5↔C14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— Per-Class Accuracy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502920"/>
          </a:xfrm>
          <a:prstGeom prst="rect">
            <a:avLst/>
          </a:prstGeom>
          <a:solidFill>
            <a:srgbClr val="0B254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83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1554480" cy="502920"/>
          </a:xfrm>
          <a:prstGeom prst="rect">
            <a:avLst/>
          </a:prstGeom>
          <a:solidFill>
            <a:srgbClr val="0B254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1568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783080"/>
            <a:ext cx="2103120" cy="502920"/>
          </a:xfrm>
          <a:prstGeom prst="rect">
            <a:avLst/>
          </a:prstGeom>
          <a:solidFill>
            <a:srgbClr val="0B254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6048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49440" y="1783080"/>
            <a:ext cx="1554480" cy="502920"/>
          </a:xfrm>
          <a:prstGeom prst="rect">
            <a:avLst/>
          </a:prstGeom>
          <a:solidFill>
            <a:srgbClr val="0B254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9168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03920" y="1783080"/>
            <a:ext cx="3108960" cy="502920"/>
          </a:xfrm>
          <a:prstGeom prst="rect">
            <a:avLst/>
          </a:prstGeom>
          <a:solidFill>
            <a:srgbClr val="0B254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13648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confusion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274320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286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up (B1)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91840" y="2286000"/>
            <a:ext cx="155448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46320" y="2286000"/>
            <a:ext cx="210312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2286000"/>
            <a:ext cx="155448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503920" y="2286000"/>
            <a:ext cx="310896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(Point)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278892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788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Scissors (B2)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291840" y="278892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86.2%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46320" y="278892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949440" y="278892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92.7%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503920" y="278892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13648" y="2788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(Point)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3291840"/>
            <a:ext cx="274320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3291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(B5)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291840" y="3291840"/>
            <a:ext cx="155448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3291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90.2%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846320" y="3291840"/>
            <a:ext cx="210312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94.6%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949440" y="3291840"/>
            <a:ext cx="155448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9168" y="3291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94.8%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503920" y="3291840"/>
            <a:ext cx="310896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13648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379476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(B6)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3291840" y="379476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1568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88.3%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846320" y="379476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56048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89.9%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949440" y="379476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59168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92.6%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8503920" y="379476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13648" y="3794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B2, B5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48640" y="4297680"/>
            <a:ext cx="274320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(B7)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3291840" y="4297680"/>
            <a:ext cx="155448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01568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87.0%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4846320" y="4297680"/>
            <a:ext cx="210312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56048" y="4297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6949440" y="4297680"/>
            <a:ext cx="155448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59168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95.1%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8503920" y="4297680"/>
            <a:ext cx="310896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13648" y="4297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(Thumb up)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8368" y="4800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Cylindrical (C5)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3291840" y="480060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01568" y="4800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84.4%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4846320" y="480060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56048" y="4800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90.4%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6949440" y="480060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59168" y="4800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8503920" y="480060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13648" y="4800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C14 (Pinch)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548640" y="5303520"/>
            <a:ext cx="274320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8368" y="5303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(C14)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3291840" y="5303520"/>
            <a:ext cx="155448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01568" y="5303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90.2%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4846320" y="5303520"/>
            <a:ext cx="210312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56048" y="5303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1250" dirty="0"/>
          </a:p>
        </p:txBody>
      </p:sp>
      <p:sp>
        <p:nvSpPr>
          <p:cNvPr id="80" name="Shape 78"/>
          <p:cNvSpPr/>
          <p:nvPr/>
        </p:nvSpPr>
        <p:spPr>
          <a:xfrm>
            <a:off x="6949440" y="5303520"/>
            <a:ext cx="155448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59168" y="5303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1250" dirty="0"/>
          </a:p>
        </p:txBody>
      </p:sp>
      <p:sp>
        <p:nvSpPr>
          <p:cNvPr id="82" name="Shape 80"/>
          <p:cNvSpPr/>
          <p:nvPr/>
        </p:nvSpPr>
        <p:spPr>
          <a:xfrm>
            <a:off x="8503920" y="5303520"/>
            <a:ext cx="3108960" cy="50292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613648" y="5303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B7, C5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leads on every class; C5↔C14 and B1↔B7 remain the only notable confusions.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Custom Data (2 channels)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2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classical models stalled at ~71%.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confusion matrix shows why: heavy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cylindrical ↔ closed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mixing.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86400" cy="640080"/>
          </a:xfrm>
          <a:prstGeom prst="roundRect">
            <a:avLst>
              <a:gd name="adj" fmla="val 12857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0" y="2514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71.19%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486400" cy="640080"/>
          </a:xfrm>
          <a:prstGeom prst="roundRect">
            <a:avLst>
              <a:gd name="adj" fmla="val 12857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246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71.63%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86400" cy="640080"/>
          </a:xfrm>
          <a:prstGeom prst="roundRect">
            <a:avLst>
              <a:gd name="adj" fmla="val 12857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977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70.93%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846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cylindrical: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'closed' accuracy jumps 73.6% → 91.8%, overall ~80%. The problem isn't the model — it's one inseparable class.</a:t>
            </a:r>
            <a:endParaRPr lang="en-US" sz="1350" dirty="0"/>
          </a:p>
        </p:txBody>
      </p:sp>
      <p:pic>
        <p:nvPicPr>
          <p:cNvPr id="16" name="Image 0" descr="/sessions/relaxed-adoring-bohr/mnt/btalhaguclu_master_works/outputs/custom/sv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645920"/>
            <a:ext cx="5303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— Effect of Removing 'Cylindrical'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the single inseparable class (5-class setup) sharply improves the rest — proof that the low score came from one class, not weak models.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743200" cy="548640"/>
          </a:xfrm>
          <a:prstGeom prst="rect">
            <a:avLst/>
          </a:prstGeom>
          <a:solidFill>
            <a:srgbClr val="0B254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23317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2331720"/>
            <a:ext cx="2743200" cy="548640"/>
          </a:xfrm>
          <a:prstGeom prst="rect">
            <a:avLst/>
          </a:prstGeom>
          <a:solidFill>
            <a:srgbClr val="0B254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9856" y="23317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6-class (with cyl)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2331720"/>
            <a:ext cx="2743200" cy="548640"/>
          </a:xfrm>
          <a:prstGeom prst="rect">
            <a:avLst/>
          </a:prstGeom>
          <a:solidFill>
            <a:srgbClr val="0B254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63056" y="23317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 (no cyl)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78240" y="2331720"/>
            <a:ext cx="1920240" cy="548640"/>
          </a:xfrm>
          <a:prstGeom prst="rect">
            <a:avLst/>
          </a:prstGeom>
          <a:solidFill>
            <a:srgbClr val="0B254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06256" y="233172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2743200" cy="54864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8803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2880360"/>
            <a:ext cx="2743200" cy="54864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9856" y="28803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67.0%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2880360"/>
            <a:ext cx="2743200" cy="54864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28803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78240" y="2880360"/>
            <a:ext cx="1920240" cy="54864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06256" y="288036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4290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342900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34290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35040" y="342900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34290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76.1%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342900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06256" y="342900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2743200" cy="54864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397764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91840" y="3977640"/>
            <a:ext cx="2743200" cy="54864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9856" y="397764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76.1%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5040" y="3977640"/>
            <a:ext cx="2743200" cy="54864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3056" y="397764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778240" y="3977640"/>
            <a:ext cx="1920240" cy="54864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06256" y="39776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4526280"/>
            <a:ext cx="2743200" cy="548640"/>
          </a:xfrm>
          <a:prstGeom prst="rect">
            <a:avLst/>
          </a:prstGeom>
          <a:solidFill>
            <a:srgbClr val="E8F6F1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" y="452628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91840" y="4526280"/>
            <a:ext cx="2743200" cy="548640"/>
          </a:xfrm>
          <a:prstGeom prst="rect">
            <a:avLst/>
          </a:prstGeom>
          <a:solidFill>
            <a:srgbClr val="E8F6F1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9856" y="452628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73.6%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035040" y="4526280"/>
            <a:ext cx="2743200" cy="548640"/>
          </a:xfrm>
          <a:prstGeom prst="rect">
            <a:avLst/>
          </a:prstGeom>
          <a:solidFill>
            <a:srgbClr val="E8F6F1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452628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778240" y="4526280"/>
            <a:ext cx="1920240" cy="548640"/>
          </a:xfrm>
          <a:prstGeom prst="rect">
            <a:avLst/>
          </a:prstGeom>
          <a:solidFill>
            <a:srgbClr val="E8F6F1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06256" y="452628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+18.2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5074920"/>
            <a:ext cx="2743200" cy="54864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" y="50749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291840" y="5074920"/>
            <a:ext cx="2743200" cy="54864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19856" y="50749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75.0%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035040" y="5074920"/>
            <a:ext cx="2743200" cy="54864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63056" y="50749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778240" y="5074920"/>
            <a:ext cx="1920240" cy="548640"/>
          </a:xfrm>
          <a:prstGeom prst="rect">
            <a:avLst/>
          </a:prstGeom>
          <a:solidFill>
            <a:srgbClr val="EAF1F5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06256" y="507492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562356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" y="56235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cylindrical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291840" y="562356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19856" y="56235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57.3%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035040" y="562356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63056" y="56235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778240" y="562356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06256" y="562356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'closed' gesture gains +18 points once cylindrical is gone — they were the confused pair.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64592" cy="1234440"/>
          </a:xfrm>
          <a:prstGeom prst="roundRect">
            <a:avLst>
              <a:gd name="adj" fmla="val 22222"/>
            </a:avLst>
          </a:prstGeom>
          <a:solidFill>
            <a:srgbClr val="F4A30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NinaPro ≫ Custom?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channels give the spatial resolution needed to separate similar grips; 2 channels do not. The ~24-point gap is largely channel count.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154680"/>
            <a:ext cx="164592" cy="1234440"/>
          </a:xfrm>
          <a:prstGeom prst="roundRect">
            <a:avLst>
              <a:gd name="adj" fmla="val 22222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918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MEET best?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70332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One-vs-One experts separate hard pairs (B1↔B7, C5↔C14) sharply; Extra Trees reduces variance → balanced, high accuracy.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526280"/>
            <a:ext cx="164592" cy="1234440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6634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CNN lag?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507492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data scale, hand-crafted features already summarize muscle activity tightly, so the CNN's raw-signal advantage is limited.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3911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Cylindrical ↔ closed mixing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power grips inseparable with 2 channels; the main factor lowering accuracy.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011680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95160" y="203911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Channel-count ceiling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46520" y="2743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spatial info in the custom set → low performance ceiling.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0050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'tip' experiment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branch was created to remove one gesture and measure its effect.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977640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95160" y="40050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&amp; code order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4709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seeds (42/22), duplicated code and a messy repo → fixed with a shared module + fixed seed.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channel count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23042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channels in the custom rig → highest-return fix for cyl/closed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057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subjects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49440" y="23042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generalization and cross-subject performance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35808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35584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1729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features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6027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Mean/median frequency, power spectrum → separate similar grips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035808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35584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1729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49440" y="36027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single split → more reliable, defensible accuracy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334256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65429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44714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490118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SVM (C, gamma) and tree counts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4334256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465429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49440" y="44714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for CNN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49440" y="490118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Jitter/scaling + deeper model → strengthen learning from raw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20642"/>
            <a:ext cx="111732" cy="21047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" name="Shape 1"/>
          <p:cNvSpPr/>
          <p:nvPr/>
        </p:nvSpPr>
        <p:spPr>
          <a:xfrm>
            <a:off x="203149" y="1110729"/>
            <a:ext cx="111732" cy="43030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" name="Shape 2"/>
          <p:cNvSpPr/>
          <p:nvPr/>
        </p:nvSpPr>
        <p:spPr>
          <a:xfrm>
            <a:off x="406298" y="1243138"/>
            <a:ext cx="111732" cy="16548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" name="Shape 3"/>
          <p:cNvSpPr/>
          <p:nvPr/>
        </p:nvSpPr>
        <p:spPr>
          <a:xfrm>
            <a:off x="609448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" name="Shape 4"/>
          <p:cNvSpPr/>
          <p:nvPr/>
        </p:nvSpPr>
        <p:spPr>
          <a:xfrm>
            <a:off x="812597" y="1148921"/>
            <a:ext cx="111732" cy="35391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" name="Shape 5"/>
          <p:cNvSpPr/>
          <p:nvPr/>
        </p:nvSpPr>
        <p:spPr>
          <a:xfrm>
            <a:off x="1015746" y="1105321"/>
            <a:ext cx="111732" cy="44111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" name="Shape 6"/>
          <p:cNvSpPr/>
          <p:nvPr/>
        </p:nvSpPr>
        <p:spPr>
          <a:xfrm>
            <a:off x="1218895" y="1287701"/>
            <a:ext cx="111732" cy="7635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" name="Shape 7"/>
          <p:cNvSpPr/>
          <p:nvPr/>
        </p:nvSpPr>
        <p:spPr>
          <a:xfrm>
            <a:off x="1422044" y="1275412"/>
            <a:ext cx="111732" cy="10093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" name="Shape 8"/>
          <p:cNvSpPr/>
          <p:nvPr/>
        </p:nvSpPr>
        <p:spPr>
          <a:xfrm>
            <a:off x="1625194" y="1070280"/>
            <a:ext cx="111732" cy="51120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343" y="1125929"/>
            <a:ext cx="111732" cy="39990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31492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3" name="Shape 11"/>
          <p:cNvSpPr/>
          <p:nvPr/>
        </p:nvSpPr>
        <p:spPr>
          <a:xfrm>
            <a:off x="2234641" y="1193569"/>
            <a:ext cx="111732" cy="26462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7790" y="1001797"/>
            <a:ext cx="111732" cy="648166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5" name="Shape 13"/>
          <p:cNvSpPr/>
          <p:nvPr/>
        </p:nvSpPr>
        <p:spPr>
          <a:xfrm>
            <a:off x="2640940" y="1175363"/>
            <a:ext cx="111732" cy="30103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6" name="Shape 14"/>
          <p:cNvSpPr/>
          <p:nvPr/>
        </p:nvSpPr>
        <p:spPr>
          <a:xfrm>
            <a:off x="2844089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7" name="Shape 15"/>
          <p:cNvSpPr/>
          <p:nvPr/>
        </p:nvSpPr>
        <p:spPr>
          <a:xfrm>
            <a:off x="3047238" y="1077283"/>
            <a:ext cx="111732" cy="49719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8" name="Shape 16"/>
          <p:cNvSpPr/>
          <p:nvPr/>
        </p:nvSpPr>
        <p:spPr>
          <a:xfrm>
            <a:off x="3250387" y="968735"/>
            <a:ext cx="111732" cy="71429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9" name="Shape 17"/>
          <p:cNvSpPr/>
          <p:nvPr/>
        </p:nvSpPr>
        <p:spPr>
          <a:xfrm>
            <a:off x="3453536" y="1244193"/>
            <a:ext cx="111732" cy="16337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6686" y="1270432"/>
            <a:ext cx="111732" cy="11089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1" name="Shape 19"/>
          <p:cNvSpPr/>
          <p:nvPr/>
        </p:nvSpPr>
        <p:spPr>
          <a:xfrm>
            <a:off x="3859835" y="951848"/>
            <a:ext cx="111732" cy="74806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2984" y="993390"/>
            <a:ext cx="111732" cy="66498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3" name="Shape 21"/>
          <p:cNvSpPr/>
          <p:nvPr/>
        </p:nvSpPr>
        <p:spPr>
          <a:xfrm>
            <a:off x="4266133" y="1305681"/>
            <a:ext cx="111732" cy="4039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4" name="Shape 22"/>
          <p:cNvSpPr/>
          <p:nvPr/>
        </p:nvSpPr>
        <p:spPr>
          <a:xfrm>
            <a:off x="4469282" y="1164122"/>
            <a:ext cx="111732" cy="323516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5" name="Shape 23"/>
          <p:cNvSpPr/>
          <p:nvPr/>
        </p:nvSpPr>
        <p:spPr>
          <a:xfrm>
            <a:off x="4672432" y="860165"/>
            <a:ext cx="111732" cy="93143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6" name="Shape 24"/>
          <p:cNvSpPr/>
          <p:nvPr/>
        </p:nvSpPr>
        <p:spPr>
          <a:xfrm>
            <a:off x="4875581" y="1076984"/>
            <a:ext cx="111732" cy="49779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7" name="Shape 25"/>
          <p:cNvSpPr/>
          <p:nvPr/>
        </p:nvSpPr>
        <p:spPr>
          <a:xfrm>
            <a:off x="5078730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8" name="Shape 26"/>
          <p:cNvSpPr/>
          <p:nvPr/>
        </p:nvSpPr>
        <p:spPr>
          <a:xfrm>
            <a:off x="5281879" y="1026304"/>
            <a:ext cx="111732" cy="59915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5028" y="843024"/>
            <a:ext cx="111732" cy="96571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0" name="Shape 28"/>
          <p:cNvSpPr/>
          <p:nvPr/>
        </p:nvSpPr>
        <p:spPr>
          <a:xfrm>
            <a:off x="5688178" y="1190184"/>
            <a:ext cx="111732" cy="27139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1" name="Shape 29"/>
          <p:cNvSpPr/>
          <p:nvPr/>
        </p:nvSpPr>
        <p:spPr>
          <a:xfrm>
            <a:off x="5891327" y="1281220"/>
            <a:ext cx="111732" cy="8932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4476" y="906061"/>
            <a:ext cx="111732" cy="83963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3" name="Shape 31"/>
          <p:cNvSpPr/>
          <p:nvPr/>
        </p:nvSpPr>
        <p:spPr>
          <a:xfrm>
            <a:off x="6297625" y="912632"/>
            <a:ext cx="111732" cy="82649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4" name="Shape 32"/>
          <p:cNvSpPr/>
          <p:nvPr/>
        </p:nvSpPr>
        <p:spPr>
          <a:xfrm>
            <a:off x="6500774" y="1285475"/>
            <a:ext cx="111732" cy="8081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5" name="Shape 33"/>
          <p:cNvSpPr/>
          <p:nvPr/>
        </p:nvSpPr>
        <p:spPr>
          <a:xfrm>
            <a:off x="6703924" y="1186380"/>
            <a:ext cx="111732" cy="27900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6" name="Shape 34"/>
          <p:cNvSpPr/>
          <p:nvPr/>
        </p:nvSpPr>
        <p:spPr>
          <a:xfrm>
            <a:off x="6907073" y="851936"/>
            <a:ext cx="111732" cy="94788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7" name="Shape 35"/>
          <p:cNvSpPr/>
          <p:nvPr/>
        </p:nvSpPr>
        <p:spPr>
          <a:xfrm>
            <a:off x="7110222" y="1041487"/>
            <a:ext cx="111732" cy="568786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3371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9" name="Shape 37"/>
          <p:cNvSpPr/>
          <p:nvPr/>
        </p:nvSpPr>
        <p:spPr>
          <a:xfrm>
            <a:off x="7516520" y="1080927"/>
            <a:ext cx="111732" cy="48990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0" name="Shape 38"/>
          <p:cNvSpPr/>
          <p:nvPr/>
        </p:nvSpPr>
        <p:spPr>
          <a:xfrm>
            <a:off x="7719670" y="883001"/>
            <a:ext cx="111732" cy="88575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1" name="Shape 39"/>
          <p:cNvSpPr/>
          <p:nvPr/>
        </p:nvSpPr>
        <p:spPr>
          <a:xfrm>
            <a:off x="7922819" y="1178188"/>
            <a:ext cx="111732" cy="29538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2" name="Shape 40"/>
          <p:cNvSpPr/>
          <p:nvPr/>
        </p:nvSpPr>
        <p:spPr>
          <a:xfrm>
            <a:off x="8125968" y="1304351"/>
            <a:ext cx="111732" cy="4305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3" name="Shape 41"/>
          <p:cNvSpPr/>
          <p:nvPr/>
        </p:nvSpPr>
        <p:spPr>
          <a:xfrm>
            <a:off x="8329117" y="1009044"/>
            <a:ext cx="111732" cy="63367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4" name="Shape 42"/>
          <p:cNvSpPr/>
          <p:nvPr/>
        </p:nvSpPr>
        <p:spPr>
          <a:xfrm>
            <a:off x="8532266" y="979775"/>
            <a:ext cx="111732" cy="69221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5" name="Shape 43"/>
          <p:cNvSpPr/>
          <p:nvPr/>
        </p:nvSpPr>
        <p:spPr>
          <a:xfrm>
            <a:off x="8735416" y="1277777"/>
            <a:ext cx="111732" cy="9620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6" name="Shape 44"/>
          <p:cNvSpPr/>
          <p:nvPr/>
        </p:nvSpPr>
        <p:spPr>
          <a:xfrm>
            <a:off x="8938565" y="1245977"/>
            <a:ext cx="111732" cy="15980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7" name="Shape 45"/>
          <p:cNvSpPr/>
          <p:nvPr/>
        </p:nvSpPr>
        <p:spPr>
          <a:xfrm>
            <a:off x="9141714" y="993197"/>
            <a:ext cx="111732" cy="66536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8" name="Shape 46"/>
          <p:cNvSpPr/>
          <p:nvPr/>
        </p:nvSpPr>
        <p:spPr>
          <a:xfrm>
            <a:off x="9344863" y="1100734"/>
            <a:ext cx="111732" cy="45029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9" name="Shape 47"/>
          <p:cNvSpPr/>
          <p:nvPr/>
        </p:nvSpPr>
        <p:spPr>
          <a:xfrm>
            <a:off x="9548012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0" name="Shape 48"/>
          <p:cNvSpPr/>
          <p:nvPr/>
        </p:nvSpPr>
        <p:spPr>
          <a:xfrm>
            <a:off x="9751162" y="1183046"/>
            <a:ext cx="111732" cy="28566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1" name="Shape 49"/>
          <p:cNvSpPr/>
          <p:nvPr/>
        </p:nvSpPr>
        <p:spPr>
          <a:xfrm>
            <a:off x="9954311" y="1027722"/>
            <a:ext cx="111732" cy="59631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7460" y="1207931"/>
            <a:ext cx="111732" cy="23589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3" name="Shape 51"/>
          <p:cNvSpPr/>
          <p:nvPr/>
        </p:nvSpPr>
        <p:spPr>
          <a:xfrm>
            <a:off x="10360609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4" name="Shape 52"/>
          <p:cNvSpPr/>
          <p:nvPr/>
        </p:nvSpPr>
        <p:spPr>
          <a:xfrm>
            <a:off x="10563758" y="1137975"/>
            <a:ext cx="111732" cy="37580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5" name="Shape 53"/>
          <p:cNvSpPr/>
          <p:nvPr/>
        </p:nvSpPr>
        <p:spPr>
          <a:xfrm>
            <a:off x="10766908" y="1091201"/>
            <a:ext cx="111732" cy="46935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6" name="Shape 54"/>
          <p:cNvSpPr/>
          <p:nvPr/>
        </p:nvSpPr>
        <p:spPr>
          <a:xfrm>
            <a:off x="10970057" y="1281666"/>
            <a:ext cx="111732" cy="8842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7" name="Shape 55"/>
          <p:cNvSpPr/>
          <p:nvPr/>
        </p:nvSpPr>
        <p:spPr>
          <a:xfrm>
            <a:off x="11173206" y="1287982"/>
            <a:ext cx="111732" cy="7579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8" name="Shape 56"/>
          <p:cNvSpPr/>
          <p:nvPr/>
        </p:nvSpPr>
        <p:spPr>
          <a:xfrm>
            <a:off x="11376355" y="1117897"/>
            <a:ext cx="111732" cy="41596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9" name="Shape 57"/>
          <p:cNvSpPr/>
          <p:nvPr/>
        </p:nvSpPr>
        <p:spPr>
          <a:xfrm>
            <a:off x="11579504" y="1162491"/>
            <a:ext cx="111732" cy="32677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0" name="Shape 58"/>
          <p:cNvSpPr/>
          <p:nvPr/>
        </p:nvSpPr>
        <p:spPr>
          <a:xfrm>
            <a:off x="11782654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1" name="Shape 59"/>
          <p:cNvSpPr/>
          <p:nvPr/>
        </p:nvSpPr>
        <p:spPr>
          <a:xfrm>
            <a:off x="11985803" y="1244732"/>
            <a:ext cx="111732" cy="16229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2" name="Shape 60"/>
          <p:cNvSpPr/>
          <p:nvPr/>
        </p:nvSpPr>
        <p:spPr>
          <a:xfrm>
            <a:off x="0" y="5482169"/>
            <a:ext cx="111732" cy="19134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3" name="Shape 61"/>
          <p:cNvSpPr/>
          <p:nvPr/>
        </p:nvSpPr>
        <p:spPr>
          <a:xfrm>
            <a:off x="203149" y="5382249"/>
            <a:ext cx="111732" cy="39118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4" name="Shape 62"/>
          <p:cNvSpPr/>
          <p:nvPr/>
        </p:nvSpPr>
        <p:spPr>
          <a:xfrm>
            <a:off x="406298" y="5502620"/>
            <a:ext cx="111732" cy="150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5" name="Shape 63"/>
          <p:cNvSpPr/>
          <p:nvPr/>
        </p:nvSpPr>
        <p:spPr>
          <a:xfrm>
            <a:off x="609448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6" name="Shape 64"/>
          <p:cNvSpPr/>
          <p:nvPr/>
        </p:nvSpPr>
        <p:spPr>
          <a:xfrm>
            <a:off x="812597" y="5416969"/>
            <a:ext cx="111732" cy="32174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7" name="Shape 65"/>
          <p:cNvSpPr/>
          <p:nvPr/>
        </p:nvSpPr>
        <p:spPr>
          <a:xfrm>
            <a:off x="1015746" y="5377332"/>
            <a:ext cx="111732" cy="4010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8" name="Shape 66"/>
          <p:cNvSpPr/>
          <p:nvPr/>
        </p:nvSpPr>
        <p:spPr>
          <a:xfrm>
            <a:off x="1218895" y="5543132"/>
            <a:ext cx="111732" cy="694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9" name="Shape 67"/>
          <p:cNvSpPr/>
          <p:nvPr/>
        </p:nvSpPr>
        <p:spPr>
          <a:xfrm>
            <a:off x="1422044" y="5531960"/>
            <a:ext cx="111732" cy="9175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0" name="Shape 68"/>
          <p:cNvSpPr/>
          <p:nvPr/>
        </p:nvSpPr>
        <p:spPr>
          <a:xfrm>
            <a:off x="1625194" y="5345477"/>
            <a:ext cx="111732" cy="46472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1" name="Shape 69"/>
          <p:cNvSpPr/>
          <p:nvPr/>
        </p:nvSpPr>
        <p:spPr>
          <a:xfrm>
            <a:off x="1828343" y="5396066"/>
            <a:ext cx="111732" cy="3635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2" name="Shape 70"/>
          <p:cNvSpPr/>
          <p:nvPr/>
        </p:nvSpPr>
        <p:spPr>
          <a:xfrm>
            <a:off x="2031492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3" name="Shape 71"/>
          <p:cNvSpPr/>
          <p:nvPr/>
        </p:nvSpPr>
        <p:spPr>
          <a:xfrm>
            <a:off x="2234641" y="5457557"/>
            <a:ext cx="111732" cy="24056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4" name="Shape 72"/>
          <p:cNvSpPr/>
          <p:nvPr/>
        </p:nvSpPr>
        <p:spPr>
          <a:xfrm>
            <a:off x="2437790" y="5283219"/>
            <a:ext cx="111732" cy="58924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5" name="Shape 73"/>
          <p:cNvSpPr/>
          <p:nvPr/>
        </p:nvSpPr>
        <p:spPr>
          <a:xfrm>
            <a:off x="2640940" y="5441006"/>
            <a:ext cx="111732" cy="2736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6" name="Shape 74"/>
          <p:cNvSpPr/>
          <p:nvPr/>
        </p:nvSpPr>
        <p:spPr>
          <a:xfrm>
            <a:off x="2844089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7" name="Shape 75"/>
          <p:cNvSpPr/>
          <p:nvPr/>
        </p:nvSpPr>
        <p:spPr>
          <a:xfrm>
            <a:off x="3047238" y="5351842"/>
            <a:ext cx="111732" cy="45199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8" name="Shape 76"/>
          <p:cNvSpPr/>
          <p:nvPr/>
        </p:nvSpPr>
        <p:spPr>
          <a:xfrm>
            <a:off x="3250387" y="5253162"/>
            <a:ext cx="111732" cy="64935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9" name="Shape 77"/>
          <p:cNvSpPr/>
          <p:nvPr/>
        </p:nvSpPr>
        <p:spPr>
          <a:xfrm>
            <a:off x="3453536" y="5503579"/>
            <a:ext cx="111732" cy="14852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0" name="Shape 78"/>
          <p:cNvSpPr/>
          <p:nvPr/>
        </p:nvSpPr>
        <p:spPr>
          <a:xfrm>
            <a:off x="3656686" y="5527432"/>
            <a:ext cx="111732" cy="10081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1" name="Shape 79"/>
          <p:cNvSpPr/>
          <p:nvPr/>
        </p:nvSpPr>
        <p:spPr>
          <a:xfrm>
            <a:off x="3859835" y="5237811"/>
            <a:ext cx="111732" cy="68005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2" name="Shape 80"/>
          <p:cNvSpPr/>
          <p:nvPr/>
        </p:nvSpPr>
        <p:spPr>
          <a:xfrm>
            <a:off x="4062984" y="5275577"/>
            <a:ext cx="111732" cy="60452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3" name="Shape 81"/>
          <p:cNvSpPr/>
          <p:nvPr/>
        </p:nvSpPr>
        <p:spPr>
          <a:xfrm>
            <a:off x="4266133" y="5559477"/>
            <a:ext cx="111732" cy="3672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4" name="Shape 82"/>
          <p:cNvSpPr/>
          <p:nvPr/>
        </p:nvSpPr>
        <p:spPr>
          <a:xfrm>
            <a:off x="4469282" y="5430787"/>
            <a:ext cx="111732" cy="29410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5" name="Shape 83"/>
          <p:cNvSpPr/>
          <p:nvPr/>
        </p:nvSpPr>
        <p:spPr>
          <a:xfrm>
            <a:off x="4672432" y="5154463"/>
            <a:ext cx="111732" cy="84675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6" name="Shape 84"/>
          <p:cNvSpPr/>
          <p:nvPr/>
        </p:nvSpPr>
        <p:spPr>
          <a:xfrm>
            <a:off x="4875581" y="5351571"/>
            <a:ext cx="111732" cy="45253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7" name="Shape 85"/>
          <p:cNvSpPr/>
          <p:nvPr/>
        </p:nvSpPr>
        <p:spPr>
          <a:xfrm>
            <a:off x="5078730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8" name="Shape 86"/>
          <p:cNvSpPr/>
          <p:nvPr/>
        </p:nvSpPr>
        <p:spPr>
          <a:xfrm>
            <a:off x="5281879" y="5305498"/>
            <a:ext cx="111732" cy="5446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9" name="Shape 87"/>
          <p:cNvSpPr/>
          <p:nvPr/>
        </p:nvSpPr>
        <p:spPr>
          <a:xfrm>
            <a:off x="5485028" y="5138880"/>
            <a:ext cx="111732" cy="87792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0" name="Shape 88"/>
          <p:cNvSpPr/>
          <p:nvPr/>
        </p:nvSpPr>
        <p:spPr>
          <a:xfrm>
            <a:off x="5688178" y="5454480"/>
            <a:ext cx="111732" cy="246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1" name="Shape 89"/>
          <p:cNvSpPr/>
          <p:nvPr/>
        </p:nvSpPr>
        <p:spPr>
          <a:xfrm>
            <a:off x="5891327" y="5537240"/>
            <a:ext cx="111732" cy="81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2" name="Shape 90"/>
          <p:cNvSpPr/>
          <p:nvPr/>
        </p:nvSpPr>
        <p:spPr>
          <a:xfrm>
            <a:off x="6094476" y="5196186"/>
            <a:ext cx="111732" cy="7633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3" name="Shape 91"/>
          <p:cNvSpPr/>
          <p:nvPr/>
        </p:nvSpPr>
        <p:spPr>
          <a:xfrm>
            <a:off x="6297625" y="5202160"/>
            <a:ext cx="111732" cy="75135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4" name="Shape 92"/>
          <p:cNvSpPr/>
          <p:nvPr/>
        </p:nvSpPr>
        <p:spPr>
          <a:xfrm>
            <a:off x="6500774" y="5541108"/>
            <a:ext cx="111732" cy="7346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5" name="Shape 93"/>
          <p:cNvSpPr/>
          <p:nvPr/>
        </p:nvSpPr>
        <p:spPr>
          <a:xfrm>
            <a:off x="6703924" y="5451022"/>
            <a:ext cx="111732" cy="25363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6" name="Shape 94"/>
          <p:cNvSpPr/>
          <p:nvPr/>
        </p:nvSpPr>
        <p:spPr>
          <a:xfrm>
            <a:off x="6907073" y="5146982"/>
            <a:ext cx="111732" cy="8617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7" name="Shape 95"/>
          <p:cNvSpPr/>
          <p:nvPr/>
        </p:nvSpPr>
        <p:spPr>
          <a:xfrm>
            <a:off x="7110222" y="5319301"/>
            <a:ext cx="111732" cy="51707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8" name="Shape 96"/>
          <p:cNvSpPr/>
          <p:nvPr/>
        </p:nvSpPr>
        <p:spPr>
          <a:xfrm>
            <a:off x="7313371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9" name="Shape 97"/>
          <p:cNvSpPr/>
          <p:nvPr/>
        </p:nvSpPr>
        <p:spPr>
          <a:xfrm>
            <a:off x="7516520" y="5355155"/>
            <a:ext cx="111732" cy="44537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0" name="Shape 98"/>
          <p:cNvSpPr/>
          <p:nvPr/>
        </p:nvSpPr>
        <p:spPr>
          <a:xfrm>
            <a:off x="7719670" y="5175222"/>
            <a:ext cx="111732" cy="80523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1" name="Shape 99"/>
          <p:cNvSpPr/>
          <p:nvPr/>
        </p:nvSpPr>
        <p:spPr>
          <a:xfrm>
            <a:off x="7922819" y="5443575"/>
            <a:ext cx="111732" cy="26853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125968" y="5558268"/>
            <a:ext cx="111732" cy="391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329117" y="5289807"/>
            <a:ext cx="111732" cy="57606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532266" y="5263199"/>
            <a:ext cx="111732" cy="62928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735416" y="5534110"/>
            <a:ext cx="111732" cy="8745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938565" y="5505200"/>
            <a:ext cx="111732" cy="14527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141714" y="5275401"/>
            <a:ext cx="111732" cy="60487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344863" y="5373162"/>
            <a:ext cx="111732" cy="40935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548012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751162" y="5447991"/>
            <a:ext cx="111732" cy="25969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954311" y="5306788"/>
            <a:ext cx="111732" cy="54210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157460" y="5470613"/>
            <a:ext cx="111732" cy="21445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360609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563758" y="5407018"/>
            <a:ext cx="111732" cy="34164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766908" y="5364496"/>
            <a:ext cx="111732" cy="42668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970057" y="5537646"/>
            <a:ext cx="111732" cy="803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1173206" y="5543387"/>
            <a:ext cx="111732" cy="6890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1376355" y="5388765"/>
            <a:ext cx="111732" cy="37815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1579504" y="5429304"/>
            <a:ext cx="111732" cy="29707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782654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985803" y="5504070"/>
            <a:ext cx="111732" cy="14754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2" name="Text 120"/>
          <p:cNvSpPr/>
          <p:nvPr/>
        </p:nvSpPr>
        <p:spPr>
          <a:xfrm>
            <a:off x="548640" y="2148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23" name="Text 121"/>
          <p:cNvSpPr/>
          <p:nvPr/>
        </p:nvSpPr>
        <p:spPr>
          <a:xfrm>
            <a:off x="548640" y="260604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well-designed time-domain features + MEET,</a:t>
            </a:r>
            <a:endParaRPr lang="en-US" sz="2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gestures are recognized at &gt; 94% on 8-channel sEMG</a:t>
            </a:r>
            <a:endParaRPr lang="en-US" sz="2600" dirty="0"/>
          </a:p>
        </p:txBody>
      </p:sp>
      <p:sp>
        <p:nvSpPr>
          <p:cNvPr id="124" name="Text 122"/>
          <p:cNvSpPr/>
          <p:nvPr/>
        </p:nvSpPr>
        <p:spPr>
          <a:xfrm>
            <a:off x="1828800" y="3931920"/>
            <a:ext cx="8531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lower score on the custom data is not a model weakness but the physical limit of 2 channels — proven by the accuracy jump when cylindrical is removed. The highest-return next step is adding channels.</a:t>
            </a:r>
            <a:endParaRPr lang="en-US" sz="1400" dirty="0"/>
          </a:p>
        </p:txBody>
      </p:sp>
      <p:sp>
        <p:nvSpPr>
          <p:cNvPr id="125" name="Text 123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Burak Talha Güçlü</dc:creator>
  <cp:lastModifiedBy>Burak Talha Güçlü</cp:lastModifiedBy>
  <cp:revision>1</cp:revision>
  <dcterms:created xsi:type="dcterms:W3CDTF">2026-07-12T15:48:25Z</dcterms:created>
  <dcterms:modified xsi:type="dcterms:W3CDTF">2026-07-12T15:48:25Z</dcterms:modified>
</cp:coreProperties>
</file>