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2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8" r:id="rId13"/>
    <p:sldId id="269" r:id="rId14"/>
    <p:sldId id="270" r:id="rId15"/>
    <p:sldId id="272" r:id="rId16"/>
    <p:sldId id="299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3" r:id="rId26"/>
    <p:sldId id="302" r:id="rId27"/>
    <p:sldId id="303" r:id="rId28"/>
    <p:sldId id="281" r:id="rId29"/>
    <p:sldId id="282" r:id="rId30"/>
    <p:sldId id="284" r:id="rId31"/>
    <p:sldId id="304" r:id="rId32"/>
    <p:sldId id="305" r:id="rId33"/>
    <p:sldId id="287" r:id="rId34"/>
    <p:sldId id="306" r:id="rId35"/>
    <p:sldId id="289" r:id="rId36"/>
    <p:sldId id="308" r:id="rId37"/>
    <p:sldId id="309" r:id="rId38"/>
    <p:sldId id="290" r:id="rId39"/>
    <p:sldId id="310" r:id="rId40"/>
    <p:sldId id="311" r:id="rId41"/>
    <p:sldId id="307" r:id="rId42"/>
    <p:sldId id="292" r:id="rId43"/>
    <p:sldId id="293" r:id="rId44"/>
    <p:sldId id="301" r:id="rId4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283" autoAdjust="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78736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42E-4F22-835B-578600A56482}"/>
              </c:ext>
            </c:extLst>
          </c:dPt>
          <c:dPt>
            <c:idx val="1"/>
            <c:invertIfNegative val="0"/>
            <c:bubble3D val="0"/>
            <c:spPr>
              <a:solidFill>
                <a:srgbClr val="6E56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42E-4F22-835B-578600A56482}"/>
              </c:ext>
            </c:extLst>
          </c:dPt>
          <c:dPt>
            <c:idx val="2"/>
            <c:invertIfNegative val="0"/>
            <c:bubble3D val="0"/>
            <c:spPr>
              <a:solidFill>
                <a:srgbClr val="A984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42E-4F22-835B-578600A56482}"/>
              </c:ext>
            </c:extLst>
          </c:dPt>
          <c:dPt>
            <c:idx val="3"/>
            <c:invertIfNegative val="0"/>
            <c:bubble3D val="0"/>
            <c:spPr>
              <a:solidFill>
                <a:srgbClr val="5670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42E-4F22-835B-578600A56482}"/>
              </c:ext>
            </c:extLst>
          </c:dPt>
          <c:dPt>
            <c:idx val="4"/>
            <c:invertIfNegative val="0"/>
            <c:bubble3D val="0"/>
            <c:spPr>
              <a:solidFill>
                <a:srgbClr val="3D4E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42E-4F22-835B-578600A56482}"/>
              </c:ext>
            </c:extLst>
          </c:dPt>
          <c:dPt>
            <c:idx val="5"/>
            <c:invertIfNegative val="0"/>
            <c:bubble3D val="0"/>
            <c:spPr>
              <a:solidFill>
                <a:srgbClr val="5B7F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42E-4F22-835B-578600A5648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33404A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CNN</c:v>
                </c:pt>
                <c:pt idx="1">
                  <c:v>KNN</c:v>
                </c:pt>
                <c:pt idx="2">
                  <c:v>MLP</c:v>
                </c:pt>
                <c:pt idx="3">
                  <c:v>SVM</c:v>
                </c:pt>
                <c:pt idx="4">
                  <c:v>Random Forest</c:v>
                </c:pt>
                <c:pt idx="5">
                  <c:v>MEET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82.7</c:v>
                </c:pt>
                <c:pt idx="1">
                  <c:v>86.06</c:v>
                </c:pt>
                <c:pt idx="2">
                  <c:v>86.35</c:v>
                </c:pt>
                <c:pt idx="3">
                  <c:v>87.65</c:v>
                </c:pt>
                <c:pt idx="4">
                  <c:v>92.88</c:v>
                </c:pt>
                <c:pt idx="5">
                  <c:v>94.74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42E-4F22-835B-578600A564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0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3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6E567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C0-4DC9-BF54-6E4B6ECFC340}"/>
              </c:ext>
            </c:extLst>
          </c:dPt>
          <c:dPt>
            <c:idx val="1"/>
            <c:invertIfNegative val="0"/>
            <c:bubble3D val="0"/>
            <c:spPr>
              <a:solidFill>
                <a:srgbClr val="5B7F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C0-4DC9-BF54-6E4B6ECFC340}"/>
              </c:ext>
            </c:extLst>
          </c:dPt>
          <c:dPt>
            <c:idx val="2"/>
            <c:invertIfNegative val="0"/>
            <c:bubble3D val="0"/>
            <c:spPr>
              <a:solidFill>
                <a:srgbClr val="7873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C0-4DC9-BF54-6E4B6ECFC340}"/>
              </c:ext>
            </c:extLst>
          </c:dPt>
          <c:dPt>
            <c:idx val="3"/>
            <c:invertIfNegative val="0"/>
            <c:bubble3D val="0"/>
            <c:spPr>
              <a:solidFill>
                <a:srgbClr val="3D4E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C0-4DC9-BF54-6E4B6ECFC340}"/>
              </c:ext>
            </c:extLst>
          </c:dPt>
          <c:dPt>
            <c:idx val="4"/>
            <c:invertIfNegative val="0"/>
            <c:bubble3D val="0"/>
            <c:spPr>
              <a:solidFill>
                <a:srgbClr val="A984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6C0-4DC9-BF54-6E4B6ECFC340}"/>
              </c:ext>
            </c:extLst>
          </c:dPt>
          <c:dPt>
            <c:idx val="5"/>
            <c:invertIfNegative val="0"/>
            <c:bubble3D val="0"/>
            <c:spPr>
              <a:solidFill>
                <a:srgbClr val="5670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6C0-4DC9-BF54-6E4B6ECFC34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33404A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1D CNN (raw)</c:v>
                </c:pt>
                <c:pt idx="1">
                  <c:v>Random Forest</c:v>
                </c:pt>
                <c:pt idx="2">
                  <c:v>MLP</c:v>
                </c:pt>
                <c:pt idx="3">
                  <c:v>SVM</c:v>
                </c:pt>
                <c:pt idx="4">
                  <c:v>MEET</c:v>
                </c:pt>
                <c:pt idx="5">
                  <c:v>KNN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92.5</c:v>
                </c:pt>
                <c:pt idx="1">
                  <c:v>72.98</c:v>
                </c:pt>
                <c:pt idx="2">
                  <c:v>72.92</c:v>
                </c:pt>
                <c:pt idx="3">
                  <c:v>72.75</c:v>
                </c:pt>
                <c:pt idx="4">
                  <c:v>72.459999999999994</c:v>
                </c:pt>
                <c:pt idx="5">
                  <c:v>69.680000000000007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6C0-4DC9-BF54-6E4B6ECFC3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0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60"/>
        </c:scaling>
        <c:delete val="0"/>
        <c:axPos val="l"/>
        <c:majorGridlines>
          <c:spPr>
            <a:ln w="12700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3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133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deck presents the whole study in detail: problem, data, features and their meaning, the six models with their parameters, and a detailed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Agenda: problem, data, features (detailed), the six models' parameters, evaluation, comparison, the cylindrical effect and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Problem: gesture recognition from EMG for prosthetics/rehab/interfaces. Main difficulty: signal variability and confusion of similar gestures.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EMG basics: surface electrodes read muscle electrical activity. As it is noisy and variable, we window it and extract features instead of using the raw waveform.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Pipeline: raw signal → windowing → features → scaling → model → evaluation. Held fixed so the models are compared fairly.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NinaPro: 8 channels, 4 subjects, 7 gestures, open-source. Custom: 2 channels, 2 subjects, 5 gestures. The channel difference is the main driver of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NinaPro DB5 detail: 8 channels, S1/S2/S5/S10, E2-E3 exercises, 200→1000 Hz. Being standard makes results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Custom data: 2 channels, 2 subjects, 5 gestures, ~68k windows. The 2-channel limit is the source of the later cylindrical–closed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Window 150 ms, 80% overlap. Resampling for NinaPro; onset detection (threshold 435) for the custom set. These parameters capture the stable region of the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NinaPro 7, custom 5 gestures (tip not included). Cylindrical is the most-confused class in the custom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Window: a 150 ms segment cut from the continuous signal. The model classifies each window; one feature vector per window. The sliding window advances with 80% overlap. The figure shows overlapping windows P1/P2/P3.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Time-domain features were chosen because they are cheap, robust, standard in the literature and work with small data. The four features carry complementary information with little redundancy.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RMS: root mean square → muscle power/energy. MAV: mean absolute value → amplitude/intensity. Both carry amplitude information but are complementary.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WL: sum of consecutive differences → complexity. SSC: number of slope-sign changes → frequency-content estimate. WL and SSC add frequency/shape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models are compared. The next slides give each model's parameters and selection rationale.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MEET: splits the multi-class problem into binary sub-problems via One-vs-One; trains an Extra Trees expert per pair. Each expert separates only two classes → very sharp boundaries on hard pairs. Votes are combined. Good for: separating similar pairs like cylindrical–closed best; most balanced and highest accuracy (&gt;94%).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SVM: RBF kernel because the data is not linearly separable; C=10 balances margin vs. error; gamma=scale is automatic. Scaling is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RF: 100 trees is enough and stable; full depth + ensemble averaging offsets overfitting; robust to noise, gives feature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MEET: One-vs-One experts (an Extra Trees per pair). Separates hard pairs well; gives the most balanced and highest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KNN: k=5 (odd), Euclidean distance, lazy learner. Simple but sensitive to overlap. Scaling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MLP: single hidden layer of 128 ReLU, softmax, Adam lr=0.001. Learns non-linear boundaries, competitive with small data. Input standardization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CNNs: NinaPro raw 150×8 time series (2 conv blocks), custom 8 features (tiny net). Shared: Adam, early stopping, LR reduction, class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Evaluation: stratified 80/20, scaling on training only, within- and cross-subject, fixed seed 22, normalized confusion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NinaPro: MEET 94.7% and RF 92.9% lead; SVM/MLP/KNN mid (86-88%); CNN last. The MEET matrix is very 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ABBA4-31F4-83D7-1A1F-46F80E06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D7703-9D59-2EEC-4C35-8B8F11E12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73B37-F5EA-A20C-5B13-189666533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KNN is weak on Point in NinaPro (B1↔B7). MLP is more balanced and beats KNN on the hard classes.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AB358-9EA0-7C72-EC86-24E915AA23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8397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8F18E-BC46-6C4D-665D-42759DE48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3E76A-E983-DDE3-EF21-2D42CB99C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BE3B1-B592-AD2F-DBAF-5ED146916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KNN is weak on Point in NinaPro (B1↔B7). MLP is more balanced and beats KNN on the hard classes.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1C1FD-8578-5A7A-A840-38A04AD65D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106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Ranking: MEET &gt; RF &gt; SVM &gt; MLP &gt; KNN &gt; CNN. Ensemble/expert methods lead; with good features the classical models beat the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Per-class accuracies of the six models. MEET is best on every class. KNN is weak on Point (B1↔B7). Detailed comparison in this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Custom data (no tip, 5 classes, 6 models): all ~70-73%, KNN 70%. The CNN (72.6%) is on par with the classical models. Cylindrical–closed is the common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Removing cylindrical (4 classes): KNN +11.8, MLP +10.3 points; the closed class jumps to ~89-91%. SVM/RF/MEET similar (~83%). The issue is the physical limit of 2 channels.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 the custom data (no tip) all five models are ~70-73%; the difference is small. The ceiling is ~73% due to the channel limit. Common problem: cylindrical–closed.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Per-class (with cyl, no tip): all six models (incl. CNN). Cylindrical is lowest in every model (~51-61%). This bottleneck lowers overall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KNN/MLP matrices with cyl: the cylindrical row is low and mixes with closed.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F923C-1F4F-B984-23B3-A7ADABE1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8AC1C-7EE2-D342-E3B4-4F0278C53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2848DF-43BB-A388-B0D0-0AD605A665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KNN/MLP matrices with cyl: the cylindrical row is low and mixes with closed.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1E10E-E45A-3BFD-1B4D-E76293903F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2486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08601-DC74-64E3-6F05-6EB2954E2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E44EE-CFEE-2A11-EF95-71CBC3091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EDB97A-57D6-E7D1-322F-39613931E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KNN/MLP matrices with cyl: the cylindrical row is low and mixes with closed.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450D5-F05D-800E-E4CC-18D937090D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27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KNN/MLP matrices without cyl: the closed class rises to ~89-90%, the confusion is largely 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BCE48-CEBD-A350-1C59-31F8DED67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7AEE1-691A-6445-E3AB-083F0BBB0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3A48F-BAA0-736F-3D70-6D2E4903C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KNN/MLP matrices without cyl: the closed class rises to ~89-90%, the confusion is largely resolved.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69E00-B32D-264B-FF11-58FEFCB917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7436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14702-4A36-7FC7-9BCD-AD4F9974D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F843F-9283-5DD8-1702-E187FB2F8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314BC-29A3-A4A9-459A-7D46FDAE1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KNN/MLP matrices without cyl: the closed class rises to ~89-90%, the confusion is largely resolved.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12819-6A03-ABCE-6AC4-C32ED770EB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4967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Analysis: channel count is the main factor; ensemble/expert best; MLP competitive, KNN fragile to overlap; with good features the classical models beat the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Challenges: cylindrical confusion, channel limit, reproducibility/code organization (fixed). Recommendations: more channels, more subjects, frequency features, k-fold CV, hyperparameters.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Conclusion: MEET/RF lead (&gt;92%), good features make the classical models strong, MLP competitive, KNN basic. The custom-data limit is channel count.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References: MEET (Gehlot 2024), NinaPro (Atzori 2014 / DB5 Pizzolato 2017), time-domain features (Hudgins 1993), Random Forest (Breiman 2001), Extra Trees (Geurts 2006), scikit-learn (Pedregosa 2011).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doring-bohr/mnt/btalhaguclu_master_works/outputs/wav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8453"/>
            <a:ext cx="12188952" cy="1371600"/>
          </a:xfrm>
          <a:prstGeom prst="rect">
            <a:avLst/>
          </a:prstGeom>
        </p:spPr>
      </p:pic>
      <p:pic>
        <p:nvPicPr>
          <p:cNvPr id="3" name="Image 1" descr="/sessions/relaxed-adoring-bohr/mnt/btalhaguclu_master_works/outputs/wav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4617720"/>
            <a:ext cx="12188952" cy="1234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576" y="2018088"/>
            <a:ext cx="11091672" cy="2523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3404A"/>
                </a:solidFill>
                <a:latin typeface="Cambria" panose="02040503050406030204" pitchFamily="18" charset="0"/>
                <a:ea typeface="Cambria" panose="02040503050406030204" pitchFamily="18" charset="0"/>
                <a:cs typeface="Bookman Old Style" pitchFamily="34" charset="-120"/>
              </a:rPr>
              <a:t>AI-BASED Hand Gesture Classification Analysis</a:t>
            </a:r>
            <a:r>
              <a:rPr lang="tr-TR" sz="4200" b="1" dirty="0">
                <a:solidFill>
                  <a:srgbClr val="33404A"/>
                </a:solidFill>
                <a:latin typeface="Cambria" panose="02040503050406030204" pitchFamily="18" charset="0"/>
                <a:ea typeface="Cambria" panose="02040503050406030204" pitchFamily="18" charset="0"/>
                <a:cs typeface="Bookman Old Style" pitchFamily="34" charset="-120"/>
              </a:rPr>
              <a:t> Using EMG Signals</a:t>
            </a:r>
            <a:endParaRPr lang="en-US" sz="4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Burak Talha Güçlü</a:t>
            </a:r>
            <a:r>
              <a:rPr lang="tr-TR" sz="14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| N24111151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Presentation Outline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85800" y="18150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8150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Problem, EMG and motivation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77356" y="16916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14516" y="18150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414516" y="18150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54596" y="16916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and hand gestures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85800" y="27294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85800" y="2729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6060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preprocessing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77356" y="26060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14516" y="27294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14516" y="27294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54596" y="26060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 and meanings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85800" y="36438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5800" y="36438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25880" y="35204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models: parameters &amp; rationale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77356" y="35204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414516" y="36438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14516" y="36438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54596" y="35204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methodology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85800" y="45582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85800" y="4558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44348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and detailed comparison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77356" y="44348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414516" y="45582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414516" y="4558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054596" y="44348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 effect &amp; per-class analysis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685800" y="54726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85800" y="54726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53492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recommendations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277356" y="5349240"/>
            <a:ext cx="5362956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414516" y="5472684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414516" y="54726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054596" y="5349240"/>
            <a:ext cx="44485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EMG Hand-Gesture Recognition?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EMG (electromyography)</a:t>
            </a: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measures the electrical activity produced when a muscle contracts. Decoding which gesture is performed from forearm surface signals is a critical problem for prosthetics, rehabilitation and human–machine interfaces.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852160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13232" y="3374136"/>
            <a:ext cx="402336" cy="402336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280160" y="327355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Prosthetic hand control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5844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control for amputees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5852160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13232" y="4242816"/>
            <a:ext cx="402336" cy="402336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80160" y="41422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Rehabilitation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44531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Muscle-activation tracking and therapy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5852160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13232" y="5111496"/>
            <a:ext cx="402336" cy="402336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280160" y="501091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Human–machine interface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5321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Touchless commands / interaction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1578665"/>
            <a:ext cx="4754880" cy="2029968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132320" y="16471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CHALLENGE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0" y="114300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varies from person to person, even from trial to trial. </a:t>
            </a:r>
            <a:endParaRPr lang="en-US" sz="150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grips produce very close muscle activation. 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So, the choice of features and model is decisive.</a:t>
            </a:r>
            <a:endParaRPr lang="en-US" sz="1500" dirty="0"/>
          </a:p>
        </p:txBody>
      </p:sp>
      <p:pic>
        <p:nvPicPr>
          <p:cNvPr id="20" name="Resim 19" descr="8E7* bebionic Hand">
            <a:extLst>
              <a:ext uri="{FF2B5EF4-FFF2-40B4-BE49-F238E27FC236}">
                <a16:creationId xmlns:a16="http://schemas.microsoft.com/office/drawing/2014/main" id="{783756DF-F2CF-C1F6-E83B-AECB83DB8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776472"/>
            <a:ext cx="2072569" cy="2072569"/>
          </a:xfrm>
          <a:prstGeom prst="rect">
            <a:avLst/>
          </a:prstGeom>
        </p:spPr>
      </p:pic>
      <p:pic>
        <p:nvPicPr>
          <p:cNvPr id="21" name="Resim 20" descr="Interaction with a Hand Rehabilitation Exoskeleton in EMG-Driven Bilateral  Therapy: Influence of Visual Biofeedback on the Users' Performance">
            <a:extLst>
              <a:ext uri="{FF2B5EF4-FFF2-40B4-BE49-F238E27FC236}">
                <a16:creationId xmlns:a16="http://schemas.microsoft.com/office/drawing/2014/main" id="{41C61667-68C9-CD19-CCCD-B665723C6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0386" y="4065075"/>
            <a:ext cx="2753874" cy="16200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a Surface EMG Signal?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EMG (sEMG)</a:t>
            </a: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electrodes measure the electrical activity produced when the forearm muscles contract. Different gestures activate different muscle groups → distinguishable signal patterns.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Non-invasive, real-time, low-cost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Noisy; varies by person and trial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raw waveform is high-dimensional → summarized by features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Time-domain features are cheap and effective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Study's Pipeline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3564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83564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3504" y="3401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EMG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121408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452421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987345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987345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07285" y="34254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025189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356202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891126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89112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11066" y="34254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928970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259982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794906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794906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14846" y="3427379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832750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8163763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3D4E5A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698687" y="2542032"/>
            <a:ext cx="502920" cy="502920"/>
          </a:xfrm>
          <a:prstGeom prst="ellipse">
            <a:avLst/>
          </a:prstGeom>
          <a:solidFill>
            <a:srgbClr val="A984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8698687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18627" y="3218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Classical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18627" y="35844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DDD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· RF · MEET · KNN · MLP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36531" y="2834640"/>
            <a:ext cx="3310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10067544" y="283464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0602468" y="2542032"/>
            <a:ext cx="502920" cy="502920"/>
          </a:xfrm>
          <a:prstGeom prst="ellipse">
            <a:avLst/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10602468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122281" y="34015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39" name="Down Arrow 38"/>
          <p:cNvSpPr/>
          <p:nvPr/>
        </p:nvSpPr>
        <p:spPr>
          <a:xfrm>
            <a:off x="3072384" y="4261104"/>
            <a:ext cx="274320" cy="384048"/>
          </a:xfrm>
          <a:prstGeom prst="downArrow">
            <a:avLst/>
          </a:prstGeom>
          <a:solidFill>
            <a:srgbClr val="5B7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Up Arrow 39"/>
          <p:cNvSpPr/>
          <p:nvPr/>
        </p:nvSpPr>
        <p:spPr>
          <a:xfrm>
            <a:off x="10698480" y="4261104"/>
            <a:ext cx="274320" cy="384048"/>
          </a:xfrm>
          <a:prstGeom prst="upArrow">
            <a:avLst/>
          </a:prstGeom>
          <a:solidFill>
            <a:srgbClr val="5B7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2450592" y="4681728"/>
            <a:ext cx="8522208" cy="749808"/>
          </a:xfrm>
          <a:prstGeom prst="roundRect">
            <a:avLst/>
          </a:prstGeom>
          <a:solidFill>
            <a:srgbClr val="E4EBE6"/>
          </a:solidFill>
          <a:ln w="12700">
            <a:solidFill>
              <a:srgbClr val="A984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33404A"/>
                </a:solidFill>
                <a:latin typeface="Cambria"/>
              </a:rPr>
              <a:t>1D CNN branch (both datasets): after Windowing, the raw windows are standardized and fed</a:t>
            </a:r>
          </a:p>
          <a:p>
            <a:pPr algn="ctr"/>
            <a:r>
              <a:rPr sz="1200">
                <a:solidFill>
                  <a:srgbClr val="33404A"/>
                </a:solidFill>
                <a:latin typeface="Cambria"/>
              </a:rPr>
              <a:t>straight to the 1D CNN — the time-domain Feature step (3) is skipped.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Complementary Datasets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5670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6733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DB5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benchmark database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(Myo armband)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2324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32324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S1, S2, S5, S10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767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classes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43022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43022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→ 1000 Hz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837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48371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dims/window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3721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17520" y="53721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19,591 windows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36792" y="1600200"/>
            <a:ext cx="521208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6336792" y="1600200"/>
            <a:ext cx="5212080" cy="822960"/>
          </a:xfrm>
          <a:prstGeom prst="roundRect">
            <a:avLst>
              <a:gd name="adj" fmla="val 10000"/>
            </a:avLst>
          </a:prstGeom>
          <a:solidFill>
            <a:srgbClr val="3D4E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611112" y="16733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11112" y="2075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2-channel recording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05672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11112" y="32324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05672" y="323240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Ecem, Selman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11112" y="37673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05672" y="37673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classes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11112" y="43022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05672" y="43022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 Hz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11112" y="4837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05672" y="48371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dims/window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11112" y="53721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05672" y="53721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67,885 windows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Resim 19" descr="Myo Gesture Control Armband (White) : Amazon.in: Sports, Fitness &amp; Outdoors">
            <a:extLst>
              <a:ext uri="{FF2B5EF4-FFF2-40B4-BE49-F238E27FC236}">
                <a16:creationId xmlns:a16="http://schemas.microsoft.com/office/drawing/2014/main" id="{BF784379-23F1-5B50-1577-72A54C47A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346" y="3794760"/>
            <a:ext cx="2543287" cy="254328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DB5 — Details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standard sEMG benchmark. The first 8 channels of the Myo armband are used. The 200 Hz raw signal is upsampled to 1000 Hz for temporal resolution. B- and C-series gestures are taken from the E2 and E3 exercise files.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EMG channels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7712" y="310896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267712" y="32918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67712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86784" y="310896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986784" y="32918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986784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05856" y="310896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705856" y="329184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19.591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705856" y="393192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6675120" cy="1005840"/>
          </a:xfrm>
          <a:prstGeom prst="roundRect">
            <a:avLst>
              <a:gd name="adj" fmla="val 3636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NinaPro? </a:t>
            </a: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Standard, multi-subject and reproducible; results are comparable with the literature.</a:t>
            </a:r>
            <a:endParaRPr lang="en-US" sz="1400" dirty="0"/>
          </a:p>
        </p:txBody>
      </p:sp>
      <p:pic>
        <p:nvPicPr>
          <p:cNvPr id="19" name="Image 0" descr="/sessions/relaxed-adoring-bohr/mnt/btalhaguclu_master_works/docs/images/hand_mov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47177" y="384048"/>
            <a:ext cx="3547872" cy="35478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Ecem &amp; Selman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Collected from two subjects with a low-cost 2-channel setup. Signals are stored per channel (ch1, ch2) for each gesture across four .mat files.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EMG channels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67712" y="292608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267712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267712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86784" y="292608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986784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86784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05856" y="2926080"/>
            <a:ext cx="1572768" cy="1371600"/>
          </a:xfrm>
          <a:prstGeom prst="roundRect">
            <a:avLst>
              <a:gd name="adj" fmla="val 2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705856" y="3108960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67.885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705856" y="3749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6675120" cy="1188720"/>
          </a:xfrm>
          <a:prstGeom prst="roundRect">
            <a:avLst>
              <a:gd name="adj" fmla="val 3077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Limitation: </a:t>
            </a: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2 channels → limited spatial information to separate similar grips. This is the main reason behind later performance gaps.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Signal Preprocessing — Parameters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670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Upsampling 200 → 1000 Hz (×5)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Window: 150 samples (150 ms)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Step: 30 samples → 80% overlap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Output: 32-dim CSV + raw (150×8) tensor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36792" y="1645920"/>
            <a:ext cx="5212080" cy="411480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11112" y="1828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1112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ms windows from the onset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Step: 30 ms → 80% overlap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channels × 4 features = 8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Output: custom_dataset.csv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6">
            <a:extLst>
              <a:ext uri="{FF2B5EF4-FFF2-40B4-BE49-F238E27FC236}">
                <a16:creationId xmlns:a16="http://schemas.microsoft.com/office/drawing/2014/main" id="{9E399BFE-6BE5-B8F9-6A97-379259516766}"/>
              </a:ext>
            </a:extLst>
          </p:cNvPr>
          <p:cNvSpPr/>
          <p:nvPr/>
        </p:nvSpPr>
        <p:spPr>
          <a:xfrm>
            <a:off x="6355080" y="3453014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Selected Hand Gestures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670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(7)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Thumb up (B1)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Scissors (B2)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44368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1520" y="294436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(B5)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56432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34564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(B6)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396849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(B7)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 (C5)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992624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499262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Pinch (C14)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Data (5)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1920240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37960" y="19202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2432304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37960" y="243230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2944368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537960" y="294436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34564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3968496"/>
            <a:ext cx="5349240" cy="420624"/>
          </a:xfrm>
          <a:prstGeom prst="roundRect">
            <a:avLst>
              <a:gd name="adj" fmla="val 869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37960" y="396849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Exactly Is a 'Window'?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</a:t>
            </a: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a short, fixed-length segment cut from the continuous EMG signal (150 ms here). The smallest unit the model classifies is not the whole signal but a single window.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feature vector (RMS/MAV/WL/SSC) is extracted per window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predicts each window separately → one gesture yields many windows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window: the window advances by a fixed step (30 ms)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overlap: consecutive windows largely coincide → more samples, temporal continuity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2286000"/>
            <a:ext cx="4892040" cy="2057400"/>
          </a:xfrm>
          <a:prstGeom prst="roundRect">
            <a:avLst>
              <a:gd name="adj" fmla="val 1778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949440" y="2468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SHORT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0" y="283464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window = 1 feature vector = 1 prediction. Classification is done on these small pieces; the final gesture decision comes from combining the windows.</a:t>
            </a:r>
            <a:endParaRPr lang="en-US" sz="1400" dirty="0"/>
          </a:p>
        </p:txBody>
      </p:sp>
      <p:pic>
        <p:nvPicPr>
          <p:cNvPr id="9" name="Image 0" descr="/sessions/relaxed-adoring-bohr/mnt/btalhaguclu_master_works/outputs/wav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74920"/>
            <a:ext cx="10332720" cy="640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14400" y="489204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6E5670">
              <a:alpha val="18000"/>
            </a:srgbClr>
          </a:solidFill>
          <a:ln w="22225">
            <a:solidFill>
              <a:srgbClr val="6E567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1024128" y="4956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56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86000" y="489204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A9843F">
              <a:alpha val="18000"/>
            </a:srgbClr>
          </a:solidFill>
          <a:ln w="22225">
            <a:solidFill>
              <a:srgbClr val="A984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2395728" y="4956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0" y="4892040"/>
            <a:ext cx="2743200" cy="1005840"/>
          </a:xfrm>
          <a:prstGeom prst="roundRect">
            <a:avLst>
              <a:gd name="adj" fmla="val 5455"/>
            </a:avLst>
          </a:prstGeom>
          <a:solidFill>
            <a:srgbClr val="5B7F6E">
              <a:alpha val="18000"/>
            </a:srgbClr>
          </a:solidFill>
          <a:ln w="22225">
            <a:solidFill>
              <a:srgbClr val="5B7F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3767328" y="49560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60350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width 150 ms  ·  step 30 ms  ·  overlap 80%  (sliding, overlapping windows)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Feature Selection — Why the Time Domain?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low compute cost → suitable for real-time / embedded prosthetics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to the small shifts and noise of surface EMG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Well-established and proven for gesture recognition in the sEMG literature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Reduces a 150-sample window to 4 numbers per channel with little information loss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87868" y="1737360"/>
            <a:ext cx="4389120" cy="3931920"/>
          </a:xfrm>
          <a:prstGeom prst="roundRect">
            <a:avLst>
              <a:gd name="adj" fmla="val 93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7498080" y="1965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PRINCIPLE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0" y="237744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features complement each other: amplitude (RMS, MAV), complexity (WL) and frequency (SSC). 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MEANINGS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Features — RMS and MAV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5670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RMS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Mean Square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663440" cy="685800"/>
          </a:xfrm>
          <a:prstGeom prst="roundRect">
            <a:avLst>
              <a:gd name="adj" fmla="val 5333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914400" y="2651760"/>
                <a:ext cx="448056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33404A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RMS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3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3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3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1300" b="1" i="1" smtClean="0">
                                <a:latin typeface="Cambria Math" panose="02040503050406030204" pitchFamily="18" charset="0"/>
                              </a:rPr>
                              <m:t>𝑵</m:t>
                            </m:r>
                          </m:den>
                        </m:f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en-US" sz="13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Sup>
                              <m:sSubSupPr>
                                <m:ctrlPr>
                                  <a:rPr lang="en-US" sz="13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3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13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  <m:sup>
                                <m:r>
                                  <a:rPr lang="en-US" sz="13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</m:e>
                        </m:nary>
                      </m:e>
                    </m:rad>
                  </m:oMath>
                </a14:m>
                <a:endParaRPr lang="en-US" sz="1300" b="1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651760"/>
                <a:ext cx="4480560" cy="685800"/>
              </a:xfrm>
              <a:prstGeom prst="rect">
                <a:avLst/>
              </a:prstGeom>
              <a:blipFill>
                <a:blip r:embed="rId3"/>
                <a:stretch>
                  <a:fillRect t="-28319" b="-64602"/>
                </a:stretch>
              </a:blipFill>
              <a:ln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822960" y="3474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root-mean-square value of the signal. Represents the total power/energy the muscle produces; the stronger the contraction, the higher it is.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36792" y="169164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336792" y="169164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5670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611112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MAV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891272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Absolute Value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1112" y="2651760"/>
            <a:ext cx="4663440" cy="685800"/>
          </a:xfrm>
          <a:prstGeom prst="roundRect">
            <a:avLst>
              <a:gd name="adj" fmla="val 5333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6702552" y="2651760"/>
                <a:ext cx="448056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33404A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MAV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00" b="1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1300" b="1" i="1" dirty="0"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  <m:r>
                      <a:rPr lang="en-US" sz="1300" b="1" i="1" dirty="0">
                        <a:latin typeface="Cambria Math" panose="02040503050406030204" pitchFamily="18" charset="0"/>
                      </a:rPr>
                      <m:t>𝜮</m:t>
                    </m:r>
                    <m:d>
                      <m:dPr>
                        <m:begChr m:val="|"/>
                        <m:endChr m:val="|"/>
                        <m:ctrlPr>
                          <a:rPr lang="en-US" sz="13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3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300" b="1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endParaRPr lang="en-US" sz="1300" b="1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552" y="2651760"/>
                <a:ext cx="4480560" cy="685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5"/>
          <p:cNvSpPr/>
          <p:nvPr/>
        </p:nvSpPr>
        <p:spPr>
          <a:xfrm>
            <a:off x="6611112" y="3474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absolute amplitude. The most classic sEMG amplitude estimator; reflects the signal's intensity and is slightly more robust to noise than RMS.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MEANINGS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Features — WL and SSC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3D4E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0312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Waveform Length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651760"/>
            <a:ext cx="4663440" cy="685800"/>
          </a:xfrm>
          <a:prstGeom prst="roundRect">
            <a:avLst>
              <a:gd name="adj" fmla="val 5333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914400" y="2651760"/>
                <a:ext cx="448056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33404A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WL = </a:t>
                </a:r>
                <a14:m>
                  <m:oMath xmlns:m="http://schemas.openxmlformats.org/officeDocument/2006/math">
                    <m:r>
                      <a:rPr lang="en-US" sz="1200" b="1" i="1" dirty="0">
                        <a:latin typeface="Cambria Math" panose="02040503050406030204" pitchFamily="18" charset="0"/>
                      </a:rPr>
                      <m:t>𝜮</m:t>
                    </m:r>
                    <m:d>
                      <m:dPr>
                        <m:begChr m:val="|"/>
                        <m:endChr m:val="|"/>
                        <m:ctrlPr>
                          <a:rPr lang="en-US" sz="12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200" b="1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tr-TR" sz="1200" b="1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tr-TR" sz="12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tr-TR" sz="12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200" b="1" i="1" dirty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endParaRPr lang="en-US" sz="125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651760"/>
                <a:ext cx="448056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822960" y="3474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 of absolute differences between consecutive samples — the cumulative waveform length. Indirectly measures signal complexity (amplitude + frequency combined).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36792" y="1691640"/>
            <a:ext cx="5212080" cy="402336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336792" y="169164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3D4E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611112" y="169164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SSC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891272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Slope Sign Changes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1112" y="2651760"/>
            <a:ext cx="4663440" cy="685800"/>
          </a:xfrm>
          <a:prstGeom prst="roundRect">
            <a:avLst>
              <a:gd name="adj" fmla="val 5333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6702552" y="2651760"/>
                <a:ext cx="4480560" cy="685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50" b="1" dirty="0">
                    <a:solidFill>
                      <a:srgbClr val="33404A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SSC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US" sz="125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sz="1250" i="1" dirty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tr-TR" sz="125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dirty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tr-TR" sz="12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2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dirty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tr-TR" sz="1200" b="1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tr-TR" sz="12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200" dirty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d>
                              <m:d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dirty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sz="120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2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 dirty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b="1" i="1" dirty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tr-TR" sz="1200" b="1" i="1" dirty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tr-TR" sz="1200" b="1" i="1" dirty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tr-TR" sz="1250" dirty="0"/>
                  <a:t>,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250" b="0" i="1" dirty="0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tr-TR" sz="125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25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25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5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250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25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25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1250" dirty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  <m:r>
                                <a:rPr lang="tr-TR" sz="1250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tr-TR" sz="125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25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250" dirty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125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/>
                                </m:mr>
                                <m:mr>
                                  <m:e>
                                    <m:r>
                                      <a:rPr lang="en-US" sz="1250" i="0" dirty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tr-TR" sz="1250" b="0" i="0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tr-TR" sz="1250" b="0" i="1" dirty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tr-TR" sz="1250" b="0" i="1" dirty="0" smtClean="0">
                                        <a:latin typeface="Cambria Math" panose="02040503050406030204" pitchFamily="18" charset="0"/>
                                      </a:rPr>
                                      <m:t>𝑜𝑡h𝑒𝑟𝑤𝑖𝑠𝑒</m:t>
                                    </m:r>
                                  </m:e>
                                </m:mr>
                              </m:m>
                            </m:e>
                          </m:eqArr>
                        </m:e>
                      </m:d>
                    </m:oMath>
                  </m:oMathPara>
                </a14:m>
                <a:endParaRPr lang="en-US" sz="1250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552" y="2651760"/>
                <a:ext cx="4480560" cy="685800"/>
              </a:xfrm>
              <a:prstGeom prst="rect">
                <a:avLst/>
              </a:prstGeom>
              <a:blipFill>
                <a:blip r:embed="rId4"/>
                <a:stretch>
                  <a:fillRect t="-46903"/>
                </a:stretch>
              </a:blipFill>
              <a:ln/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15"/>
          <p:cNvSpPr/>
          <p:nvPr/>
        </p:nvSpPr>
        <p:spPr>
          <a:xfrm>
            <a:off x="6611112" y="34747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Counts how many times the slope sign changes (number of peaks/valleys). Estimates the signal's frequency content; higher frequency → more sign changes.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Six Compared Models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208483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5670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148840" y="208483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 kernel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526280" y="208483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3D4E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26280" y="208483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RF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897880" y="208483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of 100 trees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275320" y="208483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75320" y="208483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46920" y="208483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OvO + Extra Trees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77240" y="409651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3340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409651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CNN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148840" y="409651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convolutional </a:t>
            </a:r>
            <a:r>
              <a:rPr lang="tr-TR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</a:t>
            </a: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97680" y="384048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526280" y="409651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6E56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26280" y="409651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897880" y="409651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k=5 neighbors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3840480"/>
            <a:ext cx="3520440" cy="1828800"/>
          </a:xfrm>
          <a:prstGeom prst="roundRect">
            <a:avLst>
              <a:gd name="adj" fmla="val 200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275320" y="4096512"/>
            <a:ext cx="1234440" cy="1325880"/>
          </a:xfrm>
          <a:prstGeom prst="roundRect">
            <a:avLst>
              <a:gd name="adj" fmla="val 6667"/>
            </a:avLst>
          </a:prstGeom>
          <a:solidFill>
            <a:srgbClr val="A984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275320" y="4096512"/>
            <a:ext cx="1234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46920" y="4096512"/>
            <a:ext cx="1783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1×128 neural network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MODEL —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sz="2800" b="1" i="0">
                <a:solidFill>
                  <a:srgbClr val="33404A"/>
                </a:solidFill>
                <a:latin typeface="Bookman Old Style"/>
              </a:rPr>
              <a:t>How Does MEET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44752"/>
            <a:ext cx="11064240" cy="5486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sz="1400" b="0" i="0">
                <a:solidFill>
                  <a:srgbClr val="2B2B2B"/>
                </a:solidFill>
                <a:latin typeface="Cambria"/>
              </a:rPr>
              <a:t>MEET = Mixture of Experts Extra Trees. It splits the multi-class problem into binary sub-problems and trains a specialized 'expert' for each class pair.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5806440" cy="24688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3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300" b="0" i="0">
                <a:solidFill>
                  <a:srgbClr val="2B2B2B"/>
                </a:solidFill>
                <a:latin typeface="Cambria"/>
              </a:rPr>
              <a:t>One-vs-One: a binary classifier per class pair → n(n−1)/2 experts (5 classes = 10 experts)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300" b="0" i="0">
                <a:solidFill>
                  <a:srgbClr val="2B2B2B"/>
                </a:solidFill>
                <a:latin typeface="Cambria"/>
              </a:rPr>
              <a:t>Each expert focuses only on separating two classes → a very sharp boundary for that pair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300" b="0" i="0">
                <a:solidFill>
                  <a:srgbClr val="2B2B2B"/>
                </a:solidFill>
                <a:latin typeface="Cambria"/>
              </a:rPr>
              <a:t>The experts are built from Extra Trees (extremely randomized trees) → low variance, fast training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300" b="0" i="0">
                <a:solidFill>
                  <a:srgbClr val="2B2B2B"/>
                </a:solidFill>
                <a:latin typeface="Cambria"/>
              </a:rPr>
              <a:t>Prediction: the sample is asked to all experts; votes are tallied; the class with the most votes wins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2148840"/>
            <a:ext cx="5074920" cy="2468880"/>
          </a:xfrm>
          <a:prstGeom prst="roundRect">
            <a:avLst/>
          </a:prstGeom>
          <a:solidFill>
            <a:srgbClr val="EDF1EE"/>
          </a:solidFill>
          <a:ln w="9525">
            <a:solidFill>
              <a:srgbClr val="D6D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12280" y="2286000"/>
            <a:ext cx="452628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sz="1200" b="1" i="0">
                <a:solidFill>
                  <a:srgbClr val="5B7F6E"/>
                </a:solidFill>
                <a:latin typeface="Cambria"/>
              </a:rPr>
              <a:t>WHAT IS IT GOOD FOR?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670048"/>
            <a:ext cx="4526280" cy="18288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8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150" b="0" i="0">
                <a:solidFill>
                  <a:srgbClr val="2B2B2B"/>
                </a:solidFill>
                <a:latin typeface="Cambria"/>
              </a:rPr>
              <a:t>Separates similar, hard pairs (cylindrical↔closed, B1↔B7) far better than a single model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150" b="0" i="0">
                <a:solidFill>
                  <a:srgbClr val="2B2B2B"/>
                </a:solidFill>
                <a:latin typeface="Cambria"/>
              </a:rPr>
              <a:t>Gave the most balanced and highest accuracy in this study (&gt; 94% on NinaPro)</a:t>
            </a:r>
          </a:p>
          <a:p>
            <a:pPr>
              <a:spcAft>
                <a:spcPts val="8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•  </a:t>
            </a:r>
            <a:r>
              <a:rPr sz="1150" b="0" i="0">
                <a:solidFill>
                  <a:srgbClr val="2B2B2B"/>
                </a:solidFill>
                <a:latin typeface="Cambria"/>
              </a:rPr>
              <a:t>Specialization + randomness = sharp boundary + low variance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46320"/>
            <a:ext cx="2286000" cy="1051560"/>
          </a:xfrm>
          <a:prstGeom prst="roundRect">
            <a:avLst/>
          </a:prstGeom>
          <a:solidFill>
            <a:srgbClr val="567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5 classes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(gestures)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846320"/>
            <a:ext cx="548640" cy="10515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22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4846320"/>
            <a:ext cx="3657600" cy="1051560"/>
          </a:xfrm>
          <a:prstGeom prst="roundRect">
            <a:avLst/>
          </a:prstGeom>
          <a:solidFill>
            <a:srgbClr val="3D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Binary experts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(1–2, 1–3, 2–3, …)</a:t>
            </a:r>
          </a:p>
          <a:p>
            <a:pPr algn="ctr"/>
            <a:r>
              <a:rPr sz="1250" b="1" i="0">
                <a:solidFill>
                  <a:srgbClr val="FFFFFF"/>
                </a:solidFill>
                <a:latin typeface="Cambria"/>
              </a:rPr>
              <a:t>each Extra Trees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846320"/>
            <a:ext cx="548640" cy="105156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2200" b="1" i="0">
                <a:solidFill>
                  <a:srgbClr val="5B7F6E"/>
                </a:solidFill>
                <a:latin typeface="Cambria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4846320"/>
            <a:ext cx="3474720" cy="1051560"/>
          </a:xfrm>
          <a:prstGeom prst="roundRect">
            <a:avLst/>
          </a:prstGeom>
          <a:solidFill>
            <a:srgbClr val="5B7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Combine votes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→ Class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 — Support Vector Machine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5670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 (RBF)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PARAMETERS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 (radial)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'scale'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CHOICE?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RBF kernel: the EMG feature space is not linearly separable → a non-linear boundary is needed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C=10: balances margin width vs. error penalty; a mid-high value that works well for sEMG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gamma='scale': auto-scales the kernel width by feature variance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is essential: SVM is distance-based and sensitive to standardization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 Forest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3D4E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PARAMETERS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n_jobs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CHOICE?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trees: enough for a stable ensemble; more adds marginal gain at higher cost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max_depth=None: trees grow fully; the ensemble average offsets overfitting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 + random features → low variance, robust to noise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provides feature importance; an interpretability advantage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 — Mixture of Experts Extra Trees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 (OvO + Extra Trees)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PARAMETERS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OneVsOne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learner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ExtraTrees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CHOICE?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OvO: a separate 'expert' per gesture pair → n(n−1)/2 binary classifiers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Separates hard pairs (B1↔B7, C5↔C14) more sharply than a single model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Trees: extremely randomized trees → lower variance, fast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Adapted from Gehlot et al. (2024)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 — k-Nearest Neighbors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6E56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KNN (k=5)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PARAMETERS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n_neighbors (k)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Euclidean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(lazy)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CHOICE?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k=5: odd (no ties), small enough to capture local structure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Euclidean distance: the vote of the 5 nearest neighbors on standardized features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training — all computation at prediction time; simple and interpretable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Downside: sensitive to class overlap and noise; high memory/prediction cost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MLP — Multi-Layer Perceptron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77840" cy="4206240"/>
          </a:xfrm>
          <a:prstGeom prst="roundRect">
            <a:avLst>
              <a:gd name="adj" fmla="val 87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577840" cy="731520"/>
          </a:xfrm>
          <a:prstGeom prst="roundRect">
            <a:avLst>
              <a:gd name="adj" fmla="val 11250"/>
            </a:avLst>
          </a:prstGeom>
          <a:solidFill>
            <a:srgbClr val="A984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MLP (1×128)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CHOSEN PARAMETERS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28346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(128,) ReLU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49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Adam, lr=0.001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4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· seed 22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1645920"/>
            <a:ext cx="5303520" cy="4206240"/>
          </a:xfrm>
          <a:prstGeom prst="roundRect">
            <a:avLst>
              <a:gd name="adj" fmla="val 87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629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CHOICE?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2331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hidden layer, 128 neurons: enough capacity for a small feature space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ReLU activation + softmax output → multi-class probability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 optimizer: adaptive learning rate, fast convergence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non-linear decision boundaries; standardized input is essential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1D CNN — One Shared Raw Architecture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28346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212080" cy="640080"/>
          </a:xfrm>
          <a:prstGeom prst="roundRect">
            <a:avLst>
              <a:gd name="adj" fmla="val 12857"/>
            </a:avLst>
          </a:prstGeom>
          <a:solidFill>
            <a:srgbClr val="5670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NinaPro CNN (raw 150×8)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 Conv1D (64/128) + BatchNorm + MaxPool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kernels (10, 5) → temporal patterns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Dense(256/128)+Dropout, output softmax(7)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36792" y="1691640"/>
            <a:ext cx="5212080" cy="28346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336792" y="1691640"/>
            <a:ext cx="5212080" cy="640080"/>
          </a:xfrm>
          <a:prstGeom prst="roundRect">
            <a:avLst>
              <a:gd name="adj" fmla="val 12857"/>
            </a:avLst>
          </a:prstGeom>
          <a:solidFill>
            <a:srgbClr val="3D4E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611112" y="1691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CNN (raw 150×2)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11112" y="24688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sz="1350">
                <a:solidFill>
                  <a:srgbClr val="2B2B2B"/>
                </a:solidFill>
                <a:latin typeface="Cambria"/>
              </a:rPr>
              <a:t>Same network as NinaPro — only the input channel count differs (2 vs 8).</a:t>
            </a:r>
            <a:endParaRPr lang="en-US" sz="1350" dirty="0"/>
          </a:p>
          <a:p>
            <a:r>
              <a:rPr sz="1350">
                <a:solidFill>
                  <a:srgbClr val="2B2B2B"/>
                </a:solidFill>
                <a:latin typeface="Cambria"/>
              </a:rPr>
              <a:t>2× Conv1D (64/128) + BatchNorm + MaxPool</a:t>
            </a:r>
          </a:p>
          <a:p>
            <a:r>
              <a:rPr sz="1350">
                <a:solidFill>
                  <a:srgbClr val="2B2B2B"/>
                </a:solidFill>
                <a:latin typeface="Cambria"/>
              </a:rPr>
              <a:t>Dense(256/128) + Dropout → softmax(5)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11091672" cy="1051560"/>
          </a:xfrm>
          <a:prstGeom prst="roundRect">
            <a:avLst>
              <a:gd name="adj" fmla="val 3478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3D4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training: </a:t>
            </a:r>
            <a:r>
              <a:rPr lang="en-US" sz="13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 (lr=0.001), sparse categorical crossentropy, early stopping (best-weight restore), ReduceLROnPlateau, balanced class weights, seed 22.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Evaluation Methodology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860804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8608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9222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/ 20% split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179222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split preserving class balance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31520" y="2702052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27020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6334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on training only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263347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StandardScaler is 'fit' on training only → no data leakage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31520" y="3543300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31520" y="35433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474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Within- &amp; cross-subject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4747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subjects / entirely unseen subjects (S1, S10)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61104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31520" y="4384548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31520" y="43845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seed (22)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431596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 across all models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102352"/>
            <a:ext cx="11091672" cy="749808"/>
          </a:xfrm>
          <a:prstGeom prst="roundRect">
            <a:avLst>
              <a:gd name="adj" fmla="val 4878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31520" y="5225796"/>
            <a:ext cx="502920" cy="502920"/>
          </a:xfrm>
          <a:prstGeom prst="ellipse">
            <a:avLst/>
          </a:prstGeom>
          <a:solidFill>
            <a:srgbClr val="5670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31520" y="52257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7320" y="515721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0" y="515721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Accuracy, precision/recall/F1, normalized confusion matrix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 — NinaPro (6 Models)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DBE7E0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7373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B7F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94.74%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245059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5670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92.88%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16382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(RBF)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3163824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87.65%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387705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(1×128)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3877056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86.35%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22960" y="45902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(k=5)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459028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6E56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86.06%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5486400" cy="658368"/>
          </a:xfrm>
          <a:prstGeom prst="roundRect">
            <a:avLst>
              <a:gd name="adj" fmla="val 5556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22960" y="53035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CNN (raw)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97680" y="53035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8736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 82.7%</a:t>
            </a:r>
            <a:endParaRPr lang="en-US" sz="1800" dirty="0"/>
          </a:p>
        </p:txBody>
      </p:sp>
      <p:pic>
        <p:nvPicPr>
          <p:cNvPr id="22" name="Image 0" descr="/sessions/relaxed-adoring-bohr/mnt/btalhaguclu_master_works/outputs/ninapro/MEET_4sbj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1600200"/>
            <a:ext cx="5303520" cy="42062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355080" y="5806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— above 92% on almost every class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— SVM and RF Matrices</a:t>
            </a:r>
            <a:endParaRPr lang="en-US" sz="2900" dirty="0"/>
          </a:p>
        </p:txBody>
      </p:sp>
      <p:sp>
        <p:nvSpPr>
          <p:cNvPr id="6" name="Text 2"/>
          <p:cNvSpPr/>
          <p:nvPr/>
        </p:nvSpPr>
        <p:spPr>
          <a:xfrm>
            <a:off x="457200" y="5897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— 87.65% overall; solid but below the ensembles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72200" y="5897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— 92.88% overall; strong on every class</a:t>
            </a:r>
            <a:endParaRPr lang="en-US" sz="1100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1DFFAC0B-EF15-A772-0F5E-DE663E18D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64" y="1599591"/>
            <a:ext cx="5315711" cy="4252569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D3D58615-F38D-761E-E853-B24186C81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330" y="1599590"/>
            <a:ext cx="5315710" cy="425256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CA01B-F477-824C-D8D9-ED873D63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BDA99C-DEAD-81AD-7676-3F3972BC18AD}"/>
              </a:ext>
            </a:extLst>
          </p:cNvPr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CA7DFF-DC3C-1043-D4A9-1668BD04BE3E}"/>
              </a:ext>
            </a:extLst>
          </p:cNvPr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— KNN and MLP Matrices</a:t>
            </a:r>
            <a:endParaRPr lang="en-US" sz="2900" dirty="0"/>
          </a:p>
        </p:txBody>
      </p:sp>
      <p:pic>
        <p:nvPicPr>
          <p:cNvPr id="4" name="Image 0" descr="/sessions/relaxed-adoring-bohr/mnt/btalhaguclu_master_works/outputs/ninapro/KNN_4sbj.png">
            <a:extLst>
              <a:ext uri="{FF2B5EF4-FFF2-40B4-BE49-F238E27FC236}">
                <a16:creationId xmlns:a16="http://schemas.microsoft.com/office/drawing/2014/main" id="{2A324161-EC58-36AE-341F-EEBD0A65A6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54480"/>
            <a:ext cx="5577840" cy="4297680"/>
          </a:xfrm>
          <a:prstGeom prst="rect">
            <a:avLst/>
          </a:prstGeom>
        </p:spPr>
      </p:pic>
      <p:pic>
        <p:nvPicPr>
          <p:cNvPr id="5" name="Image 1" descr="/sessions/relaxed-adoring-bohr/mnt/btalhaguclu_master_works/outputs/ninapro/MLP_4sbj.png">
            <a:extLst>
              <a:ext uri="{FF2B5EF4-FFF2-40B4-BE49-F238E27FC236}">
                <a16:creationId xmlns:a16="http://schemas.microsoft.com/office/drawing/2014/main" id="{2614CC1C-52E7-5F66-21C3-A13E248785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1554480"/>
            <a:ext cx="5577840" cy="429768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E8C78E0-7D12-4DD8-C38A-95B4044E5CA5}"/>
              </a:ext>
            </a:extLst>
          </p:cNvPr>
          <p:cNvSpPr/>
          <p:nvPr/>
        </p:nvSpPr>
        <p:spPr>
          <a:xfrm>
            <a:off x="457200" y="5897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— Point/B7 is weakest (77%)</a:t>
            </a:r>
            <a:endParaRPr lang="en-US" sz="11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3BD5FAF-1811-8D7A-3F1C-45407DC210F5}"/>
              </a:ext>
            </a:extLst>
          </p:cNvPr>
          <p:cNvSpPr/>
          <p:nvPr/>
        </p:nvSpPr>
        <p:spPr>
          <a:xfrm>
            <a:off x="6172200" y="5897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— more balanced profile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529225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423F9-7E62-0BF7-0F0B-C2027D646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73AB415-99F0-6911-E546-D3156E193978}"/>
              </a:ext>
            </a:extLst>
          </p:cNvPr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D90FA8-1379-DC94-7858-86F90DB2FAB7}"/>
              </a:ext>
            </a:extLst>
          </p:cNvPr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— </a:t>
            </a:r>
            <a:r>
              <a:rPr lang="tr-TR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CNN</a:t>
            </a:r>
            <a:endParaRPr lang="en-US" sz="29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7BA1F75-BE13-9DE1-DF97-3D995FC0B12B}"/>
              </a:ext>
            </a:extLst>
          </p:cNvPr>
          <p:cNvSpPr/>
          <p:nvPr/>
        </p:nvSpPr>
        <p:spPr>
          <a:xfrm>
            <a:off x="3305492" y="5789227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— ≈ 82.7% overall (raw 150×8); trails the classical models</a:t>
            </a:r>
            <a:endParaRPr lang="en-US" sz="1100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04795174-116E-4CF2-D303-27431EF60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574" y="1389888"/>
            <a:ext cx="5479676" cy="438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261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— Detailed Comparison</a:t>
            </a:r>
            <a:endParaRPr lang="en-US" sz="2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400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4023360" cy="3931920"/>
          </a:xfrm>
          <a:prstGeom prst="roundRect">
            <a:avLst>
              <a:gd name="adj" fmla="val 930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377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and MEET (ensemble/expert) are best by far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≈ MLP ≈ KNN mid-group (~86-88%)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is last (~83%)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features make the classical models strong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NinaPro — Per-Class Accuracy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3832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7548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1264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980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1783080"/>
            <a:ext cx="1371600" cy="512064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869680" y="178308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295144"/>
            <a:ext cx="27432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2295144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Thumb up (B1)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3832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7548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1264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4980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78240" y="2295144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869680" y="229514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2807208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0080" y="280720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Scissors (B2)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918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3832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7548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91.9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350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1264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92.7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066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74980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778240" y="28072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869680" y="280720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85.9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3319272"/>
            <a:ext cx="27432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640080" y="3319272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(B5)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918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33832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634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47548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0350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1264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94.8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4066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74980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88.9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778240" y="3319272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8869680" y="3319272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86.2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48640" y="3831336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640080" y="3831336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(B6)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918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33832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88.3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634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7548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89.9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0350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61264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92.6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4066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74980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86.3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8778240" y="3831336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8869680" y="3831336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83.3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548640" y="4343400"/>
            <a:ext cx="27432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640080" y="4343400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(B7)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2918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33832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634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47548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92.0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0350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61264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95.1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4066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74980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77.0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8778240" y="4343400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8869680" y="4343400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80.8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48640" y="4855464"/>
            <a:ext cx="27432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640080" y="4855464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 (C5)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2918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7"/>
          <p:cNvSpPr/>
          <p:nvPr/>
        </p:nvSpPr>
        <p:spPr>
          <a:xfrm>
            <a:off x="33832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84.4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6634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47548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90.4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0350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81"/>
          <p:cNvSpPr/>
          <p:nvPr/>
        </p:nvSpPr>
        <p:spPr>
          <a:xfrm>
            <a:off x="61264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93.1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74066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/>
          <p:nvPr/>
        </p:nvSpPr>
        <p:spPr>
          <a:xfrm>
            <a:off x="74980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82.0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778240" y="485546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Text 85"/>
          <p:cNvSpPr/>
          <p:nvPr/>
        </p:nvSpPr>
        <p:spPr>
          <a:xfrm>
            <a:off x="8869680" y="4855464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85.4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548640" y="5367528"/>
            <a:ext cx="27432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Text 87"/>
          <p:cNvSpPr/>
          <p:nvPr/>
        </p:nvSpPr>
        <p:spPr>
          <a:xfrm>
            <a:off x="640080" y="5367528"/>
            <a:ext cx="2596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Pinch (C14)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32918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Text 89"/>
          <p:cNvSpPr/>
          <p:nvPr/>
        </p:nvSpPr>
        <p:spPr>
          <a:xfrm>
            <a:off x="33832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90.2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6634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Text 91"/>
          <p:cNvSpPr/>
          <p:nvPr/>
        </p:nvSpPr>
        <p:spPr>
          <a:xfrm>
            <a:off x="47548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60350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Text 93"/>
          <p:cNvSpPr/>
          <p:nvPr/>
        </p:nvSpPr>
        <p:spPr>
          <a:xfrm>
            <a:off x="61264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97.4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74066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Text 95"/>
          <p:cNvSpPr/>
          <p:nvPr/>
        </p:nvSpPr>
        <p:spPr>
          <a:xfrm>
            <a:off x="74980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86.4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8778240" y="5367528"/>
            <a:ext cx="1371600" cy="512064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Text 97"/>
          <p:cNvSpPr/>
          <p:nvPr/>
        </p:nvSpPr>
        <p:spPr>
          <a:xfrm>
            <a:off x="8869680" y="5367528"/>
            <a:ext cx="1225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89.3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Values are % accuracy (recall). MEET leads on every class; KNN's weakest is Point (77%).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 — Custom Data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30225" y="2562114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22960" y="2538177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CNN (raw)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254606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56707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92.5%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3672" y="3220482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3195469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195469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72.98%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3870153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22960" y="383671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(1×128)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3843529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3D4E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72.92%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528521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4500821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(RBF)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51960" y="4521440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78736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72.75%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5218535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516492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5164926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5B7F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72.46%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904335"/>
            <a:ext cx="5486400" cy="548640"/>
          </a:xfrm>
          <a:prstGeom prst="roundRect">
            <a:avLst>
              <a:gd name="adj" fmla="val 6667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588371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(k=5)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5876903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6E567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69.68%</a:t>
            </a:r>
            <a:endParaRPr lang="en-US" sz="1700" dirty="0"/>
          </a:p>
        </p:txBody>
      </p:sp>
      <p:pic>
        <p:nvPicPr>
          <p:cNvPr id="23" name="Image 0" descr="/sessions/relaxed-adoring-bohr/mnt/btalhaguclu_master_works/outputs/custom/sv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5080" y="1600200"/>
            <a:ext cx="5303520" cy="416052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548640" y="1554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500" b="1" dirty="0">
                <a:solidFill>
                  <a:srgbClr val="3D4E5A"/>
                </a:solidFill>
                <a:latin typeface="Cambria"/>
              </a:rPr>
              <a:t>Five feature-based models sit in a narrow ~70–73% band. The 1D CNN — retrained on the raw 2-channel signal instead of the 8 hand-crafted features — breaks out to ~92.5% and even resolves the </a:t>
            </a:r>
            <a:r>
              <a:rPr sz="1500" b="1" dirty="0" err="1">
                <a:solidFill>
                  <a:srgbClr val="3D4E5A"/>
                </a:solidFill>
                <a:latin typeface="Cambria"/>
              </a:rPr>
              <a:t>cylindrical↔closed</a:t>
            </a:r>
            <a:r>
              <a:rPr sz="1500" b="1" dirty="0">
                <a:solidFill>
                  <a:srgbClr val="3D4E5A"/>
                </a:solidFill>
                <a:latin typeface="Cambria"/>
              </a:rPr>
              <a:t> confusion that limits every feature model.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Effect of Removing Cylindrical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500">
                <a:solidFill>
                  <a:srgbClr val="2B2B2B"/>
                </a:solidFill>
                <a:latin typeface="Cambria"/>
              </a:rPr>
              <a:t>Removing cylindrical lifts every FEATURE-BASED model by ~+10 points (they cannot separate cylindrical↔closed). The raw-signal CNN is the exception: it already separates cylindrical (94%), so dropping it changes almost nothing.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10896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76656" y="233172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0" y="2331720"/>
            <a:ext cx="274320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785616" y="233172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classes (with cyl)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2331720"/>
            <a:ext cx="274320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28816" y="233172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classes (without cyl)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0" y="2331720"/>
            <a:ext cx="155448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272016" y="23317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898648"/>
            <a:ext cx="31089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76656" y="289864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(k=5)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0" y="2898648"/>
            <a:ext cx="274320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785616" y="28986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69.68%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0" y="2898648"/>
            <a:ext cx="274320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28816" y="289864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81.50%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0" y="2898648"/>
            <a:ext cx="155448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272016" y="289864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+11.8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465576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76656" y="3465576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(1×128)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0" y="346557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3785616" y="346557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72.92%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0" y="346557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528816" y="3465576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83.21%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144000" y="3465576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272016" y="3465576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+10.3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032504"/>
            <a:ext cx="31089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76656" y="4032504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1D CNN (raw)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57600" y="4032504"/>
            <a:ext cx="274320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785616" y="403250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92.5%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0" y="4032504"/>
            <a:ext cx="274320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528816" y="4032504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92.6%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144000" y="4032504"/>
            <a:ext cx="155448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272016" y="4032504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4599432"/>
            <a:ext cx="3108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676656" y="4599432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/ RF / MEET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657600" y="459943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3785616" y="459943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73%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400800" y="459943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6528816" y="459943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 83%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144000" y="4599432"/>
            <a:ext cx="1554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9272016" y="4599432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~+10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48640" y="5303520"/>
            <a:ext cx="11091672" cy="914400"/>
          </a:xfrm>
          <a:prstGeom prst="roundRect">
            <a:avLst>
              <a:gd name="adj" fmla="val 4000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22960" y="530352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300" b="1">
                <a:solidFill>
                  <a:srgbClr val="3D4E5A"/>
                </a:solidFill>
                <a:latin typeface="Cambria"/>
              </a:rPr>
              <a:t>'closed' recall: KNN 72.5% → 89.4% · MLP 74.4% → 91.4% (feature models need cyl removed).</a:t>
            </a:r>
            <a:endParaRPr lang="en-US" sz="1300" dirty="0"/>
          </a:p>
          <a:p>
            <a:r>
              <a:rPr sz="1300" b="1">
                <a:solidFill>
                  <a:srgbClr val="3D4E5A"/>
                </a:solidFill>
                <a:latin typeface="Cambria"/>
              </a:rPr>
              <a:t>Raw CNN already reaches closed 90.4% → 97.7% and cylindrical 94% with cyl still in.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6-Model Comparison (with cyl)</a:t>
            </a:r>
            <a:endParaRPr lang="en-US" sz="2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400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4023360" cy="3931920"/>
          </a:xfrm>
          <a:prstGeom prst="roundRect">
            <a:avLst>
              <a:gd name="adj" fmla="val 930"/>
            </a:avLst>
          </a:prstGeom>
          <a:solidFill>
            <a:srgbClr val="EDF1EE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37744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sz="1500">
                <a:solidFill>
                  <a:srgbClr val="2B2B2B"/>
                </a:solidFill>
                <a:latin typeface="Cambria"/>
              </a:rPr>
              <a:t>Five feature-based models cluster at ~70–73%</a:t>
            </a:r>
            <a:endParaRPr lang="en-US" sz="1500" dirty="0"/>
          </a:p>
          <a:p>
            <a:r>
              <a:rPr sz="1500">
                <a:solidFill>
                  <a:srgbClr val="2B2B2B"/>
                </a:solidFill>
                <a:latin typeface="Cambria"/>
              </a:rPr>
              <a:t>The raw-signal 1D CNN stands apart at ~92.5%</a:t>
            </a:r>
          </a:p>
          <a:p>
            <a:r>
              <a:rPr sz="1500">
                <a:solidFill>
                  <a:srgbClr val="2B2B2B"/>
                </a:solidFill>
                <a:latin typeface="Cambria"/>
              </a:rPr>
              <a:t>Same 2-channel data — the raw representation, not more channels, unlocks the gain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Per-Class Accuracy (with cyl)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94560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76656" y="182880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871216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24528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352544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05856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833872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87184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315200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68512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796528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149840" y="1828800"/>
            <a:ext cx="1481328" cy="566928"/>
          </a:xfrm>
          <a:prstGeom prst="rect">
            <a:avLst/>
          </a:prstGeom>
          <a:solidFill>
            <a:srgbClr val="5B7F6E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277856" y="182880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395728"/>
            <a:ext cx="21945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76656" y="2395728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2871216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24528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352544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05856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833872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87184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315200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68512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796528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149840" y="2395728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277856" y="239572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2962656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76656" y="2962656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0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2871216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80.9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224528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352544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705856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5833872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87184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7315200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78.5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668512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796528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82.5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149840" y="2962656"/>
            <a:ext cx="14813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10277856" y="2962656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92.9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3529584"/>
            <a:ext cx="21945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76656" y="3529584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743200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2871216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73.9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224528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4352544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74.3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705856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5833872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75.6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187184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7315200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72.5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668512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8796528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74.4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0149840" y="3529584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10277856" y="35295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90.4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48640" y="4096512"/>
            <a:ext cx="2194560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676656" y="4096512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743200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2871216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59.2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224528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4352544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57.4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705856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5833872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55.2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187184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7315200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50.9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668512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/>
          <p:nvPr/>
        </p:nvSpPr>
        <p:spPr>
          <a:xfrm>
            <a:off x="8796528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58.2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0149840" y="4096512"/>
            <a:ext cx="1481328" cy="566928"/>
          </a:xfrm>
          <a:prstGeom prst="rect">
            <a:avLst/>
          </a:prstGeom>
          <a:solidFill>
            <a:srgbClr val="F6E9DD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10277856" y="4096512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94.1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48640" y="4663440"/>
            <a:ext cx="2194560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676656" y="4663440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2743200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2871216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81.4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224528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7"/>
          <p:cNvSpPr/>
          <p:nvPr/>
        </p:nvSpPr>
        <p:spPr>
          <a:xfrm>
            <a:off x="4352544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82.5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705856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/>
          <p:nvPr/>
        </p:nvSpPr>
        <p:spPr>
          <a:xfrm>
            <a:off x="5833872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81.1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7187184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81"/>
          <p:cNvSpPr/>
          <p:nvPr/>
        </p:nvSpPr>
        <p:spPr>
          <a:xfrm>
            <a:off x="7315200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77.9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8668512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/>
          <p:nvPr/>
        </p:nvSpPr>
        <p:spPr>
          <a:xfrm>
            <a:off x="8796528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82.1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10149840" y="4663440"/>
            <a:ext cx="1481328" cy="566928"/>
          </a:xfrm>
          <a:prstGeom prst="rect">
            <a:avLst/>
          </a:prstGeom>
          <a:solidFill>
            <a:srgbClr val="EDEBE6"/>
          </a:solidFill>
          <a:ln w="6350">
            <a:solidFill>
              <a:srgbClr val="CBD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Text 85"/>
          <p:cNvSpPr/>
          <p:nvPr/>
        </p:nvSpPr>
        <p:spPr>
          <a:xfrm>
            <a:off x="10277856" y="46634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96.2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548640" y="535838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50">
                <a:solidFill>
                  <a:srgbClr val="78736C"/>
                </a:solidFill>
                <a:latin typeface="Cambria"/>
              </a:rPr>
              <a:t>For the five feature models the cylindrical row is lowest (~51–61%) — their bottleneck. The raw CNN lifts cylindrical to 94.1% — the opposite pattern.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7F6E"/>
                </a:solidFill>
                <a:latin typeface="Cambria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33404A"/>
                </a:solidFill>
                <a:latin typeface="Bookman Old Style"/>
              </a:rPr>
              <a:t>Custom Raw CNN — The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736C"/>
                </a:solidFill>
                <a:latin typeface="Cambria"/>
              </a:rPr>
              <a:t>Retrained on the raw 150×2 signal, the CNN reaches ≈92.5% (5 classes) — about +20 points over every feature-based model — and raises cylindrical recall from ~55% to 94%.</a:t>
            </a:r>
          </a:p>
        </p:txBody>
      </p:sp>
      <p:pic>
        <p:nvPicPr>
          <p:cNvPr id="5" name="Picture 4" descr="C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960"/>
            <a:ext cx="4665299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8932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8736C"/>
                </a:solidFill>
                <a:latin typeface="Cambria"/>
              </a:rPr>
              <a:t>Custom 1D CNN — raw 150×2, 5 classes · overall ≈ 92.5%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03120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404A"/>
                </a:solidFill>
                <a:latin typeface="Bookman Old Style"/>
              </a:rPr>
              <a:t>Per-class recall (raw CNN)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697480"/>
            <a:ext cx="5074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33404A"/>
                </a:solidFill>
                <a:latin typeface="Cambria"/>
              </a:rPr>
              <a:t>point 89.2%      rock 92.9%</a:t>
            </a:r>
          </a:p>
          <a:p>
            <a:pPr algn="l"/>
            <a:r>
              <a:rPr sz="1350" b="0">
                <a:solidFill>
                  <a:srgbClr val="33404A"/>
                </a:solidFill>
                <a:latin typeface="Cambria"/>
              </a:rPr>
              <a:t>closed 90.4%     open 96.2%</a:t>
            </a:r>
          </a:p>
          <a:p>
            <a:pPr algn="l"/>
            <a:r>
              <a:rPr sz="1350" b="0">
                <a:solidFill>
                  <a:srgbClr val="33404A"/>
                </a:solidFill>
                <a:latin typeface="Cambria"/>
              </a:rPr>
              <a:t>cylindrical 94.1%   ← was ~55% with features</a:t>
            </a:r>
          </a:p>
          <a:p>
            <a:pPr algn="l"/>
            <a:endParaRPr sz="1350" b="0">
              <a:solidFill>
                <a:srgbClr val="33404A"/>
              </a:solidFill>
              <a:latin typeface="Cambria"/>
            </a:endParaRPr>
          </a:p>
          <a:p>
            <a:pPr algn="l"/>
            <a:r>
              <a:rPr sz="1350" b="0">
                <a:solidFill>
                  <a:srgbClr val="33404A"/>
                </a:solidFill>
                <a:latin typeface="Cambria"/>
              </a:rPr>
              <a:t>Feature-based models (SVM/RF/MEET/KNN/MLP): ~70–73%</a:t>
            </a:r>
          </a:p>
          <a:p>
            <a:pPr algn="l"/>
            <a:r>
              <a:rPr sz="1350" b="0">
                <a:solidFill>
                  <a:srgbClr val="33404A"/>
                </a:solidFill>
                <a:latin typeface="Cambria"/>
              </a:rPr>
              <a:t>Same 2 channels — a richer (raw) representation, not</a:t>
            </a:r>
          </a:p>
          <a:p>
            <a:pPr algn="l"/>
            <a:r>
              <a:rPr sz="1350" b="0">
                <a:solidFill>
                  <a:srgbClr val="33404A"/>
                </a:solidFill>
                <a:latin typeface="Cambria"/>
              </a:rPr>
              <a:t>more electrodes, delivers the jump.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</a:t>
            </a:r>
            <a:r>
              <a:rPr lang="tr-TR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</a:t>
            </a: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and </a:t>
            </a:r>
            <a:r>
              <a:rPr lang="tr-TR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</a:t>
            </a: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Matrices (with cyl)</a:t>
            </a:r>
            <a:endParaRPr lang="en-US" sz="2900" dirty="0"/>
          </a:p>
        </p:txBody>
      </p:sp>
      <p:sp>
        <p:nvSpPr>
          <p:cNvPr id="6" name="Text 2"/>
          <p:cNvSpPr/>
          <p:nvPr/>
        </p:nvSpPr>
        <p:spPr>
          <a:xfrm>
            <a:off x="457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cylindrical 5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72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cylindrical 5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1100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84030647-8E11-E59F-9D24-1261F73F9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9888"/>
            <a:ext cx="5483289" cy="4327269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340BDA6F-F6E2-0B86-9AA2-1F54BCCC6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802" y="1322993"/>
            <a:ext cx="5390636" cy="459606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CCC0D-7743-54BC-DD8C-FA6EC3B26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B7A12F-C274-E701-6D28-97E72F70F486}"/>
              </a:ext>
            </a:extLst>
          </p:cNvPr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9851B2-FBB3-147C-6E8F-A9C415D545E5}"/>
              </a:ext>
            </a:extLst>
          </p:cNvPr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KNN and MLP Matrices (with cyl)</a:t>
            </a:r>
            <a:endParaRPr lang="en-US" sz="2900" dirty="0"/>
          </a:p>
        </p:txBody>
      </p:sp>
      <p:pic>
        <p:nvPicPr>
          <p:cNvPr id="4" name="Image 0" descr="/sessions/relaxed-adoring-bohr/mnt/btalhaguclu_master_works/outputs/custom/knn.png">
            <a:extLst>
              <a:ext uri="{FF2B5EF4-FFF2-40B4-BE49-F238E27FC236}">
                <a16:creationId xmlns:a16="http://schemas.microsoft.com/office/drawing/2014/main" id="{C9545D29-4098-34DD-2FA0-AA0D6FAEE3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54480"/>
            <a:ext cx="5577840" cy="4206240"/>
          </a:xfrm>
          <a:prstGeom prst="rect">
            <a:avLst/>
          </a:prstGeom>
        </p:spPr>
      </p:pic>
      <p:pic>
        <p:nvPicPr>
          <p:cNvPr id="5" name="Image 1" descr="/sessions/relaxed-adoring-bohr/mnt/btalhaguclu_master_works/outputs/custom/mlp.png">
            <a:extLst>
              <a:ext uri="{FF2B5EF4-FFF2-40B4-BE49-F238E27FC236}">
                <a16:creationId xmlns:a16="http://schemas.microsoft.com/office/drawing/2014/main" id="{FF6E9530-9C71-1EBE-DA47-23ABFC7B2F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1554480"/>
            <a:ext cx="5577840" cy="420624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159D50BC-BC1C-5629-3A02-A45EBFE45551}"/>
              </a:ext>
            </a:extLst>
          </p:cNvPr>
          <p:cNvSpPr/>
          <p:nvPr/>
        </p:nvSpPr>
        <p:spPr>
          <a:xfrm>
            <a:off x="457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— cylindrical 50.9%</a:t>
            </a:r>
            <a:endParaRPr lang="en-US" sz="11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177FA81-70AF-D921-2320-E62DEAF0C636}"/>
              </a:ext>
            </a:extLst>
          </p:cNvPr>
          <p:cNvSpPr/>
          <p:nvPr/>
        </p:nvSpPr>
        <p:spPr>
          <a:xfrm>
            <a:off x="6172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— cylindrical 58.2%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789717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246EB-1823-3FFB-A8E3-0893D057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F570A9-7A06-596D-A0F6-DFC880148F80}"/>
              </a:ext>
            </a:extLst>
          </p:cNvPr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989852-004D-D485-CD69-750785E24AD4}"/>
              </a:ext>
            </a:extLst>
          </p:cNvPr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</a:t>
            </a:r>
            <a:r>
              <a:rPr lang="tr-TR" sz="2900" b="1" dirty="0" err="1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</a:t>
            </a:r>
            <a:r>
              <a:rPr lang="tr-TR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tr-TR" sz="2900" b="1" dirty="0" err="1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Forest</a:t>
            </a:r>
            <a:r>
              <a:rPr lang="tr-TR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tr-TR" sz="2900" b="1" dirty="0" err="1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Matrix</a:t>
            </a:r>
            <a:r>
              <a:rPr lang="tr-TR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(with cyl)</a:t>
            </a:r>
            <a:endParaRPr lang="en-US" sz="29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B7F8F31-D77C-EBB1-3701-0B87CE0DC204}"/>
              </a:ext>
            </a:extLst>
          </p:cNvPr>
          <p:cNvSpPr/>
          <p:nvPr/>
        </p:nvSpPr>
        <p:spPr>
          <a:xfrm>
            <a:off x="3305492" y="583996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100" i="1" dirty="0" err="1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tr-TR" sz="1100" i="1" dirty="0" err="1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cylindrical 5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1100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CB0294AE-1B1A-9D88-CF1B-35321FAAD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825" y="1338938"/>
            <a:ext cx="5279174" cy="450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276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</a:t>
            </a:r>
            <a:r>
              <a:rPr lang="tr-TR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SVM</a:t>
            </a: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and </a:t>
            </a:r>
            <a:r>
              <a:rPr lang="tr-TR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 </a:t>
            </a: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Matrices (without cyl)</a:t>
            </a:r>
            <a:endParaRPr lang="en-US" sz="2900" dirty="0"/>
          </a:p>
        </p:txBody>
      </p:sp>
      <p:sp>
        <p:nvSpPr>
          <p:cNvPr id="6" name="Text 2"/>
          <p:cNvSpPr/>
          <p:nvPr/>
        </p:nvSpPr>
        <p:spPr>
          <a:xfrm>
            <a:off x="457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'closed' rises to 9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72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'closed' rises to 9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</a:t>
            </a:r>
            <a:endParaRPr lang="en-US" sz="1100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4C468C04-B0FF-655B-28A0-DC8A8AF7A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864" y="1304544"/>
            <a:ext cx="5190511" cy="4441482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560BD9BE-10C5-508D-AC0B-DCFB6ECF0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85" y="1410678"/>
            <a:ext cx="5190512" cy="444148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FF57D-E7ED-14BF-DEDA-76ED0ABFB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32107FC-D97E-B072-669D-66C05FD58B6D}"/>
              </a:ext>
            </a:extLst>
          </p:cNvPr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CD6EE6-E624-E8CA-BD02-6A00F7135744}"/>
              </a:ext>
            </a:extLst>
          </p:cNvPr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KNN and MLP Matrices (without cyl)</a:t>
            </a:r>
            <a:endParaRPr lang="en-US" sz="2900" dirty="0"/>
          </a:p>
        </p:txBody>
      </p:sp>
      <p:pic>
        <p:nvPicPr>
          <p:cNvPr id="4" name="Image 0" descr="/sessions/relaxed-adoring-bohr/mnt/btalhaguclu_master_works/outputs/custom/knn_wo_cyl.png">
            <a:extLst>
              <a:ext uri="{FF2B5EF4-FFF2-40B4-BE49-F238E27FC236}">
                <a16:creationId xmlns:a16="http://schemas.microsoft.com/office/drawing/2014/main" id="{9A531664-E392-B311-9C1A-53D010EBAD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54480"/>
            <a:ext cx="5577840" cy="4206240"/>
          </a:xfrm>
          <a:prstGeom prst="rect">
            <a:avLst/>
          </a:prstGeom>
        </p:spPr>
      </p:pic>
      <p:pic>
        <p:nvPicPr>
          <p:cNvPr id="5" name="Image 1" descr="/sessions/relaxed-adoring-bohr/mnt/btalhaguclu_master_works/outputs/custom/mlp_wo_cyl.png">
            <a:extLst>
              <a:ext uri="{FF2B5EF4-FFF2-40B4-BE49-F238E27FC236}">
                <a16:creationId xmlns:a16="http://schemas.microsoft.com/office/drawing/2014/main" id="{25980B5B-D045-7776-97BC-A6C6910960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1554480"/>
            <a:ext cx="5577840" cy="420624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541DD3FA-96C9-8DC4-363C-9942D598D102}"/>
              </a:ext>
            </a:extLst>
          </p:cNvPr>
          <p:cNvSpPr/>
          <p:nvPr/>
        </p:nvSpPr>
        <p:spPr>
          <a:xfrm>
            <a:off x="457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— 'closed' rises to 89.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11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5BC22786-6E0F-D8BB-B6AD-31B8CAEF9BEE}"/>
              </a:ext>
            </a:extLst>
          </p:cNvPr>
          <p:cNvSpPr/>
          <p:nvPr/>
        </p:nvSpPr>
        <p:spPr>
          <a:xfrm>
            <a:off x="6172200" y="585216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— 'closed' rises to 91.4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842877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96F37-71EA-3BF1-4578-3BDF29986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2D623C-82FE-AF34-1192-36F5B3AE5930}"/>
              </a:ext>
            </a:extLst>
          </p:cNvPr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B7CAD7-D6FA-96D3-4FE7-990544AD47C8}"/>
              </a:ext>
            </a:extLst>
          </p:cNvPr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 Data — </a:t>
            </a:r>
            <a:r>
              <a:rPr lang="tr-TR" sz="2900" b="1" dirty="0" err="1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Random</a:t>
            </a:r>
            <a:r>
              <a:rPr lang="tr-TR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</a:t>
            </a:r>
            <a:r>
              <a:rPr lang="tr-TR" sz="2900" b="1" dirty="0" err="1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Forest</a:t>
            </a: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Matri</a:t>
            </a:r>
            <a:r>
              <a:rPr lang="tr-TR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x</a:t>
            </a: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(without cyl)</a:t>
            </a:r>
            <a:endParaRPr lang="en-US" sz="29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5FDCA3E-3037-89E6-B2C1-553BDE01FB7D}"/>
              </a:ext>
            </a:extLst>
          </p:cNvPr>
          <p:cNvSpPr/>
          <p:nvPr/>
        </p:nvSpPr>
        <p:spPr>
          <a:xfrm>
            <a:off x="3305492" y="581863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100" i="1" dirty="0" err="1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tr-TR" sz="1100" i="1" dirty="0" err="1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'closed' rises to 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r>
              <a:rPr lang="tr-TR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r>
              <a:rPr lang="en-US" sz="1100" i="1" dirty="0">
                <a:solidFill>
                  <a:srgbClr val="7873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1100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71C3F5DD-CD2C-8853-B049-D2EDE35FA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406" y="1532624"/>
            <a:ext cx="4842011" cy="414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28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Comparative Analysis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024128"/>
          </a:xfrm>
          <a:prstGeom prst="roundRect">
            <a:avLst>
              <a:gd name="adj" fmla="val 3571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A984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NinaPro ≫ Custom data?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12848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300" dirty="0">
                <a:solidFill>
                  <a:srgbClr val="2B2B2B"/>
                </a:solidFill>
                <a:latin typeface="Cambria"/>
              </a:rPr>
              <a:t>With hand-crafted features, yes — 8 channels separate similar grips far better than 2. But a raw-signal CNN closes most of the gap on the 2-channel data (≈ 92.5%).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11091672" cy="1024128"/>
          </a:xfrm>
          <a:prstGeom prst="roundRect">
            <a:avLst>
              <a:gd name="adj" fmla="val 3571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5B7F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960120" y="2962656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MEET / RF best?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328416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and One-vs-One expert structures separate hard pairs sharply and reduce variance.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68496"/>
            <a:ext cx="11091672" cy="1024128"/>
          </a:xfrm>
          <a:prstGeom prst="roundRect">
            <a:avLst>
              <a:gd name="adj" fmla="val 3571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6E567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60120" y="4078224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 vs KNN?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0120" y="4443984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MLP competes with the classical models via its flexible boundary; KNN, being distance-based, is most fragile to overlap.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84064"/>
            <a:ext cx="11091672" cy="1024128"/>
          </a:xfrm>
          <a:prstGeom prst="roundRect">
            <a:avLst>
              <a:gd name="adj" fmla="val 3571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48640" y="5084064"/>
            <a:ext cx="164592" cy="1024128"/>
          </a:xfrm>
          <a:prstGeom prst="roundRect">
            <a:avLst>
              <a:gd name="adj" fmla="val 22222"/>
            </a:avLst>
          </a:prstGeom>
          <a:solidFill>
            <a:srgbClr val="56707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60120" y="5193792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the raw CNN win?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555955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300">
                <a:solidFill>
                  <a:srgbClr val="2B2B2B"/>
                </a:solidFill>
                <a:latin typeface="Cambria"/>
              </a:rPr>
              <a:t>On the 2-channel custom data it wins decisively (≈92.5% vs ~73%), recovering the cylindrical detail the features discard. On 8-channel NinaPro the features already suffice, so RF/MEET lead and the CNN trails.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340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and Improvement Suggestions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114800"/>
          </a:xfrm>
          <a:prstGeom prst="roundRect">
            <a:avLst>
              <a:gd name="adj" fmla="val 889"/>
            </a:avLst>
          </a:prstGeom>
          <a:solidFill>
            <a:srgbClr val="E0DDD5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984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Faced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FontTx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Cylindrical ↔ closed confusion (main bottleneck)</a:t>
            </a:r>
            <a:r>
              <a:rPr lang="en-US" sz="1500" dirty="0">
                <a:solidFill>
                  <a:srgbClr val="2B2B2B"/>
                </a:solidFill>
                <a:latin typeface="Cambria"/>
              </a:rPr>
              <a:t> (resolved by the raw CNN)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Spatial-information limit of 2 channels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36792" y="1691640"/>
            <a:ext cx="5303520" cy="4114800"/>
          </a:xfrm>
          <a:prstGeom prst="roundRect">
            <a:avLst>
              <a:gd name="adj" fmla="val 889"/>
            </a:avLst>
          </a:prstGeom>
          <a:solidFill>
            <a:srgbClr val="EDEBE6"/>
          </a:solidFill>
          <a:ln w="9525">
            <a:solidFill>
              <a:srgbClr val="D6D2C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11112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7F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Recommendations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11112" y="233172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channel count </a:t>
            </a:r>
            <a:endParaRPr lang="tr-TR" sz="1500" dirty="0">
              <a:solidFill>
                <a:srgbClr val="2B2B2B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subjects → generalization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frequency-domain features</a:t>
            </a:r>
            <a:endParaRPr lang="en-US" sz="15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tr-TR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</a:rPr>
              <a:t>Optimize CNN </a:t>
            </a:r>
            <a:r>
              <a:rPr lang="tr-TR" sz="1500" dirty="0" err="1">
                <a:solidFill>
                  <a:srgbClr val="2B2B2B"/>
                </a:solidFill>
                <a:latin typeface="Cambria" pitchFamily="34" charset="0"/>
                <a:ea typeface="Cambria" pitchFamily="34" charset="-122"/>
              </a:rPr>
              <a:t>for</a:t>
            </a:r>
            <a:r>
              <a:rPr lang="tr-TR" sz="15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</a:rPr>
              <a:t> Nina Pro 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relaxed-adoring-bohr/mnt/btalhaguclu_master_works/outputs/wav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2960"/>
            <a:ext cx="12188952" cy="1005840"/>
          </a:xfrm>
          <a:prstGeom prst="rect">
            <a:avLst/>
          </a:prstGeom>
        </p:spPr>
      </p:pic>
      <p:pic>
        <p:nvPicPr>
          <p:cNvPr id="3" name="Image 1" descr="/sessions/relaxed-adoring-bohr/mnt/btalhaguclu_master_works/outputs/wave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5120640"/>
            <a:ext cx="12188952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2103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5" name="Text 1"/>
          <p:cNvSpPr/>
          <p:nvPr/>
        </p:nvSpPr>
        <p:spPr>
          <a:xfrm>
            <a:off x="548640" y="256032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sz="2600" b="1">
                <a:solidFill>
                  <a:srgbClr val="33404A"/>
                </a:solidFill>
                <a:latin typeface="Bookman Old Style"/>
              </a:rPr>
              <a:t>MEET and Random Forest lead on 8-channel sEMG (&gt; 92%);</a:t>
            </a:r>
            <a:endParaRPr lang="en-US" sz="2600" dirty="0"/>
          </a:p>
          <a:p>
            <a:r>
              <a:rPr sz="2600" b="1">
                <a:solidFill>
                  <a:srgbClr val="33404A"/>
                </a:solidFill>
                <a:latin typeface="Bookman Old Style"/>
              </a:rPr>
              <a:t>on the 2-channel data the raw-signal 1D CNN leads (≈ 92.5%)</a:t>
            </a:r>
          </a:p>
        </p:txBody>
      </p:sp>
      <p:sp>
        <p:nvSpPr>
          <p:cNvPr id="6" name="Text 2"/>
          <p:cNvSpPr/>
          <p:nvPr/>
        </p:nvSpPr>
        <p:spPr>
          <a:xfrm>
            <a:off x="1737360" y="3886200"/>
            <a:ext cx="8714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sz="1400" dirty="0">
                <a:solidFill>
                  <a:srgbClr val="78736C"/>
                </a:solidFill>
                <a:latin typeface="Cambria"/>
              </a:rPr>
              <a:t>Well-designed time-domain features make the classical models strong on rich 8-channel data. But on the 2-channel data the ~73% plateau was a limit of the features, not of the channels: a CNN trained on the raw signal reaches ≈ 92.5% and lifts cylindrical from ~55% to 94%. Takeaway — with few channels, learning from the raw signal beats hand-crafted features.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•  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31089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sz="1300" b="1" i="0">
                <a:solidFill>
                  <a:srgbClr val="5B7F6E"/>
                </a:solidFill>
                <a:latin typeface="Cambria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r>
              <a:rPr sz="2700" b="1" i="0">
                <a:solidFill>
                  <a:srgbClr val="33404A"/>
                </a:solidFill>
                <a:latin typeface="Bookman Old Style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72800" cy="6583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1.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MEET model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Gehlot, N., Jena, A., Kumar, R., Bukya, M. (2024). MEET: Mixture of Experts Extra Tree-Based sEMG Hand Gesture Identification. arXiv:2405.09562.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58568"/>
            <a:ext cx="10972800" cy="6583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2.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NinaPro database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Atzori, M. et al. (2014). Electromyography data for non-invasive naturally-controlled robotic hand prostheses. Scientific Data 1:140053. — ninapro.hevs.ch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16935"/>
            <a:ext cx="10972800" cy="6583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3.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NinaPro DB5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Pizzolato, S. et al. (2017). Comparison of six EMG acquisition setups on hand movement classification tasks. PLoS ONE 12(10):e0186132.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75303"/>
            <a:ext cx="10972800" cy="6583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4.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Time-domain features (RMS/MAV/WL/SSC)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Hudgins, B., Parker, P., Scott, R. N. (1993). A new strategy for multifunction myoelectric control. IEEE Trans. Biomed. Eng. 40(1):82–94.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33671"/>
            <a:ext cx="10972800" cy="6583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5.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Random Forest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Breiman, L. (2001). Random Forests. Machine Learning 45(1):5–32.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92039"/>
            <a:ext cx="10972800" cy="6583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>
                <a:solidFill>
                  <a:srgbClr val="5B7F6E"/>
                </a:solidFill>
                <a:latin typeface="Cambria"/>
              </a:rPr>
              <a:t>6. </a:t>
            </a:r>
            <a:r>
              <a:rPr sz="1150" b="1" i="0">
                <a:solidFill>
                  <a:srgbClr val="33404A"/>
                </a:solidFill>
                <a:latin typeface="Cambria"/>
              </a:rPr>
              <a:t>Extra Trees — </a:t>
            </a:r>
            <a:r>
              <a:rPr sz="1100" b="0" i="0">
                <a:solidFill>
                  <a:srgbClr val="2B2B2B"/>
                </a:solidFill>
                <a:latin typeface="Cambria"/>
              </a:rPr>
              <a:t>Geurts, P., Ernst, D., Wehenkel, L. (2006). Extremely randomized trees. Machine Learning 63(1):3–42.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50407"/>
            <a:ext cx="10972800" cy="65836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200"/>
              </a:spcAft>
            </a:pPr>
            <a:r>
              <a:rPr sz="1150" b="1" i="0" dirty="0">
                <a:solidFill>
                  <a:srgbClr val="5B7F6E"/>
                </a:solidFill>
                <a:latin typeface="Cambria"/>
              </a:rPr>
              <a:t>7. </a:t>
            </a:r>
            <a:r>
              <a:rPr sz="1150" b="1" i="0" dirty="0">
                <a:solidFill>
                  <a:srgbClr val="33404A"/>
                </a:solidFill>
                <a:latin typeface="Cambria"/>
              </a:rPr>
              <a:t>scikit-learn (SVM, RF, ET, KNN, MLP) — </a:t>
            </a:r>
            <a:r>
              <a:rPr sz="1100" b="0" i="0" dirty="0">
                <a:solidFill>
                  <a:srgbClr val="2B2B2B"/>
                </a:solidFill>
                <a:latin typeface="Cambria"/>
              </a:rPr>
              <a:t>Pedregosa, F. et al. (2011). Scikit-learn: Machine Learning in Python. JMLR 12:2825–2830.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6E0B6933-30C0-7D62-7F7F-38D24237554F}"/>
              </a:ext>
            </a:extLst>
          </p:cNvPr>
          <p:cNvSpPr txBox="1"/>
          <p:nvPr/>
        </p:nvSpPr>
        <p:spPr>
          <a:xfrm>
            <a:off x="640080" y="6205009"/>
            <a:ext cx="10972800" cy="412934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spcAft>
                <a:spcPts val="200"/>
              </a:spcAft>
            </a:pPr>
            <a:r>
              <a:rPr lang="tr-TR" sz="1150" b="1" i="0" dirty="0">
                <a:solidFill>
                  <a:srgbClr val="5B7F6E"/>
                </a:solidFill>
                <a:latin typeface="Cambria"/>
              </a:rPr>
              <a:t>8</a:t>
            </a:r>
            <a:r>
              <a:rPr sz="1150" b="1" i="0" dirty="0">
                <a:solidFill>
                  <a:srgbClr val="5B7F6E"/>
                </a:solidFill>
                <a:latin typeface="Cambria"/>
              </a:rPr>
              <a:t>.</a:t>
            </a:r>
            <a:r>
              <a:rPr lang="tr-TR" sz="1150" b="1" i="0" dirty="0">
                <a:solidFill>
                  <a:srgbClr val="5B7F6E"/>
                </a:solidFill>
                <a:latin typeface="Cambria"/>
              </a:rPr>
              <a:t> </a:t>
            </a:r>
            <a:r>
              <a:rPr lang="tr-TR" sz="1100" dirty="0">
                <a:latin typeface="Cambria" panose="02040503050406030204" pitchFamily="18" charset="0"/>
                <a:ea typeface="Cambria" panose="02040503050406030204" pitchFamily="18" charset="0"/>
              </a:rPr>
              <a:t>Kaya, Z. E. (2019). Eksik Tahrikli El Protezi Geliştirme Platformu Tasarımı ve Yapay Sinir Ağları Tabanlı Denetimi. Doktora Tezi, Hacettepe Üniversitesi. </a:t>
            </a:r>
          </a:p>
          <a:p>
            <a:pPr>
              <a:spcAft>
                <a:spcPts val="200"/>
              </a:spcAft>
            </a:pPr>
            <a:r>
              <a:rPr lang="tr-TR" sz="1150" b="1" i="0" dirty="0">
                <a:solidFill>
                  <a:srgbClr val="5B7F6E"/>
                </a:solidFill>
                <a:latin typeface="Cambria"/>
              </a:rPr>
              <a:t>  </a:t>
            </a:r>
            <a:endParaRPr sz="1100" b="0" i="0" dirty="0">
              <a:solidFill>
                <a:srgbClr val="2B2B2B"/>
              </a:solidFill>
              <a:latin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4546</Words>
  <Application>Microsoft Office PowerPoint</Application>
  <PresentationFormat>Özel</PresentationFormat>
  <Paragraphs>665</Paragraphs>
  <Slides>44</Slides>
  <Notes>43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44</vt:i4>
      </vt:variant>
    </vt:vector>
  </HeadingPairs>
  <TitlesOfParts>
    <vt:vector size="50" baseType="lpstr">
      <vt:lpstr>Arial</vt:lpstr>
      <vt:lpstr>Bookman Old Style</vt:lpstr>
      <vt:lpstr>Cambria</vt:lpstr>
      <vt:lpstr>Cambria Math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Burak Talha Güçlü</dc:creator>
  <cp:lastModifiedBy>axecilyshop gamesatıs</cp:lastModifiedBy>
  <cp:revision>85</cp:revision>
  <dcterms:created xsi:type="dcterms:W3CDTF">2026-07-15T13:04:10Z</dcterms:created>
  <dcterms:modified xsi:type="dcterms:W3CDTF">2026-07-15T19:09:54Z</dcterms:modified>
</cp:coreProperties>
</file>